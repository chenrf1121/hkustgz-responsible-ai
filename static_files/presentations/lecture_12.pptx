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notesSlides/notesSlide1.xml" ContentType="application/vnd.openxmlformats-officedocument.presentationml.notesSlide+xml"/>
  <Override PartName="/ppt/tags/tag64.xml" ContentType="application/vnd.openxmlformats-officedocument.presentationml.tags+xml"/>
  <Override PartName="/ppt/notesSlides/notesSlide2.xml" ContentType="application/vnd.openxmlformats-officedocument.presentationml.notesSlide+xml"/>
  <Override PartName="/ppt/tags/tag65.xml" ContentType="application/vnd.openxmlformats-officedocument.presentationml.tags+xml"/>
  <Override PartName="/ppt/notesSlides/notesSlide3.xml" ContentType="application/vnd.openxmlformats-officedocument.presentationml.notesSlide+xml"/>
  <Override PartName="/ppt/tags/tag66.xml" ContentType="application/vnd.openxmlformats-officedocument.presentationml.tags+xml"/>
  <Override PartName="/ppt/notesSlides/notesSlide4.xml" ContentType="application/vnd.openxmlformats-officedocument.presentationml.notesSlide+xml"/>
  <Override PartName="/ppt/tags/tag67.xml" ContentType="application/vnd.openxmlformats-officedocument.presentationml.tags+xml"/>
  <Override PartName="/ppt/notesSlides/notesSlide5.xml" ContentType="application/vnd.openxmlformats-officedocument.presentationml.notesSlide+xml"/>
  <Override PartName="/ppt/tags/tag68.xml" ContentType="application/vnd.openxmlformats-officedocument.presentationml.tags+xml"/>
  <Override PartName="/ppt/notesSlides/notesSlide6.xml" ContentType="application/vnd.openxmlformats-officedocument.presentationml.notesSlide+xml"/>
  <Override PartName="/ppt/tags/tag69.xml" ContentType="application/vnd.openxmlformats-officedocument.presentationml.tags+xml"/>
  <Override PartName="/ppt/notesSlides/notesSlide7.xml" ContentType="application/vnd.openxmlformats-officedocument.presentationml.notesSlide+xml"/>
  <Override PartName="/ppt/tags/tag70.xml" ContentType="application/vnd.openxmlformats-officedocument.presentationml.tags+xml"/>
  <Override PartName="/ppt/notesSlides/notesSlide8.xml" ContentType="application/vnd.openxmlformats-officedocument.presentationml.notesSlide+xml"/>
  <Override PartName="/ppt/tags/tag71.xml" ContentType="application/vnd.openxmlformats-officedocument.presentationml.tags+xml"/>
  <Override PartName="/ppt/notesSlides/notesSlide9.xml" ContentType="application/vnd.openxmlformats-officedocument.presentationml.notesSlide+xml"/>
  <Override PartName="/ppt/tags/tag72.xml" ContentType="application/vnd.openxmlformats-officedocument.presentationml.tags+xml"/>
  <Override PartName="/ppt/notesSlides/notesSlide10.xml" ContentType="application/vnd.openxmlformats-officedocument.presentationml.notesSlide+xml"/>
  <Override PartName="/ppt/tags/tag73.xml" ContentType="application/vnd.openxmlformats-officedocument.presentationml.tags+xml"/>
  <Override PartName="/ppt/notesSlides/notesSlide11.xml" ContentType="application/vnd.openxmlformats-officedocument.presentationml.notesSlide+xml"/>
  <Override PartName="/ppt/tags/tag74.xml" ContentType="application/vnd.openxmlformats-officedocument.presentationml.tags+xml"/>
  <Override PartName="/ppt/notesSlides/notesSlide12.xml" ContentType="application/vnd.openxmlformats-officedocument.presentationml.notesSlide+xml"/>
  <Override PartName="/ppt/tags/tag75.xml" ContentType="application/vnd.openxmlformats-officedocument.presentationml.tags+xml"/>
  <Override PartName="/ppt/notesSlides/notesSlide13.xml" ContentType="application/vnd.openxmlformats-officedocument.presentationml.notesSlide+xml"/>
  <Override PartName="/ppt/tags/tag76.xml" ContentType="application/vnd.openxmlformats-officedocument.presentationml.tags+xml"/>
  <Override PartName="/ppt/notesSlides/notesSlide14.xml" ContentType="application/vnd.openxmlformats-officedocument.presentationml.notesSlide+xml"/>
  <Override PartName="/ppt/tags/tag77.xml" ContentType="application/vnd.openxmlformats-officedocument.presentationml.tags+xml"/>
  <Override PartName="/ppt/notesSlides/notesSlide15.xml" ContentType="application/vnd.openxmlformats-officedocument.presentationml.notesSlide+xml"/>
  <Override PartName="/ppt/tags/tag78.xml" ContentType="application/vnd.openxmlformats-officedocument.presentationml.tags+xml"/>
  <Override PartName="/ppt/notesSlides/notesSlide16.xml" ContentType="application/vnd.openxmlformats-officedocument.presentationml.notesSlide+xml"/>
  <Override PartName="/ppt/tags/tag79.xml" ContentType="application/vnd.openxmlformats-officedocument.presentationml.tags+xml"/>
  <Override PartName="/ppt/notesSlides/notesSlide17.xml" ContentType="application/vnd.openxmlformats-officedocument.presentationml.notesSlide+xml"/>
  <Override PartName="/ppt/tags/tag80.xml" ContentType="application/vnd.openxmlformats-officedocument.presentationml.tags+xml"/>
  <Override PartName="/ppt/notesSlides/notesSlide18.xml" ContentType="application/vnd.openxmlformats-officedocument.presentationml.notesSlide+xml"/>
  <Override PartName="/ppt/tags/tag81.xml" ContentType="application/vnd.openxmlformats-officedocument.presentationml.tags+xml"/>
  <Override PartName="/ppt/notesSlides/notesSlide19.xml" ContentType="application/vnd.openxmlformats-officedocument.presentationml.notesSlide+xml"/>
  <Override PartName="/ppt/tags/tag82.xml" ContentType="application/vnd.openxmlformats-officedocument.presentationml.tags+xml"/>
  <Override PartName="/ppt/notesSlides/notesSlide20.xml" ContentType="application/vnd.openxmlformats-officedocument.presentationml.notesSlide+xml"/>
  <Override PartName="/ppt/tags/tag83.xml" ContentType="application/vnd.openxmlformats-officedocument.presentationml.tags+xml"/>
  <Override PartName="/ppt/notesSlides/notesSlide21.xml" ContentType="application/vnd.openxmlformats-officedocument.presentationml.notesSlide+xml"/>
  <Override PartName="/ppt/tags/tag84.xml" ContentType="application/vnd.openxmlformats-officedocument.presentationml.tags+xml"/>
  <Override PartName="/ppt/notesSlides/notesSlide22.xml" ContentType="application/vnd.openxmlformats-officedocument.presentationml.notesSlide+xml"/>
  <Override PartName="/ppt/tags/tag85.xml" ContentType="application/vnd.openxmlformats-officedocument.presentationml.tags+xml"/>
  <Override PartName="/ppt/notesSlides/notesSlide23.xml" ContentType="application/vnd.openxmlformats-officedocument.presentationml.notesSlide+xml"/>
  <Override PartName="/ppt/tags/tag86.xml" ContentType="application/vnd.openxmlformats-officedocument.presentationml.tags+xml"/>
  <Override PartName="/ppt/notesSlides/notesSlide24.xml" ContentType="application/vnd.openxmlformats-officedocument.presentationml.notesSlide+xml"/>
  <Override PartName="/ppt/tags/tag87.xml" ContentType="application/vnd.openxmlformats-officedocument.presentationml.tags+xml"/>
  <Override PartName="/ppt/notesSlides/notesSlide25.xml" ContentType="application/vnd.openxmlformats-officedocument.presentationml.notesSlide+xml"/>
  <Override PartName="/ppt/tags/tag88.xml" ContentType="application/vnd.openxmlformats-officedocument.presentationml.tags+xml"/>
  <Override PartName="/ppt/notesSlides/notesSlide26.xml" ContentType="application/vnd.openxmlformats-officedocument.presentationml.notesSlide+xml"/>
  <Override PartName="/ppt/tags/tag89.xml" ContentType="application/vnd.openxmlformats-officedocument.presentationml.tags+xml"/>
  <Override PartName="/ppt/notesSlides/notesSlide27.xml" ContentType="application/vnd.openxmlformats-officedocument.presentationml.notesSlide+xml"/>
  <Override PartName="/ppt/tags/tag90.xml" ContentType="application/vnd.openxmlformats-officedocument.presentationml.tags+xml"/>
  <Override PartName="/ppt/notesSlides/notesSlide28.xml" ContentType="application/vnd.openxmlformats-officedocument.presentationml.notesSlide+xml"/>
  <Override PartName="/ppt/tags/tag91.xml" ContentType="application/vnd.openxmlformats-officedocument.presentationml.tags+xml"/>
  <Override PartName="/ppt/notesSlides/notesSlide29.xml" ContentType="application/vnd.openxmlformats-officedocument.presentationml.notesSlide+xml"/>
  <Override PartName="/ppt/tags/tag92.xml" ContentType="application/vnd.openxmlformats-officedocument.presentationml.tags+xml"/>
  <Override PartName="/ppt/notesSlides/notesSlide30.xml" ContentType="application/vnd.openxmlformats-officedocument.presentationml.notesSlide+xml"/>
  <Override PartName="/ppt/tags/tag93.xml" ContentType="application/vnd.openxmlformats-officedocument.presentationml.tags+xml"/>
  <Override PartName="/ppt/notesSlides/notesSlide31.xml" ContentType="application/vnd.openxmlformats-officedocument.presentationml.notesSlide+xml"/>
  <Override PartName="/ppt/tags/tag94.xml" ContentType="application/vnd.openxmlformats-officedocument.presentationml.tags+xml"/>
  <Override PartName="/ppt/notesSlides/notesSlide32.xml" ContentType="application/vnd.openxmlformats-officedocument.presentationml.notesSlide+xml"/>
  <Override PartName="/ppt/tags/tag95.xml" ContentType="application/vnd.openxmlformats-officedocument.presentationml.tags+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311" r:id="rId2"/>
    <p:sldId id="296" r:id="rId3"/>
    <p:sldId id="282" r:id="rId4"/>
    <p:sldId id="281" r:id="rId5"/>
    <p:sldId id="279" r:id="rId6"/>
    <p:sldId id="312" r:id="rId7"/>
    <p:sldId id="283" r:id="rId8"/>
    <p:sldId id="259" r:id="rId9"/>
    <p:sldId id="287" r:id="rId10"/>
    <p:sldId id="278" r:id="rId11"/>
    <p:sldId id="284" r:id="rId12"/>
    <p:sldId id="288" r:id="rId13"/>
    <p:sldId id="289" r:id="rId14"/>
    <p:sldId id="290" r:id="rId15"/>
    <p:sldId id="291" r:id="rId16"/>
    <p:sldId id="285" r:id="rId17"/>
    <p:sldId id="292" r:id="rId18"/>
    <p:sldId id="295" r:id="rId19"/>
    <p:sldId id="294" r:id="rId20"/>
    <p:sldId id="309" r:id="rId21"/>
    <p:sldId id="310" r:id="rId22"/>
    <p:sldId id="306" r:id="rId23"/>
    <p:sldId id="297" r:id="rId24"/>
    <p:sldId id="307" r:id="rId25"/>
    <p:sldId id="298" r:id="rId26"/>
    <p:sldId id="313" r:id="rId27"/>
    <p:sldId id="299" r:id="rId28"/>
    <p:sldId id="301" r:id="rId29"/>
    <p:sldId id="302" r:id="rId30"/>
    <p:sldId id="303" r:id="rId31"/>
    <p:sldId id="304" r:id="rId32"/>
    <p:sldId id="305" r:id="rId33"/>
    <p:sldId id="308"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75" autoAdjust="0"/>
    <p:restoredTop sz="84628"/>
  </p:normalViewPr>
  <p:slideViewPr>
    <p:cSldViewPr snapToGrid="0" showGuides="1">
      <p:cViewPr>
        <p:scale>
          <a:sx n="144" d="100"/>
          <a:sy n="144" d="100"/>
        </p:scale>
        <p:origin x="896" y="0"/>
      </p:cViewPr>
      <p:guideLst>
        <p:guide orient="horz" pos="217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BEAA-0BC8-5315-471F-05BE80973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D264C-DD69-06C3-BF40-80E18F032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0E923-A513-66BE-4A54-346D339E7F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45308B77-986F-D449-98BC-876307EBF8CE}"/>
              </a:ext>
            </a:extLst>
          </p:cNvPr>
          <p:cNvSpPr>
            <a:spLocks noGrp="1"/>
          </p:cNvSpPr>
          <p:nvPr>
            <p:ph type="sldNum" sz="quarter" idx="5"/>
          </p:nvPr>
        </p:nvSpPr>
        <p:spPr/>
        <p:txBody>
          <a:bodyPr/>
          <a:lstStyle/>
          <a:p>
            <a:fld id="{5A350495-9E59-1147-A9C9-21D5DB2A3608}" type="slidenum">
              <a:rPr kumimoji="1" lang="zh-CN" altLang="en-US" smtClean="0"/>
              <a:t>1</a:t>
            </a:fld>
            <a:endParaRPr kumimoji="1" lang="zh-CN" altLang="en-US"/>
          </a:p>
        </p:txBody>
      </p:sp>
    </p:spTree>
    <p:extLst>
      <p:ext uri="{BB962C8B-B14F-4D97-AF65-F5344CB8AC3E}">
        <p14:creationId xmlns:p14="http://schemas.microsoft.com/office/powerpoint/2010/main" val="3532499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CE22B-E458-4021-5DB3-DD39733DD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8F208-96E7-A2F2-DEA3-E447D4E7F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130D2-DEE2-0BEC-3271-ED84DEE953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1. The Philosophical Roots of AI (Before 1950)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2. The Birth of AI: Logic Meets Machines (1950–1956) Alan Turing (1950)</a:t>
            </a:r>
            <a:r>
              <a:rPr lang="en-US" sz="1200" b="0" i="0" kern="1200" dirty="0">
                <a:solidFill>
                  <a:schemeClr val="tx1"/>
                </a:solidFill>
                <a:effectLst/>
                <a:latin typeface="+mn-lt"/>
                <a:ea typeface="+mn-ea"/>
                <a:cs typeface="+mn-cs"/>
              </a:rPr>
              <a:t>: Published </a:t>
            </a:r>
            <a:r>
              <a:rPr lang="en-US" sz="1200" b="0" i="1" kern="1200" dirty="0">
                <a:solidFill>
                  <a:schemeClr val="tx1"/>
                </a:solidFill>
                <a:effectLst/>
                <a:latin typeface="+mn-lt"/>
                <a:ea typeface="+mn-ea"/>
                <a:cs typeface="+mn-cs"/>
              </a:rPr>
              <a:t>“Computing Machinery and Intelligence”</a:t>
            </a:r>
            <a:r>
              <a:rPr lang="en-US" sz="1200" b="0" i="0" kern="1200" dirty="0">
                <a:solidFill>
                  <a:schemeClr val="tx1"/>
                </a:solidFill>
                <a:effectLst/>
                <a:latin typeface="+mn-lt"/>
                <a:ea typeface="+mn-ea"/>
                <a:cs typeface="+mn-cs"/>
              </a:rPr>
              <a:t> introducing the </a:t>
            </a:r>
            <a:r>
              <a:rPr lang="en-US" sz="1200" b="1" i="0" kern="1200" dirty="0">
                <a:solidFill>
                  <a:schemeClr val="tx1"/>
                </a:solidFill>
                <a:effectLst/>
                <a:latin typeface="+mn-lt"/>
                <a:ea typeface="+mn-ea"/>
                <a:cs typeface="+mn-cs"/>
              </a:rPr>
              <a:t>Turing Test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Claude Shannon</a:t>
            </a:r>
            <a:r>
              <a:rPr lang="en-US" sz="1200" b="0" i="0" kern="1200" dirty="0">
                <a:solidFill>
                  <a:schemeClr val="tx1"/>
                </a:solidFill>
                <a:effectLst/>
                <a:latin typeface="+mn-lt"/>
                <a:ea typeface="+mn-ea"/>
                <a:cs typeface="+mn-cs"/>
              </a:rPr>
              <a:t> laid the foundation for digital circuits and information theory.</a:t>
            </a:r>
          </a:p>
          <a:p>
            <a:pPr fontAlgn="base"/>
            <a:r>
              <a:rPr lang="en-US" sz="1200" b="1" i="0" kern="1200" dirty="0">
                <a:solidFill>
                  <a:schemeClr val="tx1"/>
                </a:solidFill>
                <a:effectLst/>
                <a:latin typeface="+mn-lt"/>
                <a:ea typeface="+mn-ea"/>
                <a:cs typeface="+mn-cs"/>
              </a:rPr>
              <a:t>3. The Golden Years: Symbolic AI and Logic (1956–1974)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4. The Rise of Expert Systems (1980s)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5. Machine Learning Revolution (1990s–2000s)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6. AI Goes Mainstream (2010–2019)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7. The Generative AI Era (2020–2025)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27A272E-528E-3B75-70DA-16BB9E94591B}"/>
              </a:ext>
            </a:extLst>
          </p:cNvPr>
          <p:cNvSpPr>
            <a:spLocks noGrp="1"/>
          </p:cNvSpPr>
          <p:nvPr>
            <p:ph type="sldNum" sz="quarter" idx="5"/>
          </p:nvPr>
        </p:nvSpPr>
        <p:spPr/>
        <p:txBody>
          <a:bodyPr/>
          <a:lstStyle/>
          <a:p>
            <a:fld id="{5A350495-9E59-1147-A9C9-21D5DB2A3608}" type="slidenum">
              <a:rPr kumimoji="1" lang="zh-CN" altLang="en-US" smtClean="0"/>
              <a:t>2</a:t>
            </a:fld>
            <a:endParaRPr kumimoji="1" lang="zh-CN" altLang="en-US"/>
          </a:p>
        </p:txBody>
      </p:sp>
    </p:spTree>
    <p:extLst>
      <p:ext uri="{BB962C8B-B14F-4D97-AF65-F5344CB8AC3E}">
        <p14:creationId xmlns:p14="http://schemas.microsoft.com/office/powerpoint/2010/main" val="407838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1488-6D06-29A9-9E6B-8AE1E0766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59148-2EAA-7B2B-A716-2F7A193F8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69A36-4D6A-FCC2-BDE1-169CF445C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483629-1509-088F-3858-5D36718D9B92}"/>
              </a:ext>
            </a:extLst>
          </p:cNvPr>
          <p:cNvSpPr>
            <a:spLocks noGrp="1"/>
          </p:cNvSpPr>
          <p:nvPr>
            <p:ph type="sldNum" sz="quarter" idx="5"/>
          </p:nvPr>
        </p:nvSpPr>
        <p:spPr/>
        <p:txBody>
          <a:bodyPr/>
          <a:lstStyle/>
          <a:p>
            <a:fld id="{5A350495-9E59-1147-A9C9-21D5DB2A3608}" type="slidenum">
              <a:rPr kumimoji="1" lang="zh-CN" altLang="en-US" smtClean="0"/>
              <a:t>3</a:t>
            </a:fld>
            <a:endParaRPr kumimoji="1" lang="zh-CN" altLang="en-US"/>
          </a:p>
        </p:txBody>
      </p:sp>
    </p:spTree>
    <p:extLst>
      <p:ext uri="{BB962C8B-B14F-4D97-AF65-F5344CB8AC3E}">
        <p14:creationId xmlns:p14="http://schemas.microsoft.com/office/powerpoint/2010/main" val="3573055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A63C8-FDBC-2975-FA71-E7D1CACA1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B44C4-0E91-E030-B457-1A2ABA0CA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FCAD1-7368-0C11-E0FD-73940805E6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99EAE9-C680-55E2-4F52-071C40E44A90}"/>
              </a:ext>
            </a:extLst>
          </p:cNvPr>
          <p:cNvSpPr>
            <a:spLocks noGrp="1"/>
          </p:cNvSpPr>
          <p:nvPr>
            <p:ph type="sldNum" sz="quarter" idx="5"/>
          </p:nvPr>
        </p:nvSpPr>
        <p:spPr/>
        <p:txBody>
          <a:bodyPr/>
          <a:lstStyle/>
          <a:p>
            <a:fld id="{5A350495-9E59-1147-A9C9-21D5DB2A3608}" type="slidenum">
              <a:rPr kumimoji="1" lang="zh-CN" altLang="en-US" smtClean="0"/>
              <a:t>4</a:t>
            </a:fld>
            <a:endParaRPr kumimoji="1" lang="zh-CN" altLang="en-US"/>
          </a:p>
        </p:txBody>
      </p:sp>
    </p:spTree>
    <p:extLst>
      <p:ext uri="{BB962C8B-B14F-4D97-AF65-F5344CB8AC3E}">
        <p14:creationId xmlns:p14="http://schemas.microsoft.com/office/powerpoint/2010/main" val="2032520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5FA2E-86BF-3A99-DFE3-1925AF785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60E99-2D4A-B92F-7E38-81E060B61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D3702-80E3-01E8-16F9-673C67446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33693-DD98-2997-BBE2-A7711968EF79}"/>
              </a:ext>
            </a:extLst>
          </p:cNvPr>
          <p:cNvSpPr>
            <a:spLocks noGrp="1"/>
          </p:cNvSpPr>
          <p:nvPr>
            <p:ph type="sldNum" sz="quarter" idx="5"/>
          </p:nvPr>
        </p:nvSpPr>
        <p:spPr/>
        <p:txBody>
          <a:bodyPr/>
          <a:lstStyle/>
          <a:p>
            <a:fld id="{5A350495-9E59-1147-A9C9-21D5DB2A3608}" type="slidenum">
              <a:rPr kumimoji="1" lang="zh-CN" altLang="en-US" smtClean="0"/>
              <a:t>5</a:t>
            </a:fld>
            <a:endParaRPr kumimoji="1" lang="zh-CN" altLang="en-US"/>
          </a:p>
        </p:txBody>
      </p:sp>
    </p:spTree>
    <p:extLst>
      <p:ext uri="{BB962C8B-B14F-4D97-AF65-F5344CB8AC3E}">
        <p14:creationId xmlns:p14="http://schemas.microsoft.com/office/powerpoint/2010/main" val="1481552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3242-A63D-5197-F20D-0E63BAC9B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7D10F-0651-BF73-C037-F98C896CE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244F3-03DF-DE76-6446-7DE740715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884308-880B-306B-DC03-8CC06BC5CEA0}"/>
              </a:ext>
            </a:extLst>
          </p:cNvPr>
          <p:cNvSpPr>
            <a:spLocks noGrp="1"/>
          </p:cNvSpPr>
          <p:nvPr>
            <p:ph type="sldNum" sz="quarter" idx="5"/>
          </p:nvPr>
        </p:nvSpPr>
        <p:spPr/>
        <p:txBody>
          <a:bodyPr/>
          <a:lstStyle/>
          <a:p>
            <a:fld id="{5A350495-9E59-1147-A9C9-21D5DB2A3608}" type="slidenum">
              <a:rPr kumimoji="1" lang="zh-CN" altLang="en-US" smtClean="0"/>
              <a:t>6</a:t>
            </a:fld>
            <a:endParaRPr kumimoji="1" lang="zh-CN" altLang="en-US"/>
          </a:p>
        </p:txBody>
      </p:sp>
    </p:spTree>
    <p:extLst>
      <p:ext uri="{BB962C8B-B14F-4D97-AF65-F5344CB8AC3E}">
        <p14:creationId xmlns:p14="http://schemas.microsoft.com/office/powerpoint/2010/main" val="2649427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5B61B-7A07-DFF8-FD61-FD9ABEE25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CCF63-4C3F-91C9-35C1-5485C9F9A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05C731-1271-5D51-BA26-C02ACB2B36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sz="1200" dirty="0">
              <a:latin typeface="Microsoft YaHei UI" panose="020B0503020204020204" pitchFamily="34" charset="-122"/>
              <a:ea typeface="Microsoft YaHei UI" panose="020B0503020204020204" pitchFamily="34" charset="-122"/>
            </a:endParaRPr>
          </a:p>
        </p:txBody>
      </p:sp>
      <p:sp>
        <p:nvSpPr>
          <p:cNvPr id="4" name="Slide Number Placeholder 3">
            <a:extLst>
              <a:ext uri="{FF2B5EF4-FFF2-40B4-BE49-F238E27FC236}">
                <a16:creationId xmlns:a16="http://schemas.microsoft.com/office/drawing/2014/main" id="{CA0C3868-CA83-FE4F-224E-B88140CBE2F9}"/>
              </a:ext>
            </a:extLst>
          </p:cNvPr>
          <p:cNvSpPr>
            <a:spLocks noGrp="1"/>
          </p:cNvSpPr>
          <p:nvPr>
            <p:ph type="sldNum" sz="quarter" idx="5"/>
          </p:nvPr>
        </p:nvSpPr>
        <p:spPr/>
        <p:txBody>
          <a:bodyPr/>
          <a:lstStyle/>
          <a:p>
            <a:fld id="{5A350495-9E59-1147-A9C9-21D5DB2A3608}" type="slidenum">
              <a:rPr kumimoji="1" lang="zh-CN" altLang="en-US" smtClean="0"/>
              <a:t>7</a:t>
            </a:fld>
            <a:endParaRPr kumimoji="1" lang="zh-CN" altLang="en-US"/>
          </a:p>
        </p:txBody>
      </p:sp>
    </p:spTree>
    <p:extLst>
      <p:ext uri="{BB962C8B-B14F-4D97-AF65-F5344CB8AC3E}">
        <p14:creationId xmlns:p14="http://schemas.microsoft.com/office/powerpoint/2010/main" val="570374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350495-9E59-1147-A9C9-21D5DB2A3608}" type="slidenum">
              <a:rPr kumimoji="1" lang="zh-CN" altLang="en-US" smtClean="0"/>
              <a:t>8</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9AF9B-4E85-A335-CA96-BA01AF7C8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E99F6-90A5-AE7A-7579-EBBF888EB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5C158-CE1F-F1C2-478B-BBE6A664C4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sz="1200" dirty="0">
              <a:latin typeface="Microsoft YaHei UI" panose="020B0503020204020204" pitchFamily="34" charset="-122"/>
              <a:ea typeface="Microsoft YaHei UI" panose="020B0503020204020204" pitchFamily="34" charset="-122"/>
            </a:endParaRPr>
          </a:p>
        </p:txBody>
      </p:sp>
      <p:sp>
        <p:nvSpPr>
          <p:cNvPr id="4" name="Slide Number Placeholder 3">
            <a:extLst>
              <a:ext uri="{FF2B5EF4-FFF2-40B4-BE49-F238E27FC236}">
                <a16:creationId xmlns:a16="http://schemas.microsoft.com/office/drawing/2014/main" id="{385D0F94-C3D0-2675-896F-CE333AE22749}"/>
              </a:ext>
            </a:extLst>
          </p:cNvPr>
          <p:cNvSpPr>
            <a:spLocks noGrp="1"/>
          </p:cNvSpPr>
          <p:nvPr>
            <p:ph type="sldNum" sz="quarter" idx="5"/>
          </p:nvPr>
        </p:nvSpPr>
        <p:spPr/>
        <p:txBody>
          <a:bodyPr/>
          <a:lstStyle/>
          <a:p>
            <a:fld id="{5A350495-9E59-1147-A9C9-21D5DB2A3608}" type="slidenum">
              <a:rPr kumimoji="1" lang="zh-CN" altLang="en-US" smtClean="0"/>
              <a:t>9</a:t>
            </a:fld>
            <a:endParaRPr kumimoji="1" lang="zh-CN" altLang="en-US"/>
          </a:p>
        </p:txBody>
      </p:sp>
    </p:spTree>
    <p:extLst>
      <p:ext uri="{BB962C8B-B14F-4D97-AF65-F5344CB8AC3E}">
        <p14:creationId xmlns:p14="http://schemas.microsoft.com/office/powerpoint/2010/main" val="3358150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5DDB1-3D0E-19AB-0FE5-FDC6EEB9A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59399-E903-A861-C5FE-B0C2DF5E9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316AB-5F26-B3CD-F6C7-5318FC9D5E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760496-F56C-4B76-3A8B-5DE28ECAA09E}"/>
              </a:ext>
            </a:extLst>
          </p:cNvPr>
          <p:cNvSpPr>
            <a:spLocks noGrp="1"/>
          </p:cNvSpPr>
          <p:nvPr>
            <p:ph type="sldNum" sz="quarter" idx="5"/>
          </p:nvPr>
        </p:nvSpPr>
        <p:spPr/>
        <p:txBody>
          <a:bodyPr/>
          <a:lstStyle/>
          <a:p>
            <a:fld id="{5A350495-9E59-1147-A9C9-21D5DB2A3608}" type="slidenum">
              <a:rPr kumimoji="1" lang="zh-CN" altLang="en-US" smtClean="0"/>
              <a:t>10</a:t>
            </a:fld>
            <a:endParaRPr kumimoji="1" lang="zh-CN" altLang="en-US"/>
          </a:p>
        </p:txBody>
      </p:sp>
    </p:spTree>
    <p:extLst>
      <p:ext uri="{BB962C8B-B14F-4D97-AF65-F5344CB8AC3E}">
        <p14:creationId xmlns:p14="http://schemas.microsoft.com/office/powerpoint/2010/main" val="68366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7E854-7833-ED8C-A49D-F3AE660B9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950C5-4BA4-9201-D6C1-86EC6419F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3D239-66DD-9385-1CA2-0BFBBBBF72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500DF0-F642-9421-B333-DD20A30ABF47}"/>
              </a:ext>
            </a:extLst>
          </p:cNvPr>
          <p:cNvSpPr>
            <a:spLocks noGrp="1"/>
          </p:cNvSpPr>
          <p:nvPr>
            <p:ph type="sldNum" sz="quarter" idx="5"/>
          </p:nvPr>
        </p:nvSpPr>
        <p:spPr/>
        <p:txBody>
          <a:bodyPr/>
          <a:lstStyle/>
          <a:p>
            <a:fld id="{5A350495-9E59-1147-A9C9-21D5DB2A3608}" type="slidenum">
              <a:rPr kumimoji="1" lang="zh-CN" altLang="en-US" smtClean="0"/>
              <a:t>11</a:t>
            </a:fld>
            <a:endParaRPr kumimoji="1" lang="zh-CN" altLang="en-US"/>
          </a:p>
        </p:txBody>
      </p:sp>
    </p:spTree>
    <p:extLst>
      <p:ext uri="{BB962C8B-B14F-4D97-AF65-F5344CB8AC3E}">
        <p14:creationId xmlns:p14="http://schemas.microsoft.com/office/powerpoint/2010/main" val="2636691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3FF4E-21C4-1B61-CD35-8387D4722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D1C17-3F87-32BE-5D66-7BCD2EAF4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46AF1-6F2B-225A-9C9E-96B417B87B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7833ED-FEDA-9292-5635-1F95E063298E}"/>
              </a:ext>
            </a:extLst>
          </p:cNvPr>
          <p:cNvSpPr>
            <a:spLocks noGrp="1"/>
          </p:cNvSpPr>
          <p:nvPr>
            <p:ph type="sldNum" sz="quarter" idx="5"/>
          </p:nvPr>
        </p:nvSpPr>
        <p:spPr/>
        <p:txBody>
          <a:bodyPr/>
          <a:lstStyle/>
          <a:p>
            <a:fld id="{5A350495-9E59-1147-A9C9-21D5DB2A3608}" type="slidenum">
              <a:rPr kumimoji="1" lang="zh-CN" altLang="en-US" smtClean="0"/>
              <a:t>12</a:t>
            </a:fld>
            <a:endParaRPr kumimoji="1" lang="zh-CN" altLang="en-US"/>
          </a:p>
        </p:txBody>
      </p:sp>
    </p:spTree>
    <p:extLst>
      <p:ext uri="{BB962C8B-B14F-4D97-AF65-F5344CB8AC3E}">
        <p14:creationId xmlns:p14="http://schemas.microsoft.com/office/powerpoint/2010/main" val="3294749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A7E7-9CB6-AA59-32B3-250B6D2DF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97C63-19F9-F694-5085-F224FA820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006BC-7B53-FB9C-1F75-3AC7D5CBA9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87F4C6-6839-F1A6-B1E8-2194ABD1969C}"/>
              </a:ext>
            </a:extLst>
          </p:cNvPr>
          <p:cNvSpPr>
            <a:spLocks noGrp="1"/>
          </p:cNvSpPr>
          <p:nvPr>
            <p:ph type="sldNum" sz="quarter" idx="5"/>
          </p:nvPr>
        </p:nvSpPr>
        <p:spPr/>
        <p:txBody>
          <a:bodyPr/>
          <a:lstStyle/>
          <a:p>
            <a:fld id="{5A350495-9E59-1147-A9C9-21D5DB2A3608}" type="slidenum">
              <a:rPr kumimoji="1" lang="zh-CN" altLang="en-US" smtClean="0"/>
              <a:t>13</a:t>
            </a:fld>
            <a:endParaRPr kumimoji="1" lang="zh-CN" altLang="en-US"/>
          </a:p>
        </p:txBody>
      </p:sp>
    </p:spTree>
    <p:extLst>
      <p:ext uri="{BB962C8B-B14F-4D97-AF65-F5344CB8AC3E}">
        <p14:creationId xmlns:p14="http://schemas.microsoft.com/office/powerpoint/2010/main" val="219629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E9B71-4185-DEA1-A08A-04AABB1F7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2BBB4-2420-B210-1CC3-417B4898A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3FF6-15E9-E014-E10C-42CE17E5F29E}"/>
              </a:ext>
            </a:extLst>
          </p:cNvPr>
          <p:cNvSpPr>
            <a:spLocks noGrp="1"/>
          </p:cNvSpPr>
          <p:nvPr>
            <p:ph type="body" idx="1"/>
          </p:nvPr>
        </p:nvSpPr>
        <p:spPr/>
        <p:txBody>
          <a:bodyPr/>
          <a:lstStyle/>
          <a:p>
            <a:r>
              <a:rPr lang="en-US" dirty="0" err="1"/>
              <a:t>Illutration</a:t>
            </a:r>
            <a:r>
              <a:rPr lang="en-US" dirty="0"/>
              <a:t> of </a:t>
            </a:r>
            <a:r>
              <a:rPr lang="en-US" dirty="0" err="1"/>
              <a:t>AgentNet</a:t>
            </a:r>
            <a:r>
              <a:rPr lang="en-US" dirty="0"/>
              <a:t>. Initially, agents are fully connected and equipped with executors and routers. The system eliminates the need for a central controller, using a DAG for dynamic task routing and agents leveraging RAG pools and few-shot learning. In the evolved phase, the network adapts with agents developing private trajectories and diversified abilities, ensuring scalability, fault tolerance, and continuous evolution of expertise.</a:t>
            </a:r>
          </a:p>
        </p:txBody>
      </p:sp>
      <p:sp>
        <p:nvSpPr>
          <p:cNvPr id="4" name="Slide Number Placeholder 3">
            <a:extLst>
              <a:ext uri="{FF2B5EF4-FFF2-40B4-BE49-F238E27FC236}">
                <a16:creationId xmlns:a16="http://schemas.microsoft.com/office/drawing/2014/main" id="{53E386E4-86E9-C78C-D922-301A8660F705}"/>
              </a:ext>
            </a:extLst>
          </p:cNvPr>
          <p:cNvSpPr>
            <a:spLocks noGrp="1"/>
          </p:cNvSpPr>
          <p:nvPr>
            <p:ph type="sldNum" sz="quarter" idx="5"/>
          </p:nvPr>
        </p:nvSpPr>
        <p:spPr/>
        <p:txBody>
          <a:bodyPr/>
          <a:lstStyle/>
          <a:p>
            <a:fld id="{5A350495-9E59-1147-A9C9-21D5DB2A3608}" type="slidenum">
              <a:rPr kumimoji="1" lang="zh-CN" altLang="en-US" smtClean="0"/>
              <a:t>14</a:t>
            </a:fld>
            <a:endParaRPr kumimoji="1" lang="zh-CN" altLang="en-US"/>
          </a:p>
        </p:txBody>
      </p:sp>
    </p:spTree>
    <p:extLst>
      <p:ext uri="{BB962C8B-B14F-4D97-AF65-F5344CB8AC3E}">
        <p14:creationId xmlns:p14="http://schemas.microsoft.com/office/powerpoint/2010/main" val="296406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E633-FB31-FA17-2BE5-1139B5113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6CCBD-14C3-8845-DC0D-0A41772E6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9323B-F58B-48DF-2B88-4832282924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25814D-6C83-BA69-E933-4916210F8CD0}"/>
              </a:ext>
            </a:extLst>
          </p:cNvPr>
          <p:cNvSpPr>
            <a:spLocks noGrp="1"/>
          </p:cNvSpPr>
          <p:nvPr>
            <p:ph type="sldNum" sz="quarter" idx="5"/>
          </p:nvPr>
        </p:nvSpPr>
        <p:spPr/>
        <p:txBody>
          <a:bodyPr/>
          <a:lstStyle/>
          <a:p>
            <a:fld id="{5A350495-9E59-1147-A9C9-21D5DB2A3608}" type="slidenum">
              <a:rPr kumimoji="1" lang="zh-CN" altLang="en-US" smtClean="0"/>
              <a:t>15</a:t>
            </a:fld>
            <a:endParaRPr kumimoji="1" lang="zh-CN" altLang="en-US"/>
          </a:p>
        </p:txBody>
      </p:sp>
    </p:spTree>
    <p:extLst>
      <p:ext uri="{BB962C8B-B14F-4D97-AF65-F5344CB8AC3E}">
        <p14:creationId xmlns:p14="http://schemas.microsoft.com/office/powerpoint/2010/main" val="3005307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ACD0F-F2B9-A494-8CD7-1543FA765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F5A97-F86F-C624-F624-B69B2F50E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8CBE9-375C-77FC-6566-8D2F64BBC7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5A3B10-FD9C-BA70-2825-A46BC4233DDC}"/>
              </a:ext>
            </a:extLst>
          </p:cNvPr>
          <p:cNvSpPr>
            <a:spLocks noGrp="1"/>
          </p:cNvSpPr>
          <p:nvPr>
            <p:ph type="sldNum" sz="quarter" idx="5"/>
          </p:nvPr>
        </p:nvSpPr>
        <p:spPr/>
        <p:txBody>
          <a:bodyPr/>
          <a:lstStyle/>
          <a:p>
            <a:fld id="{5A350495-9E59-1147-A9C9-21D5DB2A3608}" type="slidenum">
              <a:rPr kumimoji="1" lang="zh-CN" altLang="en-US" smtClean="0"/>
              <a:t>16</a:t>
            </a:fld>
            <a:endParaRPr kumimoji="1" lang="zh-CN" altLang="en-US"/>
          </a:p>
        </p:txBody>
      </p:sp>
    </p:spTree>
    <p:extLst>
      <p:ext uri="{BB962C8B-B14F-4D97-AF65-F5344CB8AC3E}">
        <p14:creationId xmlns:p14="http://schemas.microsoft.com/office/powerpoint/2010/main" val="3365947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92756-3D87-E06D-3066-48EF019A6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04AD5-4342-7C36-59BC-2EBA92973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B45BD-E371-B282-A315-C66F397890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0898F-B88E-405F-2E62-C580CADA4032}"/>
              </a:ext>
            </a:extLst>
          </p:cNvPr>
          <p:cNvSpPr>
            <a:spLocks noGrp="1"/>
          </p:cNvSpPr>
          <p:nvPr>
            <p:ph type="sldNum" sz="quarter" idx="5"/>
          </p:nvPr>
        </p:nvSpPr>
        <p:spPr/>
        <p:txBody>
          <a:bodyPr/>
          <a:lstStyle/>
          <a:p>
            <a:fld id="{5A350495-9E59-1147-A9C9-21D5DB2A3608}" type="slidenum">
              <a:rPr kumimoji="1" lang="zh-CN" altLang="en-US" smtClean="0"/>
              <a:t>17</a:t>
            </a:fld>
            <a:endParaRPr kumimoji="1" lang="zh-CN" altLang="en-US"/>
          </a:p>
        </p:txBody>
      </p:sp>
    </p:spTree>
    <p:extLst>
      <p:ext uri="{BB962C8B-B14F-4D97-AF65-F5344CB8AC3E}">
        <p14:creationId xmlns:p14="http://schemas.microsoft.com/office/powerpoint/2010/main" val="2691234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D9B44-9510-1A3F-9940-C4E30079B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DB755-FC67-BDBD-28D3-1AB79CF21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76EBE-CE09-8433-CFF4-85F385186F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52880-456B-7D50-FBA8-B14D07A28D7E}"/>
              </a:ext>
            </a:extLst>
          </p:cNvPr>
          <p:cNvSpPr>
            <a:spLocks noGrp="1"/>
          </p:cNvSpPr>
          <p:nvPr>
            <p:ph type="sldNum" sz="quarter" idx="5"/>
          </p:nvPr>
        </p:nvSpPr>
        <p:spPr/>
        <p:txBody>
          <a:bodyPr/>
          <a:lstStyle/>
          <a:p>
            <a:fld id="{5A350495-9E59-1147-A9C9-21D5DB2A3608}" type="slidenum">
              <a:rPr kumimoji="1" lang="zh-CN" altLang="en-US" smtClean="0"/>
              <a:t>18</a:t>
            </a:fld>
            <a:endParaRPr kumimoji="1" lang="zh-CN" altLang="en-US"/>
          </a:p>
        </p:txBody>
      </p:sp>
    </p:spTree>
    <p:extLst>
      <p:ext uri="{BB962C8B-B14F-4D97-AF65-F5344CB8AC3E}">
        <p14:creationId xmlns:p14="http://schemas.microsoft.com/office/powerpoint/2010/main" val="3312586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F2CC-9DFA-EEE1-0997-A042CFDFF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6FBD7-D629-6348-BA61-61F9B68DF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F4D17-0A8D-BAA5-0155-74DD5D76D5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A4FB14-F662-6F61-C0E9-D14EE61B6127}"/>
              </a:ext>
            </a:extLst>
          </p:cNvPr>
          <p:cNvSpPr>
            <a:spLocks noGrp="1"/>
          </p:cNvSpPr>
          <p:nvPr>
            <p:ph type="sldNum" sz="quarter" idx="5"/>
          </p:nvPr>
        </p:nvSpPr>
        <p:spPr/>
        <p:txBody>
          <a:bodyPr/>
          <a:lstStyle/>
          <a:p>
            <a:fld id="{5A350495-9E59-1147-A9C9-21D5DB2A3608}" type="slidenum">
              <a:rPr kumimoji="1" lang="zh-CN" altLang="en-US" smtClean="0"/>
              <a:t>19</a:t>
            </a:fld>
            <a:endParaRPr kumimoji="1" lang="zh-CN" altLang="en-US"/>
          </a:p>
        </p:txBody>
      </p:sp>
    </p:spTree>
    <p:extLst>
      <p:ext uri="{BB962C8B-B14F-4D97-AF65-F5344CB8AC3E}">
        <p14:creationId xmlns:p14="http://schemas.microsoft.com/office/powerpoint/2010/main" val="14871543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D48F-4B4E-073B-FDB8-0584D3848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5C6E7-2D35-3FAB-3C58-CFE1D1A35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5D04F-38F0-9F94-7DE5-2088763A0A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822B72-5EB6-4988-6F06-487A8A2F9C14}"/>
              </a:ext>
            </a:extLst>
          </p:cNvPr>
          <p:cNvSpPr>
            <a:spLocks noGrp="1"/>
          </p:cNvSpPr>
          <p:nvPr>
            <p:ph type="sldNum" sz="quarter" idx="5"/>
          </p:nvPr>
        </p:nvSpPr>
        <p:spPr/>
        <p:txBody>
          <a:bodyPr/>
          <a:lstStyle/>
          <a:p>
            <a:fld id="{5A350495-9E59-1147-A9C9-21D5DB2A3608}" type="slidenum">
              <a:rPr kumimoji="1" lang="zh-CN" altLang="en-US" smtClean="0"/>
              <a:t>20</a:t>
            </a:fld>
            <a:endParaRPr kumimoji="1" lang="zh-CN" altLang="en-US"/>
          </a:p>
        </p:txBody>
      </p:sp>
    </p:spTree>
    <p:extLst>
      <p:ext uri="{BB962C8B-B14F-4D97-AF65-F5344CB8AC3E}">
        <p14:creationId xmlns:p14="http://schemas.microsoft.com/office/powerpoint/2010/main" val="1800145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FAA29-682D-5784-05BD-DD808B1FE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1E3B8-AD13-28C2-84F1-B1367BF06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E1407-70B8-7246-95F0-0B16B4C581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A63EC-E9A1-3EE3-D333-EFA0A67E0A03}"/>
              </a:ext>
            </a:extLst>
          </p:cNvPr>
          <p:cNvSpPr>
            <a:spLocks noGrp="1"/>
          </p:cNvSpPr>
          <p:nvPr>
            <p:ph type="sldNum" sz="quarter" idx="5"/>
          </p:nvPr>
        </p:nvSpPr>
        <p:spPr/>
        <p:txBody>
          <a:bodyPr/>
          <a:lstStyle/>
          <a:p>
            <a:fld id="{5A350495-9E59-1147-A9C9-21D5DB2A3608}" type="slidenum">
              <a:rPr kumimoji="1" lang="zh-CN" altLang="en-US" smtClean="0"/>
              <a:t>21</a:t>
            </a:fld>
            <a:endParaRPr kumimoji="1" lang="zh-CN" altLang="en-US"/>
          </a:p>
        </p:txBody>
      </p:sp>
    </p:spTree>
    <p:extLst>
      <p:ext uri="{BB962C8B-B14F-4D97-AF65-F5344CB8AC3E}">
        <p14:creationId xmlns:p14="http://schemas.microsoft.com/office/powerpoint/2010/main" val="139309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ADFE8-64E9-523A-098A-66726C19A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D7270-9679-BE17-996A-BA742A887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9BDF6-90E2-AD02-BB56-CD3E003ED9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B51DA1-3CF5-24D4-EB2D-1B77699487AC}"/>
              </a:ext>
            </a:extLst>
          </p:cNvPr>
          <p:cNvSpPr>
            <a:spLocks noGrp="1"/>
          </p:cNvSpPr>
          <p:nvPr>
            <p:ph type="sldNum" sz="quarter" idx="5"/>
          </p:nvPr>
        </p:nvSpPr>
        <p:spPr/>
        <p:txBody>
          <a:bodyPr/>
          <a:lstStyle/>
          <a:p>
            <a:fld id="{5A350495-9E59-1147-A9C9-21D5DB2A3608}" type="slidenum">
              <a:rPr kumimoji="1" lang="zh-CN" altLang="en-US" smtClean="0"/>
              <a:t>22</a:t>
            </a:fld>
            <a:endParaRPr kumimoji="1" lang="zh-CN" altLang="en-US"/>
          </a:p>
        </p:txBody>
      </p:sp>
    </p:spTree>
    <p:extLst>
      <p:ext uri="{BB962C8B-B14F-4D97-AF65-F5344CB8AC3E}">
        <p14:creationId xmlns:p14="http://schemas.microsoft.com/office/powerpoint/2010/main" val="27846430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DA03-4B99-6B54-AD3F-9D5494F4E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9B1C9-878D-ED01-B841-8350A7489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08ECF-8A30-ACAB-5F91-803EB17FB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A5C35-A845-A9C9-C73A-F8BBE8A734D8}"/>
              </a:ext>
            </a:extLst>
          </p:cNvPr>
          <p:cNvSpPr>
            <a:spLocks noGrp="1"/>
          </p:cNvSpPr>
          <p:nvPr>
            <p:ph type="sldNum" sz="quarter" idx="5"/>
          </p:nvPr>
        </p:nvSpPr>
        <p:spPr/>
        <p:txBody>
          <a:bodyPr/>
          <a:lstStyle/>
          <a:p>
            <a:fld id="{5A350495-9E59-1147-A9C9-21D5DB2A3608}" type="slidenum">
              <a:rPr kumimoji="1" lang="zh-CN" altLang="en-US" smtClean="0"/>
              <a:t>23</a:t>
            </a:fld>
            <a:endParaRPr kumimoji="1" lang="zh-CN" altLang="en-US"/>
          </a:p>
        </p:txBody>
      </p:sp>
    </p:spTree>
    <p:extLst>
      <p:ext uri="{BB962C8B-B14F-4D97-AF65-F5344CB8AC3E}">
        <p14:creationId xmlns:p14="http://schemas.microsoft.com/office/powerpoint/2010/main" val="1167898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94C6D-7197-687C-AACB-493393A30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E25ED-B689-7C7E-2DD0-3DE7289DA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049E6-8D49-0EBC-36D1-3228D99D36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31356C-6791-A9C5-7F8A-8D5C86081AD9}"/>
              </a:ext>
            </a:extLst>
          </p:cNvPr>
          <p:cNvSpPr>
            <a:spLocks noGrp="1"/>
          </p:cNvSpPr>
          <p:nvPr>
            <p:ph type="sldNum" sz="quarter" idx="5"/>
          </p:nvPr>
        </p:nvSpPr>
        <p:spPr/>
        <p:txBody>
          <a:bodyPr/>
          <a:lstStyle/>
          <a:p>
            <a:fld id="{5A350495-9E59-1147-A9C9-21D5DB2A3608}" type="slidenum">
              <a:rPr kumimoji="1" lang="zh-CN" altLang="en-US" smtClean="0"/>
              <a:t>24</a:t>
            </a:fld>
            <a:endParaRPr kumimoji="1" lang="zh-CN" altLang="en-US"/>
          </a:p>
        </p:txBody>
      </p:sp>
    </p:spTree>
    <p:extLst>
      <p:ext uri="{BB962C8B-B14F-4D97-AF65-F5344CB8AC3E}">
        <p14:creationId xmlns:p14="http://schemas.microsoft.com/office/powerpoint/2010/main" val="2982294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721C6-3BDF-990A-9B23-CA6C9EAC9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3821E-3136-FCF4-FDBD-46A8DCEBE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A0ADB-106B-9A9B-4B3C-30067EE4EB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62B7D9-3E01-EEBE-DD3C-5DA01A4631F1}"/>
              </a:ext>
            </a:extLst>
          </p:cNvPr>
          <p:cNvSpPr>
            <a:spLocks noGrp="1"/>
          </p:cNvSpPr>
          <p:nvPr>
            <p:ph type="sldNum" sz="quarter" idx="5"/>
          </p:nvPr>
        </p:nvSpPr>
        <p:spPr/>
        <p:txBody>
          <a:bodyPr/>
          <a:lstStyle/>
          <a:p>
            <a:fld id="{5A350495-9E59-1147-A9C9-21D5DB2A3608}" type="slidenum">
              <a:rPr kumimoji="1" lang="zh-CN" altLang="en-US" smtClean="0"/>
              <a:t>25</a:t>
            </a:fld>
            <a:endParaRPr kumimoji="1" lang="zh-CN" altLang="en-US"/>
          </a:p>
        </p:txBody>
      </p:sp>
    </p:spTree>
    <p:extLst>
      <p:ext uri="{BB962C8B-B14F-4D97-AF65-F5344CB8AC3E}">
        <p14:creationId xmlns:p14="http://schemas.microsoft.com/office/powerpoint/2010/main" val="6147965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F2AA3-4D85-8244-E048-E8D82EC04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6EB68-B2FD-ECD6-0FD3-D314393BF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8FB2A-6F88-2BB1-0D47-4E5B49FB54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D74BA0-D540-DDF7-70F2-8476B5F08E28}"/>
              </a:ext>
            </a:extLst>
          </p:cNvPr>
          <p:cNvSpPr>
            <a:spLocks noGrp="1"/>
          </p:cNvSpPr>
          <p:nvPr>
            <p:ph type="sldNum" sz="quarter" idx="5"/>
          </p:nvPr>
        </p:nvSpPr>
        <p:spPr/>
        <p:txBody>
          <a:bodyPr/>
          <a:lstStyle/>
          <a:p>
            <a:fld id="{5A350495-9E59-1147-A9C9-21D5DB2A3608}" type="slidenum">
              <a:rPr kumimoji="1" lang="zh-CN" altLang="en-US" smtClean="0"/>
              <a:t>26</a:t>
            </a:fld>
            <a:endParaRPr kumimoji="1" lang="zh-CN" altLang="en-US"/>
          </a:p>
        </p:txBody>
      </p:sp>
    </p:spTree>
    <p:extLst>
      <p:ext uri="{BB962C8B-B14F-4D97-AF65-F5344CB8AC3E}">
        <p14:creationId xmlns:p14="http://schemas.microsoft.com/office/powerpoint/2010/main" val="3384394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DE7C3-388F-844B-65AC-4FF9E3CF8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36A10-5F0D-A713-1A47-D8F957157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A56B7-4CEC-0E80-3BF4-35610DFAE4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6E5F5C-70C7-6B1F-32A2-88F88AF60D88}"/>
              </a:ext>
            </a:extLst>
          </p:cNvPr>
          <p:cNvSpPr>
            <a:spLocks noGrp="1"/>
          </p:cNvSpPr>
          <p:nvPr>
            <p:ph type="sldNum" sz="quarter" idx="5"/>
          </p:nvPr>
        </p:nvSpPr>
        <p:spPr/>
        <p:txBody>
          <a:bodyPr/>
          <a:lstStyle/>
          <a:p>
            <a:fld id="{5A350495-9E59-1147-A9C9-21D5DB2A3608}" type="slidenum">
              <a:rPr kumimoji="1" lang="zh-CN" altLang="en-US" smtClean="0"/>
              <a:t>27</a:t>
            </a:fld>
            <a:endParaRPr kumimoji="1" lang="zh-CN" altLang="en-US"/>
          </a:p>
        </p:txBody>
      </p:sp>
    </p:spTree>
    <p:extLst>
      <p:ext uri="{BB962C8B-B14F-4D97-AF65-F5344CB8AC3E}">
        <p14:creationId xmlns:p14="http://schemas.microsoft.com/office/powerpoint/2010/main" val="1615974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61CC5-F1AE-93C6-7CBF-B0B863910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13C83-B575-8A95-5C2C-1FC0BE940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91B5B-F820-B638-0DF0-7A25BA2D3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6D2296-0FAF-259E-89F8-7FA7FF5CB9F7}"/>
              </a:ext>
            </a:extLst>
          </p:cNvPr>
          <p:cNvSpPr>
            <a:spLocks noGrp="1"/>
          </p:cNvSpPr>
          <p:nvPr>
            <p:ph type="sldNum" sz="quarter" idx="5"/>
          </p:nvPr>
        </p:nvSpPr>
        <p:spPr/>
        <p:txBody>
          <a:bodyPr/>
          <a:lstStyle/>
          <a:p>
            <a:fld id="{5A350495-9E59-1147-A9C9-21D5DB2A3608}" type="slidenum">
              <a:rPr kumimoji="1" lang="zh-CN" altLang="en-US" smtClean="0"/>
              <a:t>28</a:t>
            </a:fld>
            <a:endParaRPr kumimoji="1" lang="zh-CN" altLang="en-US"/>
          </a:p>
        </p:txBody>
      </p:sp>
    </p:spTree>
    <p:extLst>
      <p:ext uri="{BB962C8B-B14F-4D97-AF65-F5344CB8AC3E}">
        <p14:creationId xmlns:p14="http://schemas.microsoft.com/office/powerpoint/2010/main" val="1665906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C1B79-EC43-DEDC-F347-551E1E640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F8BBD-D3FB-110E-BFE3-DA1E74294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20B78-124E-095C-7171-74787E1B5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3CC2D-982B-08A3-A8F3-B33865AD27FF}"/>
              </a:ext>
            </a:extLst>
          </p:cNvPr>
          <p:cNvSpPr>
            <a:spLocks noGrp="1"/>
          </p:cNvSpPr>
          <p:nvPr>
            <p:ph type="sldNum" sz="quarter" idx="5"/>
          </p:nvPr>
        </p:nvSpPr>
        <p:spPr/>
        <p:txBody>
          <a:bodyPr/>
          <a:lstStyle/>
          <a:p>
            <a:fld id="{5A350495-9E59-1147-A9C9-21D5DB2A3608}" type="slidenum">
              <a:rPr kumimoji="1" lang="zh-CN" altLang="en-US" smtClean="0"/>
              <a:t>29</a:t>
            </a:fld>
            <a:endParaRPr kumimoji="1" lang="zh-CN" altLang="en-US"/>
          </a:p>
        </p:txBody>
      </p:sp>
    </p:spTree>
    <p:extLst>
      <p:ext uri="{BB962C8B-B14F-4D97-AF65-F5344CB8AC3E}">
        <p14:creationId xmlns:p14="http://schemas.microsoft.com/office/powerpoint/2010/main" val="2565917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86DD-E5E0-AB06-01A1-4DAD05F92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F058F-571B-934E-BADF-D3F5B3293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04014B-9C83-C533-9A26-E3A1042422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60CE73-53EB-4B50-A94E-30B24814168F}"/>
              </a:ext>
            </a:extLst>
          </p:cNvPr>
          <p:cNvSpPr>
            <a:spLocks noGrp="1"/>
          </p:cNvSpPr>
          <p:nvPr>
            <p:ph type="sldNum" sz="quarter" idx="5"/>
          </p:nvPr>
        </p:nvSpPr>
        <p:spPr/>
        <p:txBody>
          <a:bodyPr/>
          <a:lstStyle/>
          <a:p>
            <a:fld id="{5A350495-9E59-1147-A9C9-21D5DB2A3608}" type="slidenum">
              <a:rPr kumimoji="1" lang="zh-CN" altLang="en-US" smtClean="0"/>
              <a:t>30</a:t>
            </a:fld>
            <a:endParaRPr kumimoji="1" lang="zh-CN" altLang="en-US"/>
          </a:p>
        </p:txBody>
      </p:sp>
    </p:spTree>
    <p:extLst>
      <p:ext uri="{BB962C8B-B14F-4D97-AF65-F5344CB8AC3E}">
        <p14:creationId xmlns:p14="http://schemas.microsoft.com/office/powerpoint/2010/main" val="1436202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7E7A5-EDA0-88A2-28CC-AB5158052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76474-9C72-FC88-CC05-4CB35FFF7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62564-CB76-6CAE-845A-9BBF38E818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60E203-44B1-6568-E48F-228C3722F76D}"/>
              </a:ext>
            </a:extLst>
          </p:cNvPr>
          <p:cNvSpPr>
            <a:spLocks noGrp="1"/>
          </p:cNvSpPr>
          <p:nvPr>
            <p:ph type="sldNum" sz="quarter" idx="5"/>
          </p:nvPr>
        </p:nvSpPr>
        <p:spPr/>
        <p:txBody>
          <a:bodyPr/>
          <a:lstStyle/>
          <a:p>
            <a:fld id="{5A350495-9E59-1147-A9C9-21D5DB2A3608}" type="slidenum">
              <a:rPr kumimoji="1" lang="zh-CN" altLang="en-US" smtClean="0"/>
              <a:t>31</a:t>
            </a:fld>
            <a:endParaRPr kumimoji="1" lang="zh-CN" altLang="en-US"/>
          </a:p>
        </p:txBody>
      </p:sp>
    </p:spTree>
    <p:extLst>
      <p:ext uri="{BB962C8B-B14F-4D97-AF65-F5344CB8AC3E}">
        <p14:creationId xmlns:p14="http://schemas.microsoft.com/office/powerpoint/2010/main" val="1949563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1CB0B-C768-48DB-E693-12EE8C2FE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ACED5-6F7F-4784-D9A3-EC2A79706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BC5CE-478E-A340-72B4-CC8E853D1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D6338-3F36-6B5D-273D-C5A2ECCDD94C}"/>
              </a:ext>
            </a:extLst>
          </p:cNvPr>
          <p:cNvSpPr>
            <a:spLocks noGrp="1"/>
          </p:cNvSpPr>
          <p:nvPr>
            <p:ph type="sldNum" sz="quarter" idx="5"/>
          </p:nvPr>
        </p:nvSpPr>
        <p:spPr/>
        <p:txBody>
          <a:bodyPr/>
          <a:lstStyle/>
          <a:p>
            <a:fld id="{5A350495-9E59-1147-A9C9-21D5DB2A3608}" type="slidenum">
              <a:rPr kumimoji="1" lang="zh-CN" altLang="en-US" smtClean="0"/>
              <a:t>32</a:t>
            </a:fld>
            <a:endParaRPr kumimoji="1" lang="zh-CN" altLang="en-US"/>
          </a:p>
        </p:txBody>
      </p:sp>
    </p:spTree>
    <p:extLst>
      <p:ext uri="{BB962C8B-B14F-4D97-AF65-F5344CB8AC3E}">
        <p14:creationId xmlns:p14="http://schemas.microsoft.com/office/powerpoint/2010/main" val="338629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1385-69BA-D88E-70F0-6A2FC1E72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8C9AD-BBE2-E4AE-29ED-642EC2C82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385DB-4C33-3C65-F6B6-0035FF2512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0475A6-BA96-ED95-5533-47C7F1B4D15D}"/>
              </a:ext>
            </a:extLst>
          </p:cNvPr>
          <p:cNvSpPr>
            <a:spLocks noGrp="1"/>
          </p:cNvSpPr>
          <p:nvPr>
            <p:ph type="sldNum" sz="quarter" idx="5"/>
          </p:nvPr>
        </p:nvSpPr>
        <p:spPr/>
        <p:txBody>
          <a:bodyPr/>
          <a:lstStyle/>
          <a:p>
            <a:fld id="{5A350495-9E59-1147-A9C9-21D5DB2A3608}" type="slidenum">
              <a:rPr kumimoji="1" lang="zh-CN" altLang="en-US" smtClean="0"/>
              <a:t>33</a:t>
            </a:fld>
            <a:endParaRPr kumimoji="1" lang="zh-CN" altLang="en-US"/>
          </a:p>
        </p:txBody>
      </p:sp>
    </p:spTree>
    <p:extLst>
      <p:ext uri="{BB962C8B-B14F-4D97-AF65-F5344CB8AC3E}">
        <p14:creationId xmlns:p14="http://schemas.microsoft.com/office/powerpoint/2010/main" val="40230665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2025/11/27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2025/11/27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2025/11/27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2025/11/27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2025/11/27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2025/11/27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2025/11/27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4.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8.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0.xml"/><Relationship Id="rId5"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1.xml"/><Relationship Id="rId5" Type="http://schemas.openxmlformats.org/officeDocument/2006/relationships/image" Target="../media/image11.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0.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image" Target="../media/image13.jpeg"/><Relationship Id="rId5" Type="http://schemas.openxmlformats.org/officeDocument/2006/relationships/image" Target="../media/image1.png"/><Relationship Id="rId4" Type="http://schemas.openxmlformats.org/officeDocument/2006/relationships/image" Target="../media/image12.png"/><Relationship Id="rId9"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3.xml"/><Relationship Id="rId5" Type="http://schemas.openxmlformats.org/officeDocument/2006/relationships/image" Target="../media/image1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4.xml"/><Relationship Id="rId5" Type="http://schemas.openxmlformats.org/officeDocument/2006/relationships/image" Target="../media/image17.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18.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76.xml"/><Relationship Id="rId5" Type="http://schemas.openxmlformats.org/officeDocument/2006/relationships/image" Target="../media/image1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78.xml"/><Relationship Id="rId5" Type="http://schemas.openxmlformats.org/officeDocument/2006/relationships/image" Target="../media/image2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79.xml"/><Relationship Id="rId5" Type="http://schemas.openxmlformats.org/officeDocument/2006/relationships/image" Target="../media/image23.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2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81.xml"/><Relationship Id="rId5" Type="http://schemas.openxmlformats.org/officeDocument/2006/relationships/image" Target="../media/image2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83.xml"/><Relationship Id="rId5" Type="http://schemas.openxmlformats.org/officeDocument/2006/relationships/image" Target="../media/image28.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84.xml"/><Relationship Id="rId5" Type="http://schemas.openxmlformats.org/officeDocument/2006/relationships/image" Target="../media/image29.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85.xml"/><Relationship Id="rId5" Type="http://schemas.openxmlformats.org/officeDocument/2006/relationships/image" Target="../media/image29.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86.xml"/><Relationship Id="rId5" Type="http://schemas.openxmlformats.org/officeDocument/2006/relationships/image" Target="../media/image30.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8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8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89.xml"/><Relationship Id="rId5" Type="http://schemas.openxmlformats.org/officeDocument/2006/relationships/image" Target="../media/image36.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90.xml"/><Relationship Id="rId5" Type="http://schemas.openxmlformats.org/officeDocument/2006/relationships/image" Target="../media/image37.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91.xml"/><Relationship Id="rId5" Type="http://schemas.openxmlformats.org/officeDocument/2006/relationships/image" Target="../media/image37.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92.xml"/><Relationship Id="rId5" Type="http://schemas.openxmlformats.org/officeDocument/2006/relationships/image" Target="../media/image38.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3.xml"/><Relationship Id="rId5" Type="http://schemas.openxmlformats.org/officeDocument/2006/relationships/image" Target="../media/image38.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94.xml"/><Relationship Id="rId5" Type="http://schemas.openxmlformats.org/officeDocument/2006/relationships/image" Target="../media/image39.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F247E-B372-8367-CB7A-0873EC72F23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997ECA7-7D63-2F86-A77A-0BE3C8F35035}"/>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Outline</a:t>
            </a:r>
          </a:p>
        </p:txBody>
      </p:sp>
      <p:pic>
        <p:nvPicPr>
          <p:cNvPr id="5" name="图片 1" descr="logo-en">
            <a:extLst>
              <a:ext uri="{FF2B5EF4-FFF2-40B4-BE49-F238E27FC236}">
                <a16:creationId xmlns:a16="http://schemas.microsoft.com/office/drawing/2014/main" id="{2CAE9CBF-ADAB-5FAD-6E70-F17D4D2BA251}"/>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B85B9659-E438-84FC-B80A-828BE32967DD}"/>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2" name="文本框 9">
            <a:extLst>
              <a:ext uri="{FF2B5EF4-FFF2-40B4-BE49-F238E27FC236}">
                <a16:creationId xmlns:a16="http://schemas.microsoft.com/office/drawing/2014/main" id="{F1F4BB23-3830-3641-E142-F6F6390D127D}"/>
              </a:ext>
            </a:extLst>
          </p:cNvPr>
          <p:cNvSpPr txBox="1"/>
          <p:nvPr/>
        </p:nvSpPr>
        <p:spPr>
          <a:xfrm>
            <a:off x="286338" y="1023415"/>
            <a:ext cx="10443394" cy="5573192"/>
          </a:xfrm>
          <a:prstGeom prst="rect">
            <a:avLst/>
          </a:prstGeom>
          <a:noFill/>
        </p:spPr>
        <p:txBody>
          <a:bodyPr wrap="square" rtlCol="0">
            <a:spAutoFit/>
          </a:bodyPr>
          <a:lstStyle/>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Introduction</a:t>
            </a:r>
          </a:p>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Definition</a:t>
            </a:r>
          </a:p>
          <a:p>
            <a:pPr marL="800100" lvl="1" indent="-342900" algn="just">
              <a:lnSpc>
                <a:spcPct val="150000"/>
              </a:lnSpc>
              <a:buFont typeface="Arial" panose="020B0604020202020204" pitchFamily="34" charset="0"/>
              <a:buChar char="•"/>
            </a:pP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Traditional AI VS Agentic AI</a:t>
            </a:r>
          </a:p>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Architectures</a:t>
            </a:r>
          </a:p>
          <a:p>
            <a:pPr marL="800100" lvl="1" indent="-342900" algn="just">
              <a:lnSpc>
                <a:spcPct val="150000"/>
              </a:lnSpc>
              <a:buFont typeface="Arial" panose="020B0604020202020204" pitchFamily="34" charset="0"/>
              <a:buChar char="•"/>
            </a:pP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Single-Agent System VS Multi-Agent System </a:t>
            </a:r>
          </a:p>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Industrial Frameworks</a:t>
            </a:r>
          </a:p>
          <a:p>
            <a:pPr marL="800100" lvl="1" indent="-342900" algn="just">
              <a:lnSpc>
                <a:spcPct val="150000"/>
              </a:lnSpc>
              <a:buFont typeface="Arial" panose="020B0604020202020204" pitchFamily="34" charset="0"/>
              <a:buChar char="•"/>
            </a:pPr>
            <a:r>
              <a:rPr lang="en-US" altLang="zh-CN" dirty="0" err="1">
                <a:latin typeface="Microsoft YaHei UI" panose="020B0503020204020204" pitchFamily="34" charset="-122"/>
                <a:ea typeface="Microsoft YaHei UI" panose="020B0503020204020204" pitchFamily="34" charset="-122"/>
                <a:cs typeface="Times New Roman Regular" panose="02020503050405090304" charset="0"/>
              </a:rPr>
              <a:t>AutoGen</a:t>
            </a: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 by Microsoft and ADK by Google</a:t>
            </a:r>
          </a:p>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Applications</a:t>
            </a:r>
          </a:p>
          <a:p>
            <a:pPr marL="914400" lvl="1" indent="-457200" algn="just">
              <a:lnSpc>
                <a:spcPct val="150000"/>
              </a:lnSpc>
              <a:buFont typeface="Arial" panose="020B0604020202020204" pitchFamily="34" charset="0"/>
              <a:buChar char="•"/>
            </a:pPr>
            <a:r>
              <a:rPr lang="en-US" altLang="zh-CN" dirty="0" err="1">
                <a:latin typeface="Microsoft YaHei UI" panose="020B0503020204020204" pitchFamily="34" charset="-122"/>
                <a:ea typeface="Microsoft YaHei UI" panose="020B0503020204020204" pitchFamily="34" charset="-122"/>
                <a:cs typeface="Times New Roman Regular" panose="02020503050405090304" charset="0"/>
              </a:rPr>
              <a:t>Magentic</a:t>
            </a: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-One by Microsoft</a:t>
            </a:r>
          </a:p>
          <a:p>
            <a:pPr marL="914400" lvl="1" indent="-457200" algn="just">
              <a:lnSpc>
                <a:spcPct val="150000"/>
              </a:lnSpc>
              <a:buFont typeface="Arial" panose="020B0604020202020204" pitchFamily="34" charset="0"/>
              <a:buChar char="•"/>
            </a:pPr>
            <a:r>
              <a:rPr lang="en-US" altLang="zh-CN" dirty="0" err="1">
                <a:latin typeface="Microsoft YaHei UI" panose="020B0503020204020204" pitchFamily="34" charset="-122"/>
                <a:ea typeface="Microsoft YaHei UI" panose="020B0503020204020204" pitchFamily="34" charset="-122"/>
                <a:cs typeface="Times New Roman Regular" panose="02020503050405090304" charset="0"/>
              </a:rPr>
              <a:t>SciToolAgent</a:t>
            </a: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 by ZJU</a:t>
            </a:r>
          </a:p>
          <a:p>
            <a:pPr marL="914400" lvl="1" indent="-457200" algn="just">
              <a:lnSpc>
                <a:spcPct val="150000"/>
              </a:lnSpc>
              <a:buFont typeface="Arial" panose="020B0604020202020204" pitchFamily="34" charset="0"/>
              <a:buChar char="•"/>
            </a:pP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Paper-to-Video Agentic System by PKU and DAMO (Alibaba)</a:t>
            </a:r>
            <a:endPar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endParaRPr>
          </a:p>
          <a:p>
            <a:pPr marL="457200" indent="-457200" algn="just">
              <a:lnSpc>
                <a:spcPct val="150000"/>
              </a:lnSpc>
              <a:buFont typeface="+mj-lt"/>
              <a:buAutoNum type="arabicPeriod"/>
            </a:pPr>
            <a:r>
              <a:rPr lang="en-US" altLang="zh-CN" sz="2200" dirty="0">
                <a:latin typeface="Microsoft YaHei UI" panose="020B0503020204020204" pitchFamily="34" charset="-122"/>
                <a:ea typeface="Microsoft YaHei UI" panose="020B0503020204020204" pitchFamily="34" charset="-122"/>
              </a:rPr>
              <a:t>Summary</a:t>
            </a:r>
          </a:p>
        </p:txBody>
      </p:sp>
    </p:spTree>
    <p:custDataLst>
      <p:tags r:id="rId1"/>
    </p:custDataLst>
    <p:extLst>
      <p:ext uri="{BB962C8B-B14F-4D97-AF65-F5344CB8AC3E}">
        <p14:creationId xmlns:p14="http://schemas.microsoft.com/office/powerpoint/2010/main" val="322963171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29DD6-D1A3-70A5-50B2-AD807F0CA39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FF6A1B3F-B91A-62EF-B8BB-C8F4D02347A6}"/>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Introduction to Agentic System</a:t>
            </a:r>
          </a:p>
        </p:txBody>
      </p:sp>
      <p:pic>
        <p:nvPicPr>
          <p:cNvPr id="5" name="图片 1" descr="logo-en">
            <a:extLst>
              <a:ext uri="{FF2B5EF4-FFF2-40B4-BE49-F238E27FC236}">
                <a16:creationId xmlns:a16="http://schemas.microsoft.com/office/drawing/2014/main" id="{4B376931-341C-FF66-D76F-77E4BED2E502}"/>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9C1F6F6E-02A5-0125-BFC1-A523B0986176}"/>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0" name="文本框 9">
            <a:extLst>
              <a:ext uri="{FF2B5EF4-FFF2-40B4-BE49-F238E27FC236}">
                <a16:creationId xmlns:a16="http://schemas.microsoft.com/office/drawing/2014/main" id="{B757A893-BC86-B06E-D81D-96BE97290B95}"/>
              </a:ext>
            </a:extLst>
          </p:cNvPr>
          <p:cNvSpPr txBox="1"/>
          <p:nvPr/>
        </p:nvSpPr>
        <p:spPr>
          <a:xfrm>
            <a:off x="286338" y="1023415"/>
            <a:ext cx="11455200" cy="541046"/>
          </a:xfrm>
          <a:prstGeom prst="rect">
            <a:avLst/>
          </a:prstGeom>
          <a:noFill/>
        </p:spPr>
        <p:txBody>
          <a:bodyPr wrap="square" rtlCol="0">
            <a:spAutoFit/>
          </a:bodyPr>
          <a:lstStyle/>
          <a:p>
            <a:pPr algn="just">
              <a:lnSpc>
                <a:spcPct val="150000"/>
              </a:lnSpc>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The Evolution of AI</a:t>
            </a:r>
          </a:p>
        </p:txBody>
      </p:sp>
      <p:sp>
        <p:nvSpPr>
          <p:cNvPr id="7" name="TextBox 6">
            <a:extLst>
              <a:ext uri="{FF2B5EF4-FFF2-40B4-BE49-F238E27FC236}">
                <a16:creationId xmlns:a16="http://schemas.microsoft.com/office/drawing/2014/main" id="{0661DA55-7E6A-51E4-48CB-57F0055BE0A5}"/>
              </a:ext>
            </a:extLst>
          </p:cNvPr>
          <p:cNvSpPr txBox="1"/>
          <p:nvPr/>
        </p:nvSpPr>
        <p:spPr>
          <a:xfrm>
            <a:off x="286338" y="6329457"/>
            <a:ext cx="8609155"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Neeraj Bansal. "The History of Artificial Intelligence: A Timeline of Innovation from Concept to Code." May 21, 2025.</a:t>
            </a:r>
          </a:p>
        </p:txBody>
      </p:sp>
      <p:pic>
        <p:nvPicPr>
          <p:cNvPr id="3" name="Picture 2">
            <a:extLst>
              <a:ext uri="{FF2B5EF4-FFF2-40B4-BE49-F238E27FC236}">
                <a16:creationId xmlns:a16="http://schemas.microsoft.com/office/drawing/2014/main" id="{063E9520-F120-FEA9-E607-330EBA0708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8266" y="1765734"/>
            <a:ext cx="7755467" cy="43624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4D98C49-8CC7-CC19-A7C0-994AED4306EB}"/>
              </a:ext>
            </a:extLst>
          </p:cNvPr>
          <p:cNvSpPr txBox="1"/>
          <p:nvPr/>
        </p:nvSpPr>
        <p:spPr>
          <a:xfrm>
            <a:off x="286337" y="3820067"/>
            <a:ext cx="28363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kern="1200" dirty="0">
                <a:solidFill>
                  <a:schemeClr val="tx1"/>
                </a:solidFill>
                <a:effectLst/>
                <a:latin typeface="Microsoft YaHei UI" panose="020B0503020204020204" pitchFamily="34" charset="-122"/>
                <a:ea typeface="Microsoft YaHei UI" panose="020B0503020204020204" pitchFamily="34" charset="-122"/>
              </a:rPr>
              <a:t>The Philosophical Roots of AI (Before 1950)</a:t>
            </a:r>
          </a:p>
        </p:txBody>
      </p:sp>
      <p:sp>
        <p:nvSpPr>
          <p:cNvPr id="11" name="TextBox 10">
            <a:extLst>
              <a:ext uri="{FF2B5EF4-FFF2-40B4-BE49-F238E27FC236}">
                <a16:creationId xmlns:a16="http://schemas.microsoft.com/office/drawing/2014/main" id="{923D20C3-1928-2DCB-C158-F685217FEEF5}"/>
              </a:ext>
            </a:extLst>
          </p:cNvPr>
          <p:cNvSpPr txBox="1"/>
          <p:nvPr/>
        </p:nvSpPr>
        <p:spPr>
          <a:xfrm>
            <a:off x="9455659" y="3429000"/>
            <a:ext cx="2672206" cy="1477328"/>
          </a:xfrm>
          <a:prstGeom prst="rect">
            <a:avLst/>
          </a:prstGeom>
          <a:noFill/>
        </p:spPr>
        <p:txBody>
          <a:bodyPr wrap="square">
            <a:spAutoFit/>
          </a:bodyPr>
          <a:lstStyle/>
          <a:p>
            <a:pPr lvl="0">
              <a:defRPr/>
            </a:pPr>
            <a:r>
              <a:rPr lang="en-US" b="1" dirty="0">
                <a:latin typeface="Microsoft YaHei UI" panose="020B0503020204020204" pitchFamily="34" charset="-122"/>
                <a:ea typeface="Microsoft YaHei UI" panose="020B0503020204020204" pitchFamily="34" charset="-122"/>
              </a:rPr>
              <a:t>Today’s AI systems are not just tools. They're becoming collaborators and copilots.</a:t>
            </a:r>
            <a:endParaRPr lang="en-US" sz="1800" b="1" kern="1200" dirty="0">
              <a:solidFill>
                <a:schemeClr val="tx1"/>
              </a:solidFill>
              <a:effectLst/>
              <a:latin typeface="Microsoft YaHei UI" panose="020B0503020204020204" pitchFamily="34" charset="-122"/>
              <a:ea typeface="Microsoft YaHei UI" panose="020B0503020204020204" pitchFamily="34" charset="-122"/>
            </a:endParaRPr>
          </a:p>
        </p:txBody>
      </p:sp>
    </p:spTree>
    <p:custDataLst>
      <p:tags r:id="rId1"/>
    </p:custDataLst>
    <p:extLst>
      <p:ext uri="{BB962C8B-B14F-4D97-AF65-F5344CB8AC3E}">
        <p14:creationId xmlns:p14="http://schemas.microsoft.com/office/powerpoint/2010/main" val="294954463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7C65D-674D-95E8-CE1F-9816423DEA2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AF532BEA-9C90-4EB6-4D23-AA5B4D5041C5}"/>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Introduction to Agentic System</a:t>
            </a:r>
          </a:p>
        </p:txBody>
      </p:sp>
      <p:pic>
        <p:nvPicPr>
          <p:cNvPr id="5" name="图片 1" descr="logo-en">
            <a:extLst>
              <a:ext uri="{FF2B5EF4-FFF2-40B4-BE49-F238E27FC236}">
                <a16:creationId xmlns:a16="http://schemas.microsoft.com/office/drawing/2014/main" id="{B4D3E4B4-3E96-3A85-021B-77870DEB9AF6}"/>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903E2058-646E-8180-17F9-EEB6621D4375}"/>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7" name="TextBox 6">
            <a:extLst>
              <a:ext uri="{FF2B5EF4-FFF2-40B4-BE49-F238E27FC236}">
                <a16:creationId xmlns:a16="http://schemas.microsoft.com/office/drawing/2014/main" id="{53F0629F-5323-BCC3-B74D-06443D550F48}"/>
              </a:ext>
            </a:extLst>
          </p:cNvPr>
          <p:cNvSpPr txBox="1"/>
          <p:nvPr/>
        </p:nvSpPr>
        <p:spPr>
          <a:xfrm>
            <a:off x="330667" y="6371469"/>
            <a:ext cx="9919252"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Jonathan D. Gough. “Top 10 Agentic AI Examples and Use Cases” </a:t>
            </a:r>
            <a:r>
              <a:rPr lang="en-US" dirty="0" err="1"/>
              <a:t>Pellera</a:t>
            </a:r>
            <a:r>
              <a:rPr lang="en-US" dirty="0"/>
              <a:t>. July 12, 2025.</a:t>
            </a:r>
          </a:p>
        </p:txBody>
      </p:sp>
      <p:pic>
        <p:nvPicPr>
          <p:cNvPr id="14" name="Picture 13">
            <a:extLst>
              <a:ext uri="{FF2B5EF4-FFF2-40B4-BE49-F238E27FC236}">
                <a16:creationId xmlns:a16="http://schemas.microsoft.com/office/drawing/2014/main" id="{E897D30E-3753-C34A-35FD-1B98D1550A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2218" y="3784612"/>
            <a:ext cx="4691946" cy="2377852"/>
          </a:xfrm>
          <a:prstGeom prst="rect">
            <a:avLst/>
          </a:prstGeom>
        </p:spPr>
      </p:pic>
      <p:sp>
        <p:nvSpPr>
          <p:cNvPr id="16" name="文本框 9">
            <a:extLst>
              <a:ext uri="{FF2B5EF4-FFF2-40B4-BE49-F238E27FC236}">
                <a16:creationId xmlns:a16="http://schemas.microsoft.com/office/drawing/2014/main" id="{5EE048F9-797B-2CB8-56B7-13B2BE54C64B}"/>
              </a:ext>
            </a:extLst>
          </p:cNvPr>
          <p:cNvSpPr txBox="1"/>
          <p:nvPr/>
        </p:nvSpPr>
        <p:spPr>
          <a:xfrm>
            <a:off x="330667" y="1335973"/>
            <a:ext cx="5416990" cy="4383572"/>
          </a:xfrm>
          <a:prstGeom prst="rect">
            <a:avLst/>
          </a:prstGeom>
          <a:noFill/>
        </p:spPr>
        <p:txBody>
          <a:bodyPr wrap="square" rtlCol="0">
            <a:spAutoFit/>
          </a:bodyPr>
          <a:lstStyle/>
          <a:p>
            <a:pPr algn="just">
              <a:lnSpc>
                <a:spcPct val="150000"/>
              </a:lnSpc>
            </a:pPr>
            <a:r>
              <a:rPr lang="en-US" altLang="zh-CN" sz="2200" dirty="0">
                <a:latin typeface="Microsoft YaHei UI" panose="020B0503020204020204" pitchFamily="34" charset="-122"/>
                <a:ea typeface="Microsoft YaHei UI" panose="020B0503020204020204" pitchFamily="34" charset="-122"/>
              </a:rPr>
              <a:t>How Popular the Agentic System is?</a:t>
            </a:r>
          </a:p>
          <a:p>
            <a:pPr algn="just">
              <a:lnSpc>
                <a:spcPct val="150000"/>
              </a:lnSpc>
            </a:pPr>
            <a:endParaRPr lang="en-US" altLang="zh-CN" sz="2200" dirty="0">
              <a:latin typeface="Microsoft YaHei UI" panose="020B0503020204020204" pitchFamily="34" charset="-122"/>
              <a:ea typeface="Microsoft YaHei UI" panose="020B0503020204020204" pitchFamily="34" charset="-122"/>
            </a:endParaRPr>
          </a:p>
          <a:p>
            <a:pPr marL="342900" indent="-342900">
              <a:lnSpc>
                <a:spcPct val="150000"/>
              </a:lnSpc>
              <a:buFont typeface="Arial" panose="020B0604020202090204" pitchFamily="34" charset="0"/>
              <a:buChar char="•"/>
            </a:pPr>
            <a:r>
              <a:rPr lang="en-US" altLang="zh-CN" dirty="0">
                <a:latin typeface="Microsoft YaHei UI" panose="020B0503020204020204" pitchFamily="34" charset="-122"/>
                <a:ea typeface="Microsoft YaHei UI" panose="020B0503020204020204" pitchFamily="34" charset="-122"/>
              </a:rPr>
              <a:t>Adrew Ng mentioned the rise of agentic reasoning in BUILD 2024 keynote. Recently, he started to teach Agentic</a:t>
            </a:r>
            <a:r>
              <a:rPr lang="zh-CN" altLang="en-US" dirty="0">
                <a:latin typeface="Microsoft YaHei UI" panose="020B0503020204020204" pitchFamily="34" charset="-122"/>
                <a:ea typeface="Microsoft YaHei UI" panose="020B0503020204020204" pitchFamily="34" charset="-122"/>
              </a:rPr>
              <a:t> </a:t>
            </a:r>
            <a:r>
              <a:rPr lang="en-US" altLang="zh-CN" dirty="0">
                <a:latin typeface="Microsoft YaHei UI" panose="020B0503020204020204" pitchFamily="34" charset="-122"/>
                <a:ea typeface="Microsoft YaHei UI" panose="020B0503020204020204" pitchFamily="34" charset="-122"/>
              </a:rPr>
              <a:t>(AI) system on </a:t>
            </a:r>
            <a:r>
              <a:rPr lang="en-US" altLang="zh-CN" dirty="0" err="1">
                <a:latin typeface="Microsoft YaHei UI" panose="020B0503020204020204" pitchFamily="34" charset="-122"/>
                <a:ea typeface="Microsoft YaHei UI" panose="020B0503020204020204" pitchFamily="34" charset="-122"/>
              </a:rPr>
              <a:t>DeepLearning.AI</a:t>
            </a:r>
            <a:r>
              <a:rPr lang="en-US" altLang="zh-CN" dirty="0">
                <a:latin typeface="Microsoft YaHei UI" panose="020B0503020204020204" pitchFamily="34" charset="-122"/>
                <a:ea typeface="Microsoft YaHei UI" panose="020B0503020204020204" pitchFamily="34" charset="-122"/>
              </a:rPr>
              <a:t>.</a:t>
            </a:r>
          </a:p>
          <a:p>
            <a:pPr>
              <a:lnSpc>
                <a:spcPct val="150000"/>
              </a:lnSpc>
            </a:pPr>
            <a:endParaRPr lang="en-US" altLang="zh-CN" dirty="0">
              <a:latin typeface="Microsoft YaHei UI" panose="020B0503020204020204" pitchFamily="34" charset="-122"/>
              <a:ea typeface="Microsoft YaHei UI" panose="020B0503020204020204" pitchFamily="34" charset="-122"/>
            </a:endParaRPr>
          </a:p>
          <a:p>
            <a:pPr marL="342900" indent="-342900">
              <a:lnSpc>
                <a:spcPct val="150000"/>
              </a:lnSpc>
              <a:buFont typeface="Arial" panose="020B0604020202090204" pitchFamily="34" charset="0"/>
              <a:buChar char="•"/>
            </a:pPr>
            <a:r>
              <a:rPr lang="en-US" altLang="zh-CN" dirty="0">
                <a:latin typeface="Microsoft YaHei UI" panose="020B0503020204020204" pitchFamily="34" charset="-122"/>
                <a:ea typeface="Microsoft YaHei UI" panose="020B0503020204020204" pitchFamily="34" charset="-122"/>
              </a:rPr>
              <a:t>It's predicted that by 2028, 33% of enterprise software applications will include agentic AI.</a:t>
            </a:r>
          </a:p>
        </p:txBody>
      </p:sp>
      <p:pic>
        <p:nvPicPr>
          <p:cNvPr id="3" name="Picture 2">
            <a:extLst>
              <a:ext uri="{FF2B5EF4-FFF2-40B4-BE49-F238E27FC236}">
                <a16:creationId xmlns:a16="http://schemas.microsoft.com/office/drawing/2014/main" id="{415F2A95-32C9-F143-F785-5E03D2B9CF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81250" y="949926"/>
            <a:ext cx="4153881" cy="2621676"/>
          </a:xfrm>
          <a:prstGeom prst="rect">
            <a:avLst/>
          </a:prstGeom>
        </p:spPr>
      </p:pic>
    </p:spTree>
    <p:custDataLst>
      <p:tags r:id="rId1"/>
    </p:custDataLst>
    <p:extLst>
      <p:ext uri="{BB962C8B-B14F-4D97-AF65-F5344CB8AC3E}">
        <p14:creationId xmlns:p14="http://schemas.microsoft.com/office/powerpoint/2010/main" val="388624496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E7385-7351-2474-CEC2-0FA9A50B8EA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D95E1EC4-EB4D-2442-D054-87C4A1FE7277}"/>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Introduction to Agentic System</a:t>
            </a:r>
          </a:p>
        </p:txBody>
      </p:sp>
      <p:pic>
        <p:nvPicPr>
          <p:cNvPr id="5" name="图片 1" descr="logo-en">
            <a:extLst>
              <a:ext uri="{FF2B5EF4-FFF2-40B4-BE49-F238E27FC236}">
                <a16:creationId xmlns:a16="http://schemas.microsoft.com/office/drawing/2014/main" id="{A095F2A2-93A0-74DC-817D-9C5DE86AA0E1}"/>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F4D6D062-06DB-3F08-1350-D76125DB0D28}"/>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0" name="文本框 9">
            <a:extLst>
              <a:ext uri="{FF2B5EF4-FFF2-40B4-BE49-F238E27FC236}">
                <a16:creationId xmlns:a16="http://schemas.microsoft.com/office/drawing/2014/main" id="{8E82DF58-84D2-5ACB-77F7-3E98212E3F2A}"/>
              </a:ext>
            </a:extLst>
          </p:cNvPr>
          <p:cNvSpPr txBox="1"/>
          <p:nvPr/>
        </p:nvSpPr>
        <p:spPr>
          <a:xfrm>
            <a:off x="286338" y="1023415"/>
            <a:ext cx="11455200" cy="541046"/>
          </a:xfrm>
          <a:prstGeom prst="rect">
            <a:avLst/>
          </a:prstGeom>
          <a:noFill/>
        </p:spPr>
        <p:txBody>
          <a:bodyPr wrap="square" rtlCol="0">
            <a:spAutoFit/>
          </a:bodyPr>
          <a:lstStyle/>
          <a:p>
            <a:pPr algn="just">
              <a:lnSpc>
                <a:spcPct val="150000"/>
              </a:lnSpc>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Comparison of Agentic AI and Traditional AI:</a:t>
            </a:r>
          </a:p>
        </p:txBody>
      </p:sp>
      <p:sp>
        <p:nvSpPr>
          <p:cNvPr id="7" name="TextBox 6">
            <a:extLst>
              <a:ext uri="{FF2B5EF4-FFF2-40B4-BE49-F238E27FC236}">
                <a16:creationId xmlns:a16="http://schemas.microsoft.com/office/drawing/2014/main" id="{700FC25E-9CD0-C50F-B920-8C8DAA9AF669}"/>
              </a:ext>
            </a:extLst>
          </p:cNvPr>
          <p:cNvSpPr txBox="1"/>
          <p:nvPr/>
        </p:nvSpPr>
        <p:spPr>
          <a:xfrm>
            <a:off x="111512" y="6162464"/>
            <a:ext cx="12080488"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Acharya, Deepak Bhaskar, Karthigeyan </a:t>
            </a:r>
            <a:r>
              <a:rPr lang="en-US" dirty="0" err="1"/>
              <a:t>Kuppan</a:t>
            </a:r>
            <a:r>
              <a:rPr lang="en-US" dirty="0"/>
              <a:t>, and B. Divya. "Agentic ai: Autonomous intelligence for complex goals–a comprehensive survey." </a:t>
            </a:r>
            <a:r>
              <a:rPr lang="en-US" i="1" dirty="0"/>
              <a:t>IEEE Access</a:t>
            </a:r>
            <a:r>
              <a:rPr lang="en-US" dirty="0"/>
              <a:t> (2025).</a:t>
            </a:r>
          </a:p>
        </p:txBody>
      </p:sp>
      <p:graphicFrame>
        <p:nvGraphicFramePr>
          <p:cNvPr id="2" name="Table 1">
            <a:extLst>
              <a:ext uri="{FF2B5EF4-FFF2-40B4-BE49-F238E27FC236}">
                <a16:creationId xmlns:a16="http://schemas.microsoft.com/office/drawing/2014/main" id="{1EBAFEBA-ADE1-413E-411F-932BF65FD687}"/>
              </a:ext>
            </a:extLst>
          </p:cNvPr>
          <p:cNvGraphicFramePr>
            <a:graphicFrameLocks noGrp="1"/>
          </p:cNvGraphicFramePr>
          <p:nvPr>
            <p:extLst>
              <p:ext uri="{D42A27DB-BD31-4B8C-83A1-F6EECF244321}">
                <p14:modId xmlns:p14="http://schemas.microsoft.com/office/powerpoint/2010/main" val="3435890660"/>
              </p:ext>
            </p:extLst>
          </p:nvPr>
        </p:nvGraphicFramePr>
        <p:xfrm>
          <a:off x="610088" y="2321225"/>
          <a:ext cx="10807700" cy="2595880"/>
        </p:xfrm>
        <a:graphic>
          <a:graphicData uri="http://schemas.openxmlformats.org/drawingml/2006/table">
            <a:tbl>
              <a:tblPr firstRow="1" bandRow="1">
                <a:tableStyleId>{6E25E649-3F16-4E02-A733-19D2CDBF48F0}</a:tableStyleId>
              </a:tblPr>
              <a:tblGrid>
                <a:gridCol w="2908300">
                  <a:extLst>
                    <a:ext uri="{9D8B030D-6E8A-4147-A177-3AD203B41FA5}">
                      <a16:colId xmlns:a16="http://schemas.microsoft.com/office/drawing/2014/main" val="1563538342"/>
                    </a:ext>
                  </a:extLst>
                </a:gridCol>
                <a:gridCol w="4279900">
                  <a:extLst>
                    <a:ext uri="{9D8B030D-6E8A-4147-A177-3AD203B41FA5}">
                      <a16:colId xmlns:a16="http://schemas.microsoft.com/office/drawing/2014/main" val="3692639801"/>
                    </a:ext>
                  </a:extLst>
                </a:gridCol>
                <a:gridCol w="3619500">
                  <a:extLst>
                    <a:ext uri="{9D8B030D-6E8A-4147-A177-3AD203B41FA5}">
                      <a16:colId xmlns:a16="http://schemas.microsoft.com/office/drawing/2014/main" val="3005526028"/>
                    </a:ext>
                  </a:extLst>
                </a:gridCol>
              </a:tblGrid>
              <a:tr h="370840">
                <a:tc>
                  <a:txBody>
                    <a:bodyPr/>
                    <a:lstStyle/>
                    <a:p>
                      <a:r>
                        <a:rPr lang="en-CN" dirty="0">
                          <a:latin typeface="Microsoft YaHei UI" panose="020B0503020204020204" pitchFamily="34" charset="-122"/>
                          <a:ea typeface="Microsoft YaHei UI" panose="020B0503020204020204" pitchFamily="34" charset="-122"/>
                        </a:rPr>
                        <a:t>Feature</a:t>
                      </a:r>
                    </a:p>
                  </a:txBody>
                  <a:tcPr/>
                </a:tc>
                <a:tc>
                  <a:txBody>
                    <a:bodyPr/>
                    <a:lstStyle/>
                    <a:p>
                      <a:r>
                        <a:rPr lang="en-CN" dirty="0">
                          <a:latin typeface="Microsoft YaHei UI" panose="020B0503020204020204" pitchFamily="34" charset="-122"/>
                          <a:ea typeface="Microsoft YaHei UI" panose="020B0503020204020204" pitchFamily="34" charset="-122"/>
                        </a:rPr>
                        <a:t>Agentic AI</a:t>
                      </a:r>
                    </a:p>
                  </a:txBody>
                  <a:tcPr/>
                </a:tc>
                <a:tc>
                  <a:txBody>
                    <a:bodyPr/>
                    <a:lstStyle/>
                    <a:p>
                      <a:r>
                        <a:rPr lang="en-CN" dirty="0">
                          <a:latin typeface="Microsoft YaHei UI" panose="020B0503020204020204" pitchFamily="34" charset="-122"/>
                          <a:ea typeface="Microsoft YaHei UI" panose="020B0503020204020204" pitchFamily="34" charset="-122"/>
                        </a:rPr>
                        <a:t>Traditional AI</a:t>
                      </a:r>
                    </a:p>
                  </a:txBody>
                  <a:tcPr/>
                </a:tc>
                <a:extLst>
                  <a:ext uri="{0D108BD9-81ED-4DB2-BD59-A6C34878D82A}">
                    <a16:rowId xmlns:a16="http://schemas.microsoft.com/office/drawing/2014/main" val="474887192"/>
                  </a:ext>
                </a:extLst>
              </a:tr>
              <a:tr h="370840">
                <a:tc>
                  <a:txBody>
                    <a:bodyPr/>
                    <a:lstStyle/>
                    <a:p>
                      <a:r>
                        <a:rPr lang="en-CN" dirty="0">
                          <a:latin typeface="Microsoft YaHei UI" panose="020B0503020204020204" pitchFamily="34" charset="-122"/>
                          <a:ea typeface="Microsoft YaHei UI" panose="020B0503020204020204" pitchFamily="34" charset="-122"/>
                        </a:rPr>
                        <a:t>Primary Purpose</a:t>
                      </a:r>
                    </a:p>
                  </a:txBody>
                  <a:tcPr/>
                </a:tc>
                <a:tc>
                  <a:txBody>
                    <a:bodyPr/>
                    <a:lstStyle/>
                    <a:p>
                      <a:r>
                        <a:rPr lang="en-CN" dirty="0">
                          <a:latin typeface="Microsoft YaHei UI" panose="020B0503020204020204" pitchFamily="34" charset="-122"/>
                          <a:ea typeface="Microsoft YaHei UI" panose="020B0503020204020204" pitchFamily="34" charset="-122"/>
                        </a:rPr>
                        <a:t>Goal-Oriented Autonomy</a:t>
                      </a:r>
                    </a:p>
                  </a:txBody>
                  <a:tcPr/>
                </a:tc>
                <a:tc>
                  <a:txBody>
                    <a:bodyPr/>
                    <a:lstStyle/>
                    <a:p>
                      <a:r>
                        <a:rPr lang="en-CN" dirty="0">
                          <a:latin typeface="Microsoft YaHei UI" panose="020B0503020204020204" pitchFamily="34" charset="-122"/>
                          <a:ea typeface="Microsoft YaHei UI" panose="020B0503020204020204" pitchFamily="34" charset="-122"/>
                        </a:rPr>
                        <a:t>Task-Specific Automation</a:t>
                      </a:r>
                    </a:p>
                  </a:txBody>
                  <a:tcPr/>
                </a:tc>
                <a:extLst>
                  <a:ext uri="{0D108BD9-81ED-4DB2-BD59-A6C34878D82A}">
                    <a16:rowId xmlns:a16="http://schemas.microsoft.com/office/drawing/2014/main" val="2791151641"/>
                  </a:ext>
                </a:extLst>
              </a:tr>
              <a:tr h="370840">
                <a:tc>
                  <a:txBody>
                    <a:bodyPr/>
                    <a:lstStyle/>
                    <a:p>
                      <a:r>
                        <a:rPr lang="en-CN" dirty="0">
                          <a:latin typeface="Microsoft YaHei UI" panose="020B0503020204020204" pitchFamily="34" charset="-122"/>
                          <a:ea typeface="Microsoft YaHei UI" panose="020B0503020204020204" pitchFamily="34" charset="-122"/>
                        </a:rPr>
                        <a:t>Human Intervention</a:t>
                      </a:r>
                    </a:p>
                  </a:txBody>
                  <a:tcPr/>
                </a:tc>
                <a:tc>
                  <a:txBody>
                    <a:bodyPr/>
                    <a:lstStyle/>
                    <a:p>
                      <a:r>
                        <a:rPr lang="en-CN" dirty="0">
                          <a:latin typeface="Microsoft YaHei UI" panose="020B0503020204020204" pitchFamily="34" charset="-122"/>
                          <a:ea typeface="Microsoft YaHei UI" panose="020B0503020204020204" pitchFamily="34" charset="-122"/>
                        </a:rPr>
                        <a:t>Low</a:t>
                      </a:r>
                    </a:p>
                  </a:txBody>
                  <a:tcPr/>
                </a:tc>
                <a:tc>
                  <a:txBody>
                    <a:bodyPr/>
                    <a:lstStyle/>
                    <a:p>
                      <a:r>
                        <a:rPr lang="en-CN" dirty="0">
                          <a:latin typeface="Microsoft YaHei UI" panose="020B0503020204020204" pitchFamily="34" charset="-122"/>
                          <a:ea typeface="Microsoft YaHei UI" panose="020B0503020204020204" pitchFamily="34" charset="-122"/>
                        </a:rPr>
                        <a:t>High</a:t>
                      </a:r>
                    </a:p>
                  </a:txBody>
                  <a:tcPr/>
                </a:tc>
                <a:extLst>
                  <a:ext uri="{0D108BD9-81ED-4DB2-BD59-A6C34878D82A}">
                    <a16:rowId xmlns:a16="http://schemas.microsoft.com/office/drawing/2014/main" val="564968917"/>
                  </a:ext>
                </a:extLst>
              </a:tr>
              <a:tr h="370840">
                <a:tc>
                  <a:txBody>
                    <a:bodyPr/>
                    <a:lstStyle/>
                    <a:p>
                      <a:r>
                        <a:rPr lang="en-CN" dirty="0">
                          <a:latin typeface="Microsoft YaHei UI" panose="020B0503020204020204" pitchFamily="34" charset="-122"/>
                          <a:ea typeface="Microsoft YaHei UI" panose="020B0503020204020204" pitchFamily="34" charset="-122"/>
                        </a:rPr>
                        <a:t>Adaptability</a:t>
                      </a:r>
                    </a:p>
                  </a:txBody>
                  <a:tcPr/>
                </a:tc>
                <a:tc>
                  <a:txBody>
                    <a:bodyPr/>
                    <a:lstStyle/>
                    <a:p>
                      <a:r>
                        <a:rPr lang="en-CN" dirty="0">
                          <a:latin typeface="Microsoft YaHei UI" panose="020B0503020204020204" pitchFamily="34" charset="-122"/>
                          <a:ea typeface="Microsoft YaHei UI" panose="020B0503020204020204" pitchFamily="34" charset="-122"/>
                        </a:rPr>
                        <a:t>High</a:t>
                      </a:r>
                    </a:p>
                  </a:txBody>
                  <a:tcPr/>
                </a:tc>
                <a:tc>
                  <a:txBody>
                    <a:bodyPr/>
                    <a:lstStyle/>
                    <a:p>
                      <a:r>
                        <a:rPr lang="en-CN" dirty="0">
                          <a:latin typeface="Microsoft YaHei UI" panose="020B0503020204020204" pitchFamily="34" charset="-122"/>
                          <a:ea typeface="Microsoft YaHei UI" panose="020B0503020204020204" pitchFamily="34" charset="-122"/>
                        </a:rPr>
                        <a:t>Limited</a:t>
                      </a:r>
                    </a:p>
                  </a:txBody>
                  <a:tcPr/>
                </a:tc>
                <a:extLst>
                  <a:ext uri="{0D108BD9-81ED-4DB2-BD59-A6C34878D82A}">
                    <a16:rowId xmlns:a16="http://schemas.microsoft.com/office/drawing/2014/main" val="1881660648"/>
                  </a:ext>
                </a:extLst>
              </a:tr>
              <a:tr h="370840">
                <a:tc>
                  <a:txBody>
                    <a:bodyPr/>
                    <a:lstStyle/>
                    <a:p>
                      <a:r>
                        <a:rPr lang="en-CN" dirty="0">
                          <a:latin typeface="Microsoft YaHei UI" panose="020B0503020204020204" pitchFamily="34" charset="-122"/>
                          <a:ea typeface="Microsoft YaHei UI" panose="020B0503020204020204" pitchFamily="34" charset="-122"/>
                        </a:rPr>
                        <a:t>Environment Interaction</a:t>
                      </a:r>
                    </a:p>
                  </a:txBody>
                  <a:tcPr/>
                </a:tc>
                <a:tc>
                  <a:txBody>
                    <a:bodyPr/>
                    <a:lstStyle/>
                    <a:p>
                      <a:r>
                        <a:rPr lang="en-CN" dirty="0">
                          <a:latin typeface="Microsoft YaHei UI" panose="020B0503020204020204" pitchFamily="34" charset="-122"/>
                          <a:ea typeface="Microsoft YaHei UI" panose="020B0503020204020204" pitchFamily="34" charset="-122"/>
                        </a:rPr>
                        <a:t>Dynamic and Context-Aware</a:t>
                      </a:r>
                    </a:p>
                  </a:txBody>
                  <a:tcPr/>
                </a:tc>
                <a:tc>
                  <a:txBody>
                    <a:bodyPr/>
                    <a:lstStyle/>
                    <a:p>
                      <a:r>
                        <a:rPr lang="en-CN" dirty="0">
                          <a:latin typeface="Microsoft YaHei UI" panose="020B0503020204020204" pitchFamily="34" charset="-122"/>
                          <a:ea typeface="Microsoft YaHei UI" panose="020B0503020204020204" pitchFamily="34" charset="-122"/>
                        </a:rPr>
                        <a:t>Static or Limited Context</a:t>
                      </a:r>
                    </a:p>
                  </a:txBody>
                  <a:tcPr/>
                </a:tc>
                <a:extLst>
                  <a:ext uri="{0D108BD9-81ED-4DB2-BD59-A6C34878D82A}">
                    <a16:rowId xmlns:a16="http://schemas.microsoft.com/office/drawing/2014/main" val="3139257513"/>
                  </a:ext>
                </a:extLst>
              </a:tr>
              <a:tr h="370840">
                <a:tc>
                  <a:txBody>
                    <a:bodyPr/>
                    <a:lstStyle/>
                    <a:p>
                      <a:r>
                        <a:rPr lang="en-CN" dirty="0">
                          <a:latin typeface="Microsoft YaHei UI" panose="020B0503020204020204" pitchFamily="34" charset="-122"/>
                          <a:ea typeface="Microsoft YaHei UI" panose="020B0503020204020204" pitchFamily="34" charset="-122"/>
                        </a:rPr>
                        <a:t>Learning Type</a:t>
                      </a:r>
                    </a:p>
                  </a:txBody>
                  <a:tcPr/>
                </a:tc>
                <a:tc>
                  <a:txBody>
                    <a:bodyPr/>
                    <a:lstStyle/>
                    <a:p>
                      <a:r>
                        <a:rPr lang="en-CN" dirty="0">
                          <a:latin typeface="Microsoft YaHei UI" panose="020B0503020204020204" pitchFamily="34" charset="-122"/>
                          <a:ea typeface="Microsoft YaHei UI" panose="020B0503020204020204" pitchFamily="34" charset="-122"/>
                        </a:rPr>
                        <a:t>Reinforcement and Self-Supervised</a:t>
                      </a:r>
                    </a:p>
                  </a:txBody>
                  <a:tcPr/>
                </a:tc>
                <a:tc>
                  <a:txBody>
                    <a:bodyPr/>
                    <a:lstStyle/>
                    <a:p>
                      <a:r>
                        <a:rPr lang="en-CN" dirty="0">
                          <a:latin typeface="Microsoft YaHei UI" panose="020B0503020204020204" pitchFamily="34" charset="-122"/>
                          <a:ea typeface="Microsoft YaHei UI" panose="020B0503020204020204" pitchFamily="34" charset="-122"/>
                        </a:rPr>
                        <a:t>Primarily Supervised</a:t>
                      </a:r>
                    </a:p>
                  </a:txBody>
                  <a:tcPr/>
                </a:tc>
                <a:extLst>
                  <a:ext uri="{0D108BD9-81ED-4DB2-BD59-A6C34878D82A}">
                    <a16:rowId xmlns:a16="http://schemas.microsoft.com/office/drawing/2014/main" val="833849575"/>
                  </a:ext>
                </a:extLst>
              </a:tr>
              <a:tr h="370840">
                <a:tc>
                  <a:txBody>
                    <a:bodyPr/>
                    <a:lstStyle/>
                    <a:p>
                      <a:r>
                        <a:rPr lang="en-CN" dirty="0">
                          <a:latin typeface="Microsoft YaHei UI" panose="020B0503020204020204" pitchFamily="34" charset="-122"/>
                          <a:ea typeface="Microsoft YaHei UI" panose="020B0503020204020204" pitchFamily="34" charset="-122"/>
                        </a:rPr>
                        <a:t>Decision-Making</a:t>
                      </a:r>
                    </a:p>
                  </a:txBody>
                  <a:tcPr/>
                </a:tc>
                <a:tc>
                  <a:txBody>
                    <a:bodyPr/>
                    <a:lstStyle/>
                    <a:p>
                      <a:r>
                        <a:rPr lang="en-CN" dirty="0">
                          <a:latin typeface="Microsoft YaHei UI" panose="020B0503020204020204" pitchFamily="34" charset="-122"/>
                          <a:ea typeface="Microsoft YaHei UI" panose="020B0503020204020204" pitchFamily="34" charset="-122"/>
                        </a:rPr>
                        <a:t>Autonomous, Contextual Reasoning</a:t>
                      </a:r>
                    </a:p>
                  </a:txBody>
                  <a:tcPr/>
                </a:tc>
                <a:tc>
                  <a:txBody>
                    <a:bodyPr/>
                    <a:lstStyle/>
                    <a:p>
                      <a:r>
                        <a:rPr lang="en-CN" dirty="0">
                          <a:latin typeface="Microsoft YaHei UI" panose="020B0503020204020204" pitchFamily="34" charset="-122"/>
                          <a:ea typeface="Microsoft YaHei UI" panose="020B0503020204020204" pitchFamily="34" charset="-122"/>
                        </a:rPr>
                        <a:t>Data-Driven, Static Rules</a:t>
                      </a:r>
                    </a:p>
                  </a:txBody>
                  <a:tcPr/>
                </a:tc>
                <a:extLst>
                  <a:ext uri="{0D108BD9-81ED-4DB2-BD59-A6C34878D82A}">
                    <a16:rowId xmlns:a16="http://schemas.microsoft.com/office/drawing/2014/main" val="1125432850"/>
                  </a:ext>
                </a:extLst>
              </a:tr>
            </a:tbl>
          </a:graphicData>
        </a:graphic>
      </p:graphicFrame>
    </p:spTree>
    <p:custDataLst>
      <p:tags r:id="rId1"/>
    </p:custDataLst>
    <p:extLst>
      <p:ext uri="{BB962C8B-B14F-4D97-AF65-F5344CB8AC3E}">
        <p14:creationId xmlns:p14="http://schemas.microsoft.com/office/powerpoint/2010/main" val="36948109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501F7-D4D9-C0CD-CB9E-7A4483662B60}"/>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E4828EF9-A68F-5A41-36F4-5372DFCC6D3D}"/>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Introduction to Agentic System</a:t>
            </a:r>
          </a:p>
        </p:txBody>
      </p:sp>
      <p:pic>
        <p:nvPicPr>
          <p:cNvPr id="5" name="图片 1" descr="logo-en">
            <a:extLst>
              <a:ext uri="{FF2B5EF4-FFF2-40B4-BE49-F238E27FC236}">
                <a16:creationId xmlns:a16="http://schemas.microsoft.com/office/drawing/2014/main" id="{3008C914-EB99-994E-1B31-A842BE5252B7}"/>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0CFA6290-B1F0-6233-2C29-8028F9114DF4}"/>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0" name="文本框 9">
            <a:extLst>
              <a:ext uri="{FF2B5EF4-FFF2-40B4-BE49-F238E27FC236}">
                <a16:creationId xmlns:a16="http://schemas.microsoft.com/office/drawing/2014/main" id="{6272194F-2045-DC4A-89CA-C494AB7BDA62}"/>
              </a:ext>
            </a:extLst>
          </p:cNvPr>
          <p:cNvSpPr txBox="1"/>
          <p:nvPr/>
        </p:nvSpPr>
        <p:spPr>
          <a:xfrm>
            <a:off x="286338" y="1023415"/>
            <a:ext cx="6349240" cy="430887"/>
          </a:xfrm>
          <a:prstGeom prst="rect">
            <a:avLst/>
          </a:prstGeom>
          <a:noFill/>
        </p:spPr>
        <p:txBody>
          <a:bodyPr wrap="square" rtlCol="0">
            <a:spAutoFit/>
          </a:bodyPr>
          <a:lstStyle/>
          <a:p>
            <a:pPr algn="just"/>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Detailed Comparisons in Clinical Applications</a:t>
            </a:r>
          </a:p>
        </p:txBody>
      </p:sp>
      <p:sp>
        <p:nvSpPr>
          <p:cNvPr id="7" name="TextBox 6">
            <a:extLst>
              <a:ext uri="{FF2B5EF4-FFF2-40B4-BE49-F238E27FC236}">
                <a16:creationId xmlns:a16="http://schemas.microsoft.com/office/drawing/2014/main" id="{DDE9E77E-DBDD-A300-AA26-E6EE562CA5A9}"/>
              </a:ext>
            </a:extLst>
          </p:cNvPr>
          <p:cNvSpPr txBox="1"/>
          <p:nvPr/>
        </p:nvSpPr>
        <p:spPr>
          <a:xfrm>
            <a:off x="114129" y="6466595"/>
            <a:ext cx="11963742"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Sapkota, Ranjan, Konstantinos I. Roumeliotis, and Manoj </a:t>
            </a:r>
            <a:r>
              <a:rPr lang="en-US" dirty="0" err="1"/>
              <a:t>Karkee</a:t>
            </a:r>
            <a:r>
              <a:rPr lang="en-US" dirty="0"/>
              <a:t>. "Ai agents vs. agentic ai: A conceptual taxonomy, applications and challenges." </a:t>
            </a:r>
            <a:r>
              <a:rPr lang="en-US" i="1" dirty="0"/>
              <a:t>arXiv:2505.10468</a:t>
            </a:r>
            <a:r>
              <a:rPr lang="en-US" dirty="0"/>
              <a:t>.</a:t>
            </a:r>
          </a:p>
        </p:txBody>
      </p:sp>
      <p:pic>
        <p:nvPicPr>
          <p:cNvPr id="6" name="Picture 5" descr="A doctor looking at a patient in a hospital bed&#10;&#10;AI-generated content may be incorrect.">
            <a:extLst>
              <a:ext uri="{FF2B5EF4-FFF2-40B4-BE49-F238E27FC236}">
                <a16:creationId xmlns:a16="http://schemas.microsoft.com/office/drawing/2014/main" id="{578635C2-FC33-258B-737A-3592940251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3190" y="1603255"/>
            <a:ext cx="3461522" cy="3456028"/>
          </a:xfrm>
          <a:prstGeom prst="rect">
            <a:avLst/>
          </a:prstGeom>
        </p:spPr>
      </p:pic>
      <p:sp>
        <p:nvSpPr>
          <p:cNvPr id="12" name="TextBox 11">
            <a:extLst>
              <a:ext uri="{FF2B5EF4-FFF2-40B4-BE49-F238E27FC236}">
                <a16:creationId xmlns:a16="http://schemas.microsoft.com/office/drawing/2014/main" id="{E3B1D0AB-2616-3A67-47E8-82BF78D4CF83}"/>
              </a:ext>
            </a:extLst>
          </p:cNvPr>
          <p:cNvSpPr txBox="1"/>
          <p:nvPr/>
        </p:nvSpPr>
        <p:spPr>
          <a:xfrm>
            <a:off x="164123" y="2253471"/>
            <a:ext cx="4043889" cy="30039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icrosoft YaHei UI" panose="020B0503020204020204" pitchFamily="34" charset="-122"/>
                <a:ea typeface="Microsoft YaHei UI" panose="020B0503020204020204" pitchFamily="34" charset="-122"/>
              </a:rPr>
              <a:t>Goal-Oriented Autonomy: </a:t>
            </a:r>
            <a:r>
              <a:rPr lang="en-US" sz="1600" dirty="0">
                <a:latin typeface="Microsoft YaHei UI" panose="020B0503020204020204" pitchFamily="34" charset="-122"/>
                <a:ea typeface="Microsoft YaHei UI" panose="020B0503020204020204" pitchFamily="34" charset="-122"/>
              </a:rPr>
              <a:t>Clinical decision support in hospital ICUs </a:t>
            </a:r>
          </a:p>
          <a:p>
            <a:pPr marL="285750" indent="-285750">
              <a:lnSpc>
                <a:spcPct val="150000"/>
              </a:lnSpc>
              <a:buFont typeface="Arial" panose="020B0604020202020204" pitchFamily="34" charset="0"/>
              <a:buChar char="•"/>
            </a:pPr>
            <a:r>
              <a:rPr lang="en-US" sz="1600" b="1" dirty="0">
                <a:latin typeface="Microsoft YaHei UI" panose="020B0503020204020204" pitchFamily="34" charset="-122"/>
                <a:ea typeface="Microsoft YaHei UI" panose="020B0503020204020204" pitchFamily="34" charset="-122"/>
              </a:rPr>
              <a:t>Autonomous Reasoning: </a:t>
            </a:r>
            <a:r>
              <a:rPr lang="en-US" sz="1600" dirty="0">
                <a:latin typeface="Microsoft YaHei UI" panose="020B0503020204020204" pitchFamily="34" charset="-122"/>
                <a:ea typeface="Microsoft YaHei UI" panose="020B0503020204020204" pitchFamily="34" charset="-122"/>
              </a:rPr>
              <a:t>through synchronized agents diagnostics, treatment planning, and analysis, enhancing safety and workflow efficiency.</a:t>
            </a:r>
          </a:p>
          <a:p>
            <a:pPr marL="285750" indent="-285750">
              <a:lnSpc>
                <a:spcPct val="150000"/>
              </a:lnSpc>
              <a:buFont typeface="Arial" panose="020B0604020202020204" pitchFamily="34" charset="0"/>
              <a:buChar char="•"/>
            </a:pPr>
            <a:r>
              <a:rPr lang="en-CN" sz="1600" b="1" dirty="0">
                <a:latin typeface="Microsoft YaHei UI" panose="020B0503020204020204" pitchFamily="34" charset="-122"/>
                <a:ea typeface="Microsoft YaHei UI" panose="020B0503020204020204" pitchFamily="34" charset="-122"/>
              </a:rPr>
              <a:t>Doctors have low intervention</a:t>
            </a:r>
            <a:endParaRPr lang="en-US" sz="1600" dirty="0">
              <a:latin typeface="Microsoft YaHei UI" panose="020B0503020204020204" pitchFamily="34" charset="-122"/>
              <a:ea typeface="Microsoft YaHei UI" panose="020B0503020204020204" pitchFamily="34" charset="-122"/>
            </a:endParaRPr>
          </a:p>
        </p:txBody>
      </p:sp>
      <p:sp>
        <p:nvSpPr>
          <p:cNvPr id="13" name="TextBox 12">
            <a:extLst>
              <a:ext uri="{FF2B5EF4-FFF2-40B4-BE49-F238E27FC236}">
                <a16:creationId xmlns:a16="http://schemas.microsoft.com/office/drawing/2014/main" id="{EC9FBE74-8DF3-99AB-B368-6E506D72D69A}"/>
              </a:ext>
            </a:extLst>
          </p:cNvPr>
          <p:cNvSpPr txBox="1"/>
          <p:nvPr/>
        </p:nvSpPr>
        <p:spPr>
          <a:xfrm>
            <a:off x="939113" y="1756393"/>
            <a:ext cx="2286001" cy="369332"/>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Agentic AI System</a:t>
            </a:r>
          </a:p>
        </p:txBody>
      </p:sp>
      <p:sp>
        <p:nvSpPr>
          <p:cNvPr id="15" name="TextBox 14">
            <a:extLst>
              <a:ext uri="{FF2B5EF4-FFF2-40B4-BE49-F238E27FC236}">
                <a16:creationId xmlns:a16="http://schemas.microsoft.com/office/drawing/2014/main" id="{0C73CE75-384F-1640-4C4E-29E4D749F69D}"/>
              </a:ext>
            </a:extLst>
          </p:cNvPr>
          <p:cNvSpPr txBox="1"/>
          <p:nvPr/>
        </p:nvSpPr>
        <p:spPr>
          <a:xfrm>
            <a:off x="8653848" y="1756393"/>
            <a:ext cx="2286001" cy="369332"/>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Traditional AI</a:t>
            </a:r>
          </a:p>
        </p:txBody>
      </p:sp>
      <p:sp>
        <p:nvSpPr>
          <p:cNvPr id="17" name="TextBox 16">
            <a:extLst>
              <a:ext uri="{FF2B5EF4-FFF2-40B4-BE49-F238E27FC236}">
                <a16:creationId xmlns:a16="http://schemas.microsoft.com/office/drawing/2014/main" id="{03DEBA01-A1DF-D70F-A181-ADE94DAC72D7}"/>
              </a:ext>
            </a:extLst>
          </p:cNvPr>
          <p:cNvSpPr txBox="1"/>
          <p:nvPr/>
        </p:nvSpPr>
        <p:spPr>
          <a:xfrm>
            <a:off x="8148111" y="2166883"/>
            <a:ext cx="4043889" cy="30039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icrosoft YaHei UI" panose="020B0503020204020204" pitchFamily="34" charset="-122"/>
                <a:ea typeface="Microsoft YaHei UI" panose="020B0503020204020204" pitchFamily="34" charset="-122"/>
              </a:rPr>
              <a:t>Task-Specific Automation: </a:t>
            </a:r>
            <a:r>
              <a:rPr lang="en-US" sz="1600" dirty="0">
                <a:latin typeface="Microsoft YaHei UI" panose="020B0503020204020204" pitchFamily="34" charset="-122"/>
                <a:ea typeface="Microsoft YaHei UI" panose="020B0503020204020204" pitchFamily="34" charset="-122"/>
              </a:rPr>
              <a:t>input</a:t>
            </a:r>
            <a:r>
              <a:rPr lang="zh-CN" altLang="en-US" sz="1600" dirty="0">
                <a:latin typeface="Microsoft YaHei UI" panose="020B0503020204020204" pitchFamily="34" charset="-122"/>
                <a:ea typeface="Microsoft YaHei UI" panose="020B0503020204020204" pitchFamily="34" charset="-122"/>
              </a:rPr>
              <a:t> </a:t>
            </a:r>
            <a:r>
              <a:rPr lang="en-US" sz="1600" dirty="0">
                <a:latin typeface="Microsoft YaHei UI" panose="020B0503020204020204" pitchFamily="34" charset="-122"/>
                <a:ea typeface="Microsoft YaHei UI" panose="020B0503020204020204" pitchFamily="34" charset="-122"/>
              </a:rPr>
              <a:t>the data and output the result</a:t>
            </a:r>
            <a:endParaRPr lang="en-US" sz="1600" b="1" dirty="0">
              <a:latin typeface="Microsoft YaHei UI" panose="020B0503020204020204" pitchFamily="34" charset="-122"/>
              <a:ea typeface="Microsoft YaHei UI" panose="020B0503020204020204" pitchFamily="34" charset="-122"/>
            </a:endParaRPr>
          </a:p>
          <a:p>
            <a:pPr marL="285750" indent="-285750">
              <a:lnSpc>
                <a:spcPct val="150000"/>
              </a:lnSpc>
              <a:buFont typeface="Arial" panose="020B0604020202020204" pitchFamily="34" charset="0"/>
              <a:buChar char="•"/>
            </a:pPr>
            <a:r>
              <a:rPr lang="en-US" altLang="zh-CN" sz="1600" b="1" dirty="0">
                <a:latin typeface="Microsoft YaHei UI" panose="020B0503020204020204" pitchFamily="34" charset="-122"/>
                <a:ea typeface="Microsoft YaHei UI" panose="020B0503020204020204" pitchFamily="34" charset="-122"/>
              </a:rPr>
              <a:t>Data-driven Prediction: </a:t>
            </a:r>
            <a:r>
              <a:rPr lang="en-US" altLang="zh-CN" sz="1600" dirty="0">
                <a:latin typeface="Microsoft YaHei UI" panose="020B0503020204020204" pitchFamily="34" charset="-122"/>
                <a:ea typeface="Microsoft YaHei UI" panose="020B0503020204020204" pitchFamily="34" charset="-122"/>
              </a:rPr>
              <a:t>only predict the results without reasoning</a:t>
            </a:r>
            <a:endParaRPr lang="en-US" sz="1600" dirty="0">
              <a:latin typeface="Microsoft YaHei UI" panose="020B0503020204020204" pitchFamily="34" charset="-122"/>
              <a:ea typeface="Microsoft YaHei UI" panose="020B0503020204020204" pitchFamily="34" charset="-122"/>
            </a:endParaRPr>
          </a:p>
          <a:p>
            <a:pPr marL="285750" indent="-285750">
              <a:lnSpc>
                <a:spcPct val="150000"/>
              </a:lnSpc>
              <a:buFont typeface="Arial" panose="020B0604020202020204" pitchFamily="34" charset="0"/>
              <a:buChar char="•"/>
            </a:pPr>
            <a:r>
              <a:rPr lang="en-CN" sz="1600" b="1" dirty="0">
                <a:latin typeface="Microsoft YaHei UI" panose="020B0503020204020204" pitchFamily="34" charset="-122"/>
                <a:ea typeface="Microsoft YaHei UI" panose="020B0503020204020204" pitchFamily="34" charset="-122"/>
              </a:rPr>
              <a:t>High intervention: </a:t>
            </a:r>
            <a:r>
              <a:rPr lang="en-CN" sz="1600" dirty="0">
                <a:latin typeface="Microsoft YaHei UI" panose="020B0503020204020204" pitchFamily="34" charset="-122"/>
                <a:ea typeface="Microsoft YaHei UI" panose="020B0503020204020204" pitchFamily="34" charset="-122"/>
              </a:rPr>
              <a:t>doctors need further lab experimental results for diagnosis.</a:t>
            </a:r>
            <a:endParaRPr lang="en-US" sz="1600" dirty="0">
              <a:latin typeface="Microsoft YaHei UI" panose="020B0503020204020204" pitchFamily="34" charset="-122"/>
              <a:ea typeface="Microsoft YaHei UI" panose="020B0503020204020204" pitchFamily="34" charset="-122"/>
            </a:endParaRPr>
          </a:p>
        </p:txBody>
      </p:sp>
      <p:pic>
        <p:nvPicPr>
          <p:cNvPr id="1026" name="Picture 2" descr="Chest X-Ray: What Does It Show?">
            <a:extLst>
              <a:ext uri="{FF2B5EF4-FFF2-40B4-BE49-F238E27FC236}">
                <a16:creationId xmlns:a16="http://schemas.microsoft.com/office/drawing/2014/main" id="{D5CFE595-8E38-8FA5-4BB8-B51317AB57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6128" y="5146748"/>
            <a:ext cx="1881408" cy="12796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est X-ray Interpretation | A Structured Approach | Radiology | OSCE">
            <a:extLst>
              <a:ext uri="{FF2B5EF4-FFF2-40B4-BE49-F238E27FC236}">
                <a16:creationId xmlns:a16="http://schemas.microsoft.com/office/drawing/2014/main" id="{81ECFDAC-126C-1EB3-5488-A066F4B65B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7161" y="5111402"/>
            <a:ext cx="1665695" cy="141311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400B2BFB-B178-7FBA-7B05-3A6C7FD195F1}"/>
              </a:ext>
            </a:extLst>
          </p:cNvPr>
          <p:cNvSpPr/>
          <p:nvPr/>
        </p:nvSpPr>
        <p:spPr>
          <a:xfrm>
            <a:off x="4043890" y="5111402"/>
            <a:ext cx="3697838" cy="141311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0" name="Curved Connector 19">
            <a:extLst>
              <a:ext uri="{FF2B5EF4-FFF2-40B4-BE49-F238E27FC236}">
                <a16:creationId xmlns:a16="http://schemas.microsoft.com/office/drawing/2014/main" id="{5555DEC7-541F-B08A-D3B8-3407CC434BCB}"/>
              </a:ext>
            </a:extLst>
          </p:cNvPr>
          <p:cNvCxnSpPr>
            <a:stCxn id="18" idx="3"/>
            <a:endCxn id="15" idx="1"/>
          </p:cNvCxnSpPr>
          <p:nvPr/>
        </p:nvCxnSpPr>
        <p:spPr>
          <a:xfrm flipV="1">
            <a:off x="7741728" y="1941059"/>
            <a:ext cx="912120" cy="3876898"/>
          </a:xfrm>
          <a:prstGeom prst="curvedConnector3">
            <a:avLst>
              <a:gd name="adj1" fmla="val 1884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25FB5349-48A6-5C7C-9DC5-2B9678C9B86A}"/>
              </a:ext>
            </a:extLst>
          </p:cNvPr>
          <p:cNvCxnSpPr>
            <a:cxnSpLocks/>
            <a:stCxn id="6" idx="1"/>
            <a:endCxn id="13" idx="3"/>
          </p:cNvCxnSpPr>
          <p:nvPr/>
        </p:nvCxnSpPr>
        <p:spPr>
          <a:xfrm rot="10800000">
            <a:off x="3225114" y="1941059"/>
            <a:ext cx="928076" cy="1390210"/>
          </a:xfrm>
          <a:prstGeom prst="curvedConnector3">
            <a:avLst>
              <a:gd name="adj1" fmla="val 1272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6288203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6079-36EA-C792-5F01-A2E69E41A99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26CC45FE-2621-BE24-1633-3DF34DE66868}"/>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Introduction to Agentic System</a:t>
            </a:r>
          </a:p>
        </p:txBody>
      </p:sp>
      <p:pic>
        <p:nvPicPr>
          <p:cNvPr id="5" name="图片 1" descr="logo-en">
            <a:extLst>
              <a:ext uri="{FF2B5EF4-FFF2-40B4-BE49-F238E27FC236}">
                <a16:creationId xmlns:a16="http://schemas.microsoft.com/office/drawing/2014/main" id="{32439277-0DB3-3022-7090-9F8AFD4C3FBC}"/>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92870F70-59C9-5CFB-F58D-2DDDE0C021B7}"/>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7" name="TextBox 6">
            <a:extLst>
              <a:ext uri="{FF2B5EF4-FFF2-40B4-BE49-F238E27FC236}">
                <a16:creationId xmlns:a16="http://schemas.microsoft.com/office/drawing/2014/main" id="{E745FE1D-BA6D-85FD-70E5-2492BBCB17F8}"/>
              </a:ext>
            </a:extLst>
          </p:cNvPr>
          <p:cNvSpPr txBox="1"/>
          <p:nvPr/>
        </p:nvSpPr>
        <p:spPr>
          <a:xfrm>
            <a:off x="114129" y="6520041"/>
            <a:ext cx="11963742"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Sapkota, Ranjan, Konstantinos I. Roumeliotis, and Manoj </a:t>
            </a:r>
            <a:r>
              <a:rPr lang="en-US" dirty="0" err="1"/>
              <a:t>Karkee</a:t>
            </a:r>
            <a:r>
              <a:rPr lang="en-US" dirty="0"/>
              <a:t>. "Ai agents vs. agentic ai: A conceptual taxonomy, applications and challenges." </a:t>
            </a:r>
            <a:r>
              <a:rPr lang="en-US" i="1" dirty="0"/>
              <a:t>arXiv:2505.10468</a:t>
            </a:r>
            <a:r>
              <a:rPr lang="en-US" dirty="0"/>
              <a:t>.</a:t>
            </a:r>
          </a:p>
        </p:txBody>
      </p:sp>
      <p:sp>
        <p:nvSpPr>
          <p:cNvPr id="14" name="TextBox 13">
            <a:extLst>
              <a:ext uri="{FF2B5EF4-FFF2-40B4-BE49-F238E27FC236}">
                <a16:creationId xmlns:a16="http://schemas.microsoft.com/office/drawing/2014/main" id="{FF0408C1-C735-C117-903F-F505E6ED26FF}"/>
              </a:ext>
            </a:extLst>
          </p:cNvPr>
          <p:cNvSpPr txBox="1"/>
          <p:nvPr/>
        </p:nvSpPr>
        <p:spPr>
          <a:xfrm>
            <a:off x="164123" y="2162038"/>
            <a:ext cx="3798678" cy="4111960"/>
          </a:xfrm>
          <a:prstGeom prst="rect">
            <a:avLst/>
          </a:prstGeom>
          <a:noFill/>
        </p:spPr>
        <p:txBody>
          <a:bodyPr wrap="square">
            <a:spAutoFit/>
          </a:bodyPr>
          <a:lstStyle>
            <a:defPPr>
              <a:defRPr lang="zh-CN"/>
            </a:defPPr>
            <a:lvl1pPr>
              <a:defRPr sz="1600" b="0" i="0">
                <a:effectLst/>
                <a:latin typeface="Microsoft YaHei UI" panose="020B0503020204020204" pitchFamily="34" charset="-122"/>
                <a:ea typeface="Microsoft YaHei UI" panose="020B0503020204020204" pitchFamily="34" charset="-122"/>
              </a:defRPr>
            </a:lvl1pPr>
          </a:lstStyle>
          <a:p>
            <a:pPr>
              <a:lnSpc>
                <a:spcPct val="150000"/>
              </a:lnSpc>
            </a:pPr>
            <a:r>
              <a:rPr lang="en-US" b="1" dirty="0"/>
              <a:t>High </a:t>
            </a:r>
            <a:r>
              <a:rPr lang="en-CN" b="1" dirty="0"/>
              <a:t>Adaptability: </a:t>
            </a:r>
            <a:r>
              <a:rPr lang="en-US" dirty="0"/>
              <a:t>by analyzing data from diverse sources like sales, inventory, and shipping, agentic AI system can optimize supply chains, predict demand, and automate logistics.</a:t>
            </a:r>
          </a:p>
          <a:p>
            <a:pPr>
              <a:lnSpc>
                <a:spcPct val="150000"/>
              </a:lnSpc>
            </a:pPr>
            <a:r>
              <a:rPr lang="en-CN" b="1" dirty="0"/>
              <a:t>Dynamic Environment Interaction: </a:t>
            </a:r>
            <a:r>
              <a:rPr lang="en-CN" dirty="0"/>
              <a:t>once a number or figure has been changed in the pipeline, the agentic system can quickly update for the following steps. </a:t>
            </a:r>
          </a:p>
        </p:txBody>
      </p:sp>
      <p:pic>
        <p:nvPicPr>
          <p:cNvPr id="16" name="Picture 15" descr="A person holding a tablet with a diagram and a computer&#10;&#10;AI-generated content may be incorrect.">
            <a:extLst>
              <a:ext uri="{FF2B5EF4-FFF2-40B4-BE49-F238E27FC236}">
                <a16:creationId xmlns:a16="http://schemas.microsoft.com/office/drawing/2014/main" id="{F6773188-F647-D7F2-48EB-DB7E3B4502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2801" y="1727211"/>
            <a:ext cx="4102271" cy="2406139"/>
          </a:xfrm>
          <a:prstGeom prst="rect">
            <a:avLst/>
          </a:prstGeom>
        </p:spPr>
      </p:pic>
      <p:sp>
        <p:nvSpPr>
          <p:cNvPr id="2" name="文本框 9">
            <a:extLst>
              <a:ext uri="{FF2B5EF4-FFF2-40B4-BE49-F238E27FC236}">
                <a16:creationId xmlns:a16="http://schemas.microsoft.com/office/drawing/2014/main" id="{C7231FF8-4E18-1F97-1866-24B2DB513C1C}"/>
              </a:ext>
            </a:extLst>
          </p:cNvPr>
          <p:cNvSpPr txBox="1"/>
          <p:nvPr/>
        </p:nvSpPr>
        <p:spPr>
          <a:xfrm>
            <a:off x="286338" y="1023415"/>
            <a:ext cx="7387208" cy="430887"/>
          </a:xfrm>
          <a:prstGeom prst="rect">
            <a:avLst/>
          </a:prstGeom>
          <a:noFill/>
        </p:spPr>
        <p:txBody>
          <a:bodyPr wrap="square" rtlCol="0">
            <a:spAutoFit/>
          </a:bodyPr>
          <a:lstStyle/>
          <a:p>
            <a:pPr algn="just"/>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Detailed Comparisons in data</a:t>
            </a:r>
            <a:r>
              <a:rPr lang="zh-CN" altLang="en-US" sz="2200" dirty="0">
                <a:latin typeface="Microsoft YaHei UI" panose="020B0503020204020204" pitchFamily="34" charset="-122"/>
                <a:ea typeface="Microsoft YaHei UI" panose="020B0503020204020204" pitchFamily="34" charset="-122"/>
                <a:cs typeface="Times New Roman Regular" panose="02020503050405090304" charset="0"/>
              </a:rPr>
              <a:t> </a:t>
            </a: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analytics applications</a:t>
            </a:r>
          </a:p>
        </p:txBody>
      </p:sp>
      <p:sp>
        <p:nvSpPr>
          <p:cNvPr id="3" name="TextBox 2">
            <a:extLst>
              <a:ext uri="{FF2B5EF4-FFF2-40B4-BE49-F238E27FC236}">
                <a16:creationId xmlns:a16="http://schemas.microsoft.com/office/drawing/2014/main" id="{9604446F-6D1F-9ABD-C669-83718E03B15C}"/>
              </a:ext>
            </a:extLst>
          </p:cNvPr>
          <p:cNvSpPr txBox="1"/>
          <p:nvPr/>
        </p:nvSpPr>
        <p:spPr>
          <a:xfrm>
            <a:off x="8377193" y="2296350"/>
            <a:ext cx="3700678" cy="2634632"/>
          </a:xfrm>
          <a:prstGeom prst="rect">
            <a:avLst/>
          </a:prstGeom>
          <a:noFill/>
        </p:spPr>
        <p:txBody>
          <a:bodyPr wrap="square">
            <a:spAutoFit/>
          </a:bodyPr>
          <a:lstStyle>
            <a:defPPr>
              <a:defRPr lang="zh-CN"/>
            </a:defPPr>
            <a:lvl1pPr>
              <a:defRPr sz="1600" b="0" i="0">
                <a:effectLst/>
                <a:latin typeface="Microsoft YaHei UI" panose="020B0503020204020204" pitchFamily="34" charset="-122"/>
                <a:ea typeface="Microsoft YaHei UI" panose="020B0503020204020204" pitchFamily="34" charset="-122"/>
              </a:defRPr>
            </a:lvl1pPr>
          </a:lstStyle>
          <a:p>
            <a:pPr>
              <a:lnSpc>
                <a:spcPct val="150000"/>
              </a:lnSpc>
            </a:pPr>
            <a:r>
              <a:rPr lang="en-US" b="1" dirty="0"/>
              <a:t>Low </a:t>
            </a:r>
            <a:r>
              <a:rPr lang="en-CN" b="1" dirty="0"/>
              <a:t>Adaptability: </a:t>
            </a:r>
            <a:r>
              <a:rPr lang="en-CN" dirty="0"/>
              <a:t>one model for one task</a:t>
            </a:r>
            <a:r>
              <a:rPr lang="en-US" altLang="zh-CN" dirty="0"/>
              <a:t>,</a:t>
            </a:r>
            <a:r>
              <a:rPr lang="zh-CN" altLang="en-US" dirty="0"/>
              <a:t> </a:t>
            </a:r>
            <a:r>
              <a:rPr lang="en-US" altLang="zh-CN" dirty="0"/>
              <a:t>such</a:t>
            </a:r>
            <a:r>
              <a:rPr lang="zh-CN" altLang="en-US" dirty="0"/>
              <a:t> </a:t>
            </a:r>
            <a:r>
              <a:rPr lang="en-US" altLang="zh-CN" dirty="0"/>
              <a:t>as</a:t>
            </a:r>
            <a:r>
              <a:rPr lang="zh-CN" altLang="en-US" dirty="0"/>
              <a:t> </a:t>
            </a:r>
            <a:r>
              <a:rPr lang="en-US" altLang="zh-CN" dirty="0"/>
              <a:t>regression.</a:t>
            </a:r>
            <a:endParaRPr lang="en-CN" dirty="0"/>
          </a:p>
          <a:p>
            <a:pPr>
              <a:lnSpc>
                <a:spcPct val="150000"/>
              </a:lnSpc>
            </a:pPr>
            <a:r>
              <a:rPr lang="en-CN" b="1" dirty="0"/>
              <a:t>Static Environment Interaction: </a:t>
            </a:r>
            <a:r>
              <a:rPr lang="en-CN" dirty="0"/>
              <a:t>cannot respond to dynamic changes without human intervention</a:t>
            </a:r>
            <a:r>
              <a:rPr lang="zh-CN" altLang="en-US" dirty="0"/>
              <a:t> </a:t>
            </a:r>
            <a:r>
              <a:rPr lang="en-US" altLang="zh-CN" dirty="0"/>
              <a:t>(need</a:t>
            </a:r>
            <a:r>
              <a:rPr lang="zh-CN" altLang="en-US" dirty="0"/>
              <a:t> </a:t>
            </a:r>
            <a:r>
              <a:rPr lang="en-US" altLang="zh-CN" dirty="0"/>
              <a:t>to</a:t>
            </a:r>
            <a:r>
              <a:rPr lang="zh-CN" altLang="en-US" dirty="0"/>
              <a:t> </a:t>
            </a:r>
            <a:r>
              <a:rPr lang="en-US" altLang="zh-CN" dirty="0"/>
              <a:t>use</a:t>
            </a:r>
            <a:r>
              <a:rPr lang="zh-CN" altLang="en-US" dirty="0"/>
              <a:t> </a:t>
            </a:r>
            <a:r>
              <a:rPr lang="en-US" altLang="zh-CN" dirty="0"/>
              <a:t>other</a:t>
            </a:r>
            <a:r>
              <a:rPr lang="zh-CN" altLang="en-US" dirty="0"/>
              <a:t> </a:t>
            </a:r>
            <a:r>
              <a:rPr lang="en-US" altLang="zh-CN" dirty="0"/>
              <a:t>tools</a:t>
            </a:r>
            <a:r>
              <a:rPr lang="zh-CN" altLang="en-US" dirty="0"/>
              <a:t> </a:t>
            </a:r>
            <a:r>
              <a:rPr lang="en-US" altLang="zh-CN" dirty="0"/>
              <a:t>when</a:t>
            </a:r>
            <a:r>
              <a:rPr lang="zh-CN" altLang="en-US" dirty="0"/>
              <a:t> </a:t>
            </a:r>
            <a:r>
              <a:rPr lang="en-US" altLang="zh-CN" dirty="0"/>
              <a:t>tasks</a:t>
            </a:r>
            <a:r>
              <a:rPr lang="zh-CN" altLang="en-US" dirty="0"/>
              <a:t> </a:t>
            </a:r>
            <a:r>
              <a:rPr lang="en-US" altLang="zh-CN" dirty="0"/>
              <a:t>change).</a:t>
            </a:r>
            <a:endParaRPr lang="en-CN" dirty="0"/>
          </a:p>
        </p:txBody>
      </p:sp>
      <p:sp>
        <p:nvSpPr>
          <p:cNvPr id="17" name="TextBox 16">
            <a:extLst>
              <a:ext uri="{FF2B5EF4-FFF2-40B4-BE49-F238E27FC236}">
                <a16:creationId xmlns:a16="http://schemas.microsoft.com/office/drawing/2014/main" id="{9FE72C13-D05B-F14A-E3B4-2C1E3024925A}"/>
              </a:ext>
            </a:extLst>
          </p:cNvPr>
          <p:cNvSpPr txBox="1"/>
          <p:nvPr/>
        </p:nvSpPr>
        <p:spPr>
          <a:xfrm>
            <a:off x="939113" y="1756393"/>
            <a:ext cx="2286001" cy="369332"/>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Agentic AI System</a:t>
            </a:r>
          </a:p>
        </p:txBody>
      </p:sp>
      <p:sp>
        <p:nvSpPr>
          <p:cNvPr id="18" name="TextBox 17">
            <a:extLst>
              <a:ext uri="{FF2B5EF4-FFF2-40B4-BE49-F238E27FC236}">
                <a16:creationId xmlns:a16="http://schemas.microsoft.com/office/drawing/2014/main" id="{2CEF4F29-45EC-6CB8-116F-2D35196C052C}"/>
              </a:ext>
            </a:extLst>
          </p:cNvPr>
          <p:cNvSpPr txBox="1"/>
          <p:nvPr/>
        </p:nvSpPr>
        <p:spPr>
          <a:xfrm>
            <a:off x="8653848" y="1756393"/>
            <a:ext cx="2286001" cy="369332"/>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Traditional AI</a:t>
            </a:r>
          </a:p>
        </p:txBody>
      </p:sp>
      <p:cxnSp>
        <p:nvCxnSpPr>
          <p:cNvPr id="19" name="Curved Connector 18">
            <a:extLst>
              <a:ext uri="{FF2B5EF4-FFF2-40B4-BE49-F238E27FC236}">
                <a16:creationId xmlns:a16="http://schemas.microsoft.com/office/drawing/2014/main" id="{8B1D03A6-557B-6FB2-0738-EDF7CABBE139}"/>
              </a:ext>
            </a:extLst>
          </p:cNvPr>
          <p:cNvCxnSpPr>
            <a:cxnSpLocks/>
            <a:stCxn id="2056" idx="3"/>
            <a:endCxn id="18" idx="1"/>
          </p:cNvCxnSpPr>
          <p:nvPr/>
        </p:nvCxnSpPr>
        <p:spPr>
          <a:xfrm flipV="1">
            <a:off x="8065070" y="1941059"/>
            <a:ext cx="588778" cy="3385637"/>
          </a:xfrm>
          <a:prstGeom prst="curvedConnector3">
            <a:avLst>
              <a:gd name="adj1" fmla="val 3111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a:extLst>
              <a:ext uri="{FF2B5EF4-FFF2-40B4-BE49-F238E27FC236}">
                <a16:creationId xmlns:a16="http://schemas.microsoft.com/office/drawing/2014/main" id="{F3BE32F7-951E-F9B1-8179-9659E035DCE5}"/>
              </a:ext>
            </a:extLst>
          </p:cNvPr>
          <p:cNvCxnSpPr>
            <a:cxnSpLocks/>
            <a:stCxn id="16" idx="1"/>
            <a:endCxn id="17" idx="3"/>
          </p:cNvCxnSpPr>
          <p:nvPr/>
        </p:nvCxnSpPr>
        <p:spPr>
          <a:xfrm rot="10800000">
            <a:off x="3225115" y="1941059"/>
            <a:ext cx="737687" cy="989222"/>
          </a:xfrm>
          <a:prstGeom prst="curvedConnector3">
            <a:avLst>
              <a:gd name="adj1" fmla="val 2654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The 6 Steps of a Data Analysis Process - ION Women">
            <a:extLst>
              <a:ext uri="{FF2B5EF4-FFF2-40B4-BE49-F238E27FC236}">
                <a16:creationId xmlns:a16="http://schemas.microsoft.com/office/drawing/2014/main" id="{0F7F5D41-290E-1886-FD64-5B934D4653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9021" y="4251562"/>
            <a:ext cx="4066049" cy="215026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980791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5FF4-DE39-A0DD-971D-B432587CF8C5}"/>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3038392D-CBEE-A72E-D1B9-3575AD70F56C}"/>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Definition of Agentic System</a:t>
            </a:r>
          </a:p>
        </p:txBody>
      </p:sp>
      <p:pic>
        <p:nvPicPr>
          <p:cNvPr id="5" name="图片 1" descr="logo-en">
            <a:extLst>
              <a:ext uri="{FF2B5EF4-FFF2-40B4-BE49-F238E27FC236}">
                <a16:creationId xmlns:a16="http://schemas.microsoft.com/office/drawing/2014/main" id="{58246CEB-C391-C816-BDD2-A525D4A0FDAA}"/>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86AA6F42-369A-095F-F427-01E3638BA741}"/>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3" name="TextBox 12">
            <a:extLst>
              <a:ext uri="{FF2B5EF4-FFF2-40B4-BE49-F238E27FC236}">
                <a16:creationId xmlns:a16="http://schemas.microsoft.com/office/drawing/2014/main" id="{80E597D2-CFC1-60EF-A608-96E1C960974A}"/>
              </a:ext>
            </a:extLst>
          </p:cNvPr>
          <p:cNvSpPr txBox="1"/>
          <p:nvPr/>
        </p:nvSpPr>
        <p:spPr>
          <a:xfrm>
            <a:off x="297180" y="1059316"/>
            <a:ext cx="11336020" cy="48106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b="1" dirty="0">
                <a:latin typeface="Microsoft YaHei UI" panose="020B0503020204020204" pitchFamily="34" charset="-122"/>
                <a:ea typeface="Microsoft YaHei UI" panose="020B0503020204020204" pitchFamily="34" charset="-122"/>
              </a:rPr>
              <a:t>Overall Definition: </a:t>
            </a:r>
            <a:r>
              <a:rPr lang="en-US" sz="2200" dirty="0">
                <a:latin typeface="Microsoft YaHei UI" panose="020B0503020204020204" pitchFamily="34" charset="-122"/>
                <a:ea typeface="Microsoft YaHei UI" panose="020B0503020204020204" pitchFamily="34" charset="-122"/>
              </a:rPr>
              <a:t>An agentic AI system, or simply agentic system, is a collection of agents interacting with humans and the environment with the objective of fulfilling specified goals.</a:t>
            </a:r>
          </a:p>
          <a:p>
            <a:pPr marL="342900" indent="-342900">
              <a:lnSpc>
                <a:spcPct val="150000"/>
              </a:lnSpc>
              <a:buFont typeface="Arial" panose="020B0604020202020204" pitchFamily="34" charset="0"/>
              <a:buChar char="•"/>
            </a:pPr>
            <a:r>
              <a:rPr lang="en-US" sz="2200" b="1" dirty="0">
                <a:latin typeface="Microsoft YaHei UI" panose="020B0503020204020204" pitchFamily="34" charset="-122"/>
                <a:ea typeface="Microsoft YaHei UI" panose="020B0503020204020204" pitchFamily="34" charset="-122"/>
              </a:rPr>
              <a:t>Components: </a:t>
            </a:r>
          </a:p>
          <a:p>
            <a:pPr marL="800100" lvl="1" indent="-342900">
              <a:lnSpc>
                <a:spcPct val="200000"/>
              </a:lnSpc>
              <a:buFont typeface="Courier New" panose="02070309020205020404" pitchFamily="49" charset="0"/>
              <a:buChar char="o"/>
            </a:pPr>
            <a:r>
              <a:rPr lang="en-US" b="1" dirty="0">
                <a:latin typeface="Microsoft YaHei UI" panose="020B0503020204020204" pitchFamily="34" charset="-122"/>
                <a:ea typeface="Microsoft YaHei UI" panose="020B0503020204020204" pitchFamily="34" charset="-122"/>
              </a:rPr>
              <a:t>Agent:</a:t>
            </a:r>
            <a:r>
              <a:rPr lang="en-US" dirty="0">
                <a:latin typeface="Microsoft YaHei UI" panose="020B0503020204020204" pitchFamily="34" charset="-122"/>
                <a:ea typeface="Microsoft YaHei UI" panose="020B0503020204020204" pitchFamily="34" charset="-122"/>
              </a:rPr>
              <a:t> an LLM or large multimodal model (LMM) with access to tools — specialized components/functionalities like APIs, external services, computational resources, or domain-specific software — that allow it to perform specific operations in the environment.</a:t>
            </a:r>
          </a:p>
          <a:p>
            <a:pPr marL="800100" lvl="1" indent="-342900">
              <a:lnSpc>
                <a:spcPct val="200000"/>
              </a:lnSpc>
              <a:buFont typeface="Courier New" panose="02070309020205020404" pitchFamily="49" charset="0"/>
              <a:buChar char="o"/>
            </a:pPr>
            <a:r>
              <a:rPr lang="en-US" b="1" dirty="0">
                <a:latin typeface="Microsoft YaHei UI" panose="020B0503020204020204" pitchFamily="34" charset="-122"/>
                <a:ea typeface="Microsoft YaHei UI" panose="020B0503020204020204" pitchFamily="34" charset="-122"/>
              </a:rPr>
              <a:t>Tool:</a:t>
            </a:r>
            <a:r>
              <a:rPr lang="en-US" dirty="0">
                <a:latin typeface="Microsoft YaHei UI" panose="020B0503020204020204" pitchFamily="34" charset="-122"/>
                <a:ea typeface="Microsoft YaHei UI" panose="020B0503020204020204" pitchFamily="34" charset="-122"/>
              </a:rPr>
              <a:t> both the capabilities (actions) of the agent and the information (via observations/signals) that can be obtained from the environment.</a:t>
            </a:r>
            <a:endParaRPr lang="en-CN" dirty="0">
              <a:latin typeface="Microsoft YaHei UI" panose="020B0503020204020204" pitchFamily="34" charset="-122"/>
              <a:ea typeface="Microsoft YaHei UI" panose="020B0503020204020204" pitchFamily="34" charset="-122"/>
            </a:endParaRPr>
          </a:p>
        </p:txBody>
      </p:sp>
      <p:sp>
        <p:nvSpPr>
          <p:cNvPr id="15" name="TextBox 14">
            <a:extLst>
              <a:ext uri="{FF2B5EF4-FFF2-40B4-BE49-F238E27FC236}">
                <a16:creationId xmlns:a16="http://schemas.microsoft.com/office/drawing/2014/main" id="{A2A00771-7766-9DFE-74ED-C50DB648D9CD}"/>
              </a:ext>
            </a:extLst>
          </p:cNvPr>
          <p:cNvSpPr txBox="1"/>
          <p:nvPr/>
        </p:nvSpPr>
        <p:spPr>
          <a:xfrm>
            <a:off x="297180" y="6320650"/>
            <a:ext cx="7344591"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err="1"/>
              <a:t>Miehling</a:t>
            </a:r>
            <a:r>
              <a:rPr lang="en-US" dirty="0"/>
              <a:t>, Erik, et al. "Agentic ai needs a systems theory." </a:t>
            </a:r>
            <a:r>
              <a:rPr lang="en-US" dirty="0" err="1"/>
              <a:t>arXiv</a:t>
            </a:r>
            <a:r>
              <a:rPr lang="en-US" dirty="0"/>
              <a:t> preprint arXiv:2503.00237 (2025).</a:t>
            </a:r>
            <a:endParaRPr lang="en-CN" dirty="0"/>
          </a:p>
        </p:txBody>
      </p:sp>
    </p:spTree>
    <p:custDataLst>
      <p:tags r:id="rId1"/>
    </p:custDataLst>
    <p:extLst>
      <p:ext uri="{BB962C8B-B14F-4D97-AF65-F5344CB8AC3E}">
        <p14:creationId xmlns:p14="http://schemas.microsoft.com/office/powerpoint/2010/main" val="31238098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1" descr="logo-en"/>
          <p:cNvPicPr>
            <a:picLocks noChangeAspect="1"/>
          </p:cNvPicPr>
          <p:nvPr/>
        </p:nvPicPr>
        <p:blipFill>
          <a:blip r:embed="rId4"/>
          <a:stretch>
            <a:fillRect/>
          </a:stretch>
        </p:blipFill>
        <p:spPr>
          <a:xfrm>
            <a:off x="9493250" y="60960"/>
            <a:ext cx="2634615" cy="516255"/>
          </a:xfrm>
          <a:prstGeom prst="rect">
            <a:avLst/>
          </a:prstGeom>
        </p:spPr>
      </p:pic>
      <p:sp>
        <p:nvSpPr>
          <p:cNvPr id="4" name="矩形 3"/>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0" name="文本框 9"/>
          <p:cNvSpPr txBox="1"/>
          <p:nvPr/>
        </p:nvSpPr>
        <p:spPr>
          <a:xfrm>
            <a:off x="286338" y="1023415"/>
            <a:ext cx="11455200" cy="2631554"/>
          </a:xfrm>
          <a:prstGeom prst="rect">
            <a:avLst/>
          </a:prstGeom>
          <a:noFill/>
        </p:spPr>
        <p:txBody>
          <a:bodyPr wrap="square" rtlCol="0">
            <a:spAutoFit/>
          </a:bodyPr>
          <a:lstStyle/>
          <a:p>
            <a:pPr algn="just">
              <a:lnSpc>
                <a:spcPct val="120000"/>
              </a:lnSpc>
            </a:pPr>
            <a:r>
              <a:rPr lang="en-US" altLang="zh-CN" sz="2200" dirty="0">
                <a:latin typeface="Microsoft YaHei UI" panose="020B0503020204020204" pitchFamily="34" charset="-122"/>
                <a:ea typeface="Microsoft YaHei UI" panose="020B0503020204020204" pitchFamily="34" charset="-122"/>
                <a:cs typeface="Times New Roman Regular" panose="02020503050405090304" charset="0"/>
              </a:rPr>
              <a:t>From AI Agents to Agentic AI Systems: </a:t>
            </a:r>
          </a:p>
          <a:p>
            <a:pPr marL="342900" indent="-342900">
              <a:lnSpc>
                <a:spcPct val="200000"/>
              </a:lnSpc>
              <a:buFont typeface="Arial" panose="020B0604020202090204" pitchFamily="34" charset="0"/>
              <a:buChar char="•"/>
            </a:pPr>
            <a:r>
              <a:rPr lang="en-US" altLang="zh-CN" b="1" dirty="0">
                <a:latin typeface="Microsoft YaHei UI" panose="020B0503020204020204" pitchFamily="34" charset="-122"/>
                <a:ea typeface="Microsoft YaHei UI" panose="020B0503020204020204" pitchFamily="34" charset="-122"/>
                <a:cs typeface="Times New Roman Regular" panose="02020503050405090304" charset="0"/>
              </a:rPr>
              <a:t>AI Agent: </a:t>
            </a:r>
            <a:r>
              <a:rPr lang="en-US" altLang="zh-CN" dirty="0">
                <a:latin typeface="Microsoft YaHei UI" panose="020B0503020204020204" pitchFamily="34" charset="-122"/>
                <a:ea typeface="Microsoft YaHei UI" panose="020B0503020204020204" pitchFamily="34" charset="-122"/>
                <a:cs typeface="Times New Roman Regular" panose="02020503050405090304" charset="0"/>
              </a:rPr>
              <a:t>autonomous technologies, designed to perform tasks, make decisions, and interact with their environment to achieve specific predefined goals, with minimal human intervention.</a:t>
            </a:r>
          </a:p>
          <a:p>
            <a:pPr marL="342900" indent="-342900">
              <a:lnSpc>
                <a:spcPct val="200000"/>
              </a:lnSpc>
              <a:buFont typeface="Arial" panose="020B0604020202090204" pitchFamily="34" charset="0"/>
              <a:buChar char="•"/>
            </a:pPr>
            <a:r>
              <a:rPr lang="en-US" b="1" dirty="0">
                <a:latin typeface="Microsoft YaHei UI" panose="020B0503020204020204" pitchFamily="34" charset="-122"/>
                <a:ea typeface="Microsoft YaHei UI" panose="020B0503020204020204" pitchFamily="34" charset="-122"/>
              </a:rPr>
              <a:t>Agentic AI System: </a:t>
            </a:r>
            <a:r>
              <a:rPr lang="en-US" dirty="0">
                <a:latin typeface="Microsoft YaHei UI" panose="020B0503020204020204" pitchFamily="34" charset="-122"/>
                <a:ea typeface="Microsoft YaHei UI" panose="020B0503020204020204" pitchFamily="34" charset="-122"/>
              </a:rPr>
              <a:t>integrate one or more agents to automate complex tasks and streamline processes across various domains.</a:t>
            </a:r>
            <a:endParaRPr lang="en-US" altLang="zh-CN" dirty="0">
              <a:latin typeface="Microsoft YaHei UI" panose="020B0503020204020204" pitchFamily="34" charset="-122"/>
              <a:ea typeface="Microsoft YaHei UI" panose="020B0503020204020204" pitchFamily="34" charset="-122"/>
            </a:endParaRPr>
          </a:p>
        </p:txBody>
      </p:sp>
      <p:sp>
        <p:nvSpPr>
          <p:cNvPr id="7" name="TextBox 6">
            <a:extLst>
              <a:ext uri="{FF2B5EF4-FFF2-40B4-BE49-F238E27FC236}">
                <a16:creationId xmlns:a16="http://schemas.microsoft.com/office/drawing/2014/main" id="{3436BCBA-A95E-E07D-E971-80B98E72BC4F}"/>
              </a:ext>
            </a:extLst>
          </p:cNvPr>
          <p:cNvSpPr txBox="1"/>
          <p:nvPr/>
        </p:nvSpPr>
        <p:spPr>
          <a:xfrm>
            <a:off x="133937" y="6444540"/>
            <a:ext cx="12058063"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Sapkota, Ranjan, Konstantinos I. Roumeliotis, and Manoj </a:t>
            </a:r>
            <a:r>
              <a:rPr lang="en-US" dirty="0" err="1"/>
              <a:t>Karkee</a:t>
            </a:r>
            <a:r>
              <a:rPr lang="en-US" dirty="0"/>
              <a:t>. "Ai agents vs. agentic ai: A conceptual taxonomy, applications and challenges." </a:t>
            </a:r>
            <a:r>
              <a:rPr lang="en-US" i="1" dirty="0"/>
              <a:t>arXiv:2505.10468</a:t>
            </a:r>
            <a:r>
              <a:rPr lang="en-US" dirty="0"/>
              <a:t>.</a:t>
            </a:r>
          </a:p>
        </p:txBody>
      </p:sp>
      <p:sp>
        <p:nvSpPr>
          <p:cNvPr id="2" name="文本框 8">
            <a:extLst>
              <a:ext uri="{FF2B5EF4-FFF2-40B4-BE49-F238E27FC236}">
                <a16:creationId xmlns:a16="http://schemas.microsoft.com/office/drawing/2014/main" id="{46200D07-5546-76C9-7D05-3C9F30C1A080}"/>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Definition of Agentic System</a:t>
            </a:r>
          </a:p>
        </p:txBody>
      </p:sp>
      <p:sp>
        <p:nvSpPr>
          <p:cNvPr id="11" name="TextBox 10">
            <a:extLst>
              <a:ext uri="{FF2B5EF4-FFF2-40B4-BE49-F238E27FC236}">
                <a16:creationId xmlns:a16="http://schemas.microsoft.com/office/drawing/2014/main" id="{FADF00CE-5DAA-F37F-04E6-7C86EC7EE445}"/>
              </a:ext>
            </a:extLst>
          </p:cNvPr>
          <p:cNvSpPr txBox="1"/>
          <p:nvPr/>
        </p:nvSpPr>
        <p:spPr>
          <a:xfrm>
            <a:off x="960463" y="4264924"/>
            <a:ext cx="2905648" cy="1323439"/>
          </a:xfrm>
          <a:prstGeom prst="rect">
            <a:avLst/>
          </a:prstGeom>
          <a:noFill/>
        </p:spPr>
        <p:txBody>
          <a:bodyPr wrap="square">
            <a:spAutoFit/>
          </a:bodyPr>
          <a:lstStyle/>
          <a:p>
            <a:r>
              <a:rPr lang="en-CN" sz="1600" dirty="0">
                <a:latin typeface="Microsoft YaHei UI" panose="020B0503020204020204" pitchFamily="34" charset="-122"/>
                <a:ea typeface="Microsoft YaHei UI" panose="020B0503020204020204" pitchFamily="34" charset="-122"/>
              </a:rPr>
              <a:t>A basic AI Agent </a:t>
            </a:r>
            <a:r>
              <a:rPr lang="en-CN" sz="1600" b="1" dirty="0">
                <a:solidFill>
                  <a:srgbClr val="FF0000"/>
                </a:solidFill>
                <a:latin typeface="Microsoft YaHei UI" panose="020B0503020204020204" pitchFamily="34" charset="-122"/>
                <a:ea typeface="Microsoft YaHei UI" panose="020B0503020204020204" pitchFamily="34" charset="-122"/>
              </a:rPr>
              <a:t>managing a single task</a:t>
            </a:r>
            <a:r>
              <a:rPr lang="en-CN" sz="1600" dirty="0">
                <a:latin typeface="Microsoft YaHei UI" panose="020B0503020204020204" pitchFamily="34" charset="-122"/>
                <a:ea typeface="Microsoft YaHei UI" panose="020B0503020204020204" pitchFamily="34" charset="-122"/>
              </a:rPr>
              <a:t> — such as maintaining a thermostat’s temperature setting based on user input.</a:t>
            </a:r>
          </a:p>
        </p:txBody>
      </p:sp>
      <p:sp>
        <p:nvSpPr>
          <p:cNvPr id="13" name="TextBox 12">
            <a:extLst>
              <a:ext uri="{FF2B5EF4-FFF2-40B4-BE49-F238E27FC236}">
                <a16:creationId xmlns:a16="http://schemas.microsoft.com/office/drawing/2014/main" id="{F4D603D4-C6BF-D5DA-87A3-B2ECB253BDA5}"/>
              </a:ext>
            </a:extLst>
          </p:cNvPr>
          <p:cNvSpPr txBox="1"/>
          <p:nvPr/>
        </p:nvSpPr>
        <p:spPr>
          <a:xfrm>
            <a:off x="8092676" y="4200570"/>
            <a:ext cx="3762103" cy="1815882"/>
          </a:xfrm>
          <a:prstGeom prst="rect">
            <a:avLst/>
          </a:prstGeom>
          <a:noFill/>
        </p:spPr>
        <p:txBody>
          <a:bodyPr wrap="square">
            <a:spAutoFit/>
          </a:bodyPr>
          <a:lstStyle/>
          <a:p>
            <a:r>
              <a:rPr lang="en-US" sz="1600" dirty="0">
                <a:latin typeface="Microsoft YaHei UI" panose="020B0503020204020204" pitchFamily="34" charset="-122"/>
                <a:ea typeface="Microsoft YaHei UI" panose="020B0503020204020204" pitchFamily="34" charset="-122"/>
              </a:rPr>
              <a:t>An Agentic AI System </a:t>
            </a:r>
            <a:r>
              <a:rPr lang="en-US" sz="1600" b="1" dirty="0">
                <a:solidFill>
                  <a:srgbClr val="FF0000"/>
                </a:solidFill>
                <a:latin typeface="Microsoft YaHei UI" panose="020B0503020204020204" pitchFamily="34" charset="-122"/>
                <a:ea typeface="Microsoft YaHei UI" panose="020B0503020204020204" pitchFamily="34" charset="-122"/>
              </a:rPr>
              <a:t>coordinating multiple agents</a:t>
            </a:r>
            <a:r>
              <a:rPr lang="en-US" sz="1600" dirty="0">
                <a:latin typeface="Microsoft YaHei UI" panose="020B0503020204020204" pitchFamily="34" charset="-122"/>
                <a:ea typeface="Microsoft YaHei UI" panose="020B0503020204020204" pitchFamily="34" charset="-122"/>
              </a:rPr>
              <a:t> to manage household automation tasks including </a:t>
            </a:r>
            <a:r>
              <a:rPr lang="en-US" sz="1600" dirty="0">
                <a:solidFill>
                  <a:schemeClr val="accent5">
                    <a:lumMod val="75000"/>
                  </a:schemeClr>
                </a:solidFill>
                <a:latin typeface="Microsoft YaHei UI" panose="020B0503020204020204" pitchFamily="34" charset="-122"/>
                <a:ea typeface="Microsoft YaHei UI" panose="020B0503020204020204" pitchFamily="34" charset="-122"/>
              </a:rPr>
              <a:t>temperature regulation, weather forecasting, energy pricing, appliance scheduling, and security monitoring</a:t>
            </a:r>
            <a:r>
              <a:rPr lang="en-US" sz="1600" dirty="0">
                <a:latin typeface="Microsoft YaHei UI" panose="020B0503020204020204" pitchFamily="34" charset="-122"/>
                <a:ea typeface="Microsoft YaHei UI" panose="020B0503020204020204" pitchFamily="34" charset="-122"/>
              </a:rPr>
              <a:t>.</a:t>
            </a:r>
            <a:endParaRPr lang="en-CN" sz="1600" dirty="0">
              <a:latin typeface="Microsoft YaHei UI" panose="020B0503020204020204" pitchFamily="34" charset="-122"/>
              <a:ea typeface="Microsoft YaHei UI" panose="020B0503020204020204" pitchFamily="34" charset="-122"/>
            </a:endParaRPr>
          </a:p>
        </p:txBody>
      </p:sp>
      <p:grpSp>
        <p:nvGrpSpPr>
          <p:cNvPr id="12" name="Group 11">
            <a:extLst>
              <a:ext uri="{FF2B5EF4-FFF2-40B4-BE49-F238E27FC236}">
                <a16:creationId xmlns:a16="http://schemas.microsoft.com/office/drawing/2014/main" id="{8B989134-DDD6-7E07-60F5-084FBF5D6ACE}"/>
              </a:ext>
            </a:extLst>
          </p:cNvPr>
          <p:cNvGrpSpPr/>
          <p:nvPr/>
        </p:nvGrpSpPr>
        <p:grpSpPr>
          <a:xfrm>
            <a:off x="4098342" y="3779684"/>
            <a:ext cx="3762103" cy="2382780"/>
            <a:chOff x="4098342" y="3779684"/>
            <a:chExt cx="3762103" cy="2382780"/>
          </a:xfrm>
        </p:grpSpPr>
        <p:pic>
          <p:nvPicPr>
            <p:cNvPr id="6" name="Picture 5">
              <a:extLst>
                <a:ext uri="{FF2B5EF4-FFF2-40B4-BE49-F238E27FC236}">
                  <a16:creationId xmlns:a16="http://schemas.microsoft.com/office/drawing/2014/main" id="{D59BB0A5-2AE8-A16F-AA9E-57617D35FA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8342" y="3779684"/>
              <a:ext cx="3762103" cy="2382780"/>
            </a:xfrm>
            <a:prstGeom prst="rect">
              <a:avLst/>
            </a:prstGeom>
          </p:spPr>
        </p:pic>
        <p:sp>
          <p:nvSpPr>
            <p:cNvPr id="8" name="TextBox 7">
              <a:extLst>
                <a:ext uri="{FF2B5EF4-FFF2-40B4-BE49-F238E27FC236}">
                  <a16:creationId xmlns:a16="http://schemas.microsoft.com/office/drawing/2014/main" id="{4D36D4D5-3BF0-1932-AEA4-8CB9848224BA}"/>
                </a:ext>
              </a:extLst>
            </p:cNvPr>
            <p:cNvSpPr txBox="1"/>
            <p:nvPr/>
          </p:nvSpPr>
          <p:spPr>
            <a:xfrm>
              <a:off x="6296533" y="3836836"/>
              <a:ext cx="1279924" cy="246221"/>
            </a:xfrm>
            <a:prstGeom prst="rect">
              <a:avLst/>
            </a:prstGeom>
            <a:solidFill>
              <a:schemeClr val="bg1"/>
            </a:solidFill>
          </p:spPr>
          <p:txBody>
            <a:bodyPr wrap="square">
              <a:spAutoFit/>
            </a:bodyPr>
            <a:lstStyle/>
            <a:p>
              <a:r>
                <a:rPr lang="en-US" sz="1000" b="1" dirty="0">
                  <a:latin typeface="Aptos" panose="020B0004020202020204" pitchFamily="34" charset="0"/>
                  <a:ea typeface="Microsoft YaHei UI" panose="020B0503020204020204" pitchFamily="34" charset="-122"/>
                </a:rPr>
                <a:t>Agentic AI System</a:t>
              </a:r>
              <a:endParaRPr lang="en-CN" sz="1000" b="1" dirty="0">
                <a:latin typeface="Aptos" panose="020B0004020202020204" pitchFamily="34" charset="0"/>
              </a:endParaRPr>
            </a:p>
          </p:txBody>
        </p:sp>
        <p:sp>
          <p:nvSpPr>
            <p:cNvPr id="9" name="TextBox 8">
              <a:extLst>
                <a:ext uri="{FF2B5EF4-FFF2-40B4-BE49-F238E27FC236}">
                  <a16:creationId xmlns:a16="http://schemas.microsoft.com/office/drawing/2014/main" id="{6E88DE27-9F6A-9116-2213-E385034E097A}"/>
                </a:ext>
              </a:extLst>
            </p:cNvPr>
            <p:cNvSpPr txBox="1"/>
            <p:nvPr/>
          </p:nvSpPr>
          <p:spPr>
            <a:xfrm>
              <a:off x="4656418" y="3836836"/>
              <a:ext cx="822725" cy="246221"/>
            </a:xfrm>
            <a:prstGeom prst="rect">
              <a:avLst/>
            </a:prstGeom>
            <a:solidFill>
              <a:schemeClr val="bg1"/>
            </a:solidFill>
          </p:spPr>
          <p:txBody>
            <a:bodyPr wrap="square">
              <a:spAutoFit/>
            </a:bodyPr>
            <a:lstStyle/>
            <a:p>
              <a:r>
                <a:rPr lang="en-US" sz="1000" b="1" dirty="0">
                  <a:latin typeface="Aptos" panose="020B0004020202020204" pitchFamily="34" charset="0"/>
                  <a:ea typeface="Microsoft YaHei UI" panose="020B0503020204020204" pitchFamily="34" charset="-122"/>
                </a:rPr>
                <a:t>AI Agent</a:t>
              </a:r>
              <a:endParaRPr lang="en-CN" sz="1000" b="1" dirty="0">
                <a:latin typeface="Aptos" panose="020B0004020202020204" pitchFamily="34" charset="0"/>
              </a:endParaRPr>
            </a:p>
          </p:txBody>
        </p:sp>
      </p:gr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F8AA-465C-69C6-A7AC-654CA35DDE5E}"/>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BE087084-CA78-8909-CFDD-931A190DE313}"/>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Definition of Agentic System</a:t>
            </a:r>
          </a:p>
        </p:txBody>
      </p:sp>
      <p:pic>
        <p:nvPicPr>
          <p:cNvPr id="5" name="图片 1" descr="logo-en">
            <a:extLst>
              <a:ext uri="{FF2B5EF4-FFF2-40B4-BE49-F238E27FC236}">
                <a16:creationId xmlns:a16="http://schemas.microsoft.com/office/drawing/2014/main" id="{02E5CAB1-99CC-6443-A5A6-C1D3BEB534DE}"/>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A29479AB-8906-3F27-6F11-7C12B966D947}"/>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pic>
        <p:nvPicPr>
          <p:cNvPr id="6" name="Picture 5">
            <a:extLst>
              <a:ext uri="{FF2B5EF4-FFF2-40B4-BE49-F238E27FC236}">
                <a16:creationId xmlns:a16="http://schemas.microsoft.com/office/drawing/2014/main" id="{010E2260-1094-EC30-877B-562AD362D8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6550" y="1650089"/>
            <a:ext cx="8201966" cy="4340857"/>
          </a:xfrm>
          <a:prstGeom prst="rect">
            <a:avLst/>
          </a:prstGeom>
        </p:spPr>
      </p:pic>
      <p:sp>
        <p:nvSpPr>
          <p:cNvPr id="13" name="TextBox 12">
            <a:extLst>
              <a:ext uri="{FF2B5EF4-FFF2-40B4-BE49-F238E27FC236}">
                <a16:creationId xmlns:a16="http://schemas.microsoft.com/office/drawing/2014/main" id="{87930463-8C00-AE3C-C337-DFD8F4AD9133}"/>
              </a:ext>
            </a:extLst>
          </p:cNvPr>
          <p:cNvSpPr txBox="1"/>
          <p:nvPr/>
        </p:nvSpPr>
        <p:spPr>
          <a:xfrm>
            <a:off x="297180" y="1059316"/>
            <a:ext cx="6106886" cy="430887"/>
          </a:xfrm>
          <a:prstGeom prst="rect">
            <a:avLst/>
          </a:prstGeom>
          <a:noFill/>
        </p:spPr>
        <p:txBody>
          <a:bodyPr wrap="square">
            <a:spAutoFit/>
          </a:bodyPr>
          <a:lstStyle/>
          <a:p>
            <a:r>
              <a:rPr lang="en-CN" sz="2200" dirty="0">
                <a:latin typeface="Microsoft YaHei UI" panose="020B0503020204020204" pitchFamily="34" charset="-122"/>
                <a:ea typeface="Microsoft YaHei UI" panose="020B0503020204020204" pitchFamily="34" charset="-122"/>
              </a:rPr>
              <a:t>The Overall Pipeline of An Agentic System </a:t>
            </a:r>
            <a:endParaRPr lang="en-CN" sz="2200" dirty="0"/>
          </a:p>
        </p:txBody>
      </p:sp>
      <p:sp>
        <p:nvSpPr>
          <p:cNvPr id="15" name="TextBox 14">
            <a:extLst>
              <a:ext uri="{FF2B5EF4-FFF2-40B4-BE49-F238E27FC236}">
                <a16:creationId xmlns:a16="http://schemas.microsoft.com/office/drawing/2014/main" id="{1B8394FB-23E2-77C1-6658-0788694DF8BF}"/>
              </a:ext>
            </a:extLst>
          </p:cNvPr>
          <p:cNvSpPr txBox="1"/>
          <p:nvPr/>
        </p:nvSpPr>
        <p:spPr>
          <a:xfrm>
            <a:off x="297180" y="6320650"/>
            <a:ext cx="7344591"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err="1"/>
              <a:t>Miehling</a:t>
            </a:r>
            <a:r>
              <a:rPr lang="en-US" dirty="0"/>
              <a:t>, Erik, et al. "Agentic ai needs a systems theory." </a:t>
            </a:r>
            <a:r>
              <a:rPr lang="en-US" dirty="0" err="1"/>
              <a:t>arXiv</a:t>
            </a:r>
            <a:r>
              <a:rPr lang="en-US" dirty="0"/>
              <a:t> preprint arXiv:2503.00237 (2025).</a:t>
            </a:r>
            <a:endParaRPr lang="en-CN" dirty="0"/>
          </a:p>
        </p:txBody>
      </p:sp>
      <p:sp>
        <p:nvSpPr>
          <p:cNvPr id="3" name="TextBox 2">
            <a:extLst>
              <a:ext uri="{FF2B5EF4-FFF2-40B4-BE49-F238E27FC236}">
                <a16:creationId xmlns:a16="http://schemas.microsoft.com/office/drawing/2014/main" id="{4355084E-AB55-C19B-5A6D-950F1D38C499}"/>
              </a:ext>
            </a:extLst>
          </p:cNvPr>
          <p:cNvSpPr txBox="1"/>
          <p:nvPr/>
        </p:nvSpPr>
        <p:spPr>
          <a:xfrm>
            <a:off x="857567" y="3820517"/>
            <a:ext cx="2131293"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400" b="1" dirty="0">
                <a:latin typeface="Microsoft YaHei UI" panose="020B0503020204020204" pitchFamily="34" charset="-122"/>
                <a:ea typeface="Microsoft YaHei UI" panose="020B0503020204020204" pitchFamily="34" charset="-122"/>
              </a:rPr>
              <a:t>human: </a:t>
            </a:r>
            <a:r>
              <a:rPr lang="en-CN" sz="1400" dirty="0">
                <a:latin typeface="Microsoft YaHei UI" panose="020B0503020204020204" pitchFamily="34" charset="-122"/>
                <a:ea typeface="Microsoft YaHei UI" panose="020B0503020204020204" pitchFamily="34" charset="-122"/>
              </a:rPr>
              <a:t>providing the initial task description and any feedback</a:t>
            </a:r>
          </a:p>
        </p:txBody>
      </p:sp>
      <p:sp>
        <p:nvSpPr>
          <p:cNvPr id="8" name="TextBox 7">
            <a:extLst>
              <a:ext uri="{FF2B5EF4-FFF2-40B4-BE49-F238E27FC236}">
                <a16:creationId xmlns:a16="http://schemas.microsoft.com/office/drawing/2014/main" id="{141F24D1-DB90-6224-C6ED-F54F46A0C0FF}"/>
              </a:ext>
            </a:extLst>
          </p:cNvPr>
          <p:cNvSpPr txBox="1"/>
          <p:nvPr/>
        </p:nvSpPr>
        <p:spPr>
          <a:xfrm>
            <a:off x="8752575" y="1455568"/>
            <a:ext cx="343942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400" b="1" dirty="0">
                <a:latin typeface="Microsoft YaHei UI" panose="020B0503020204020204" pitchFamily="34" charset="-122"/>
                <a:ea typeface="Microsoft YaHei UI" panose="020B0503020204020204" pitchFamily="34" charset="-122"/>
              </a:rPr>
              <a:t>agent: </a:t>
            </a:r>
            <a:r>
              <a:rPr lang="en-CN" sz="1400" dirty="0">
                <a:latin typeface="Microsoft YaHei UI" panose="020B0503020204020204" pitchFamily="34" charset="-122"/>
                <a:ea typeface="Microsoft YaHei UI" panose="020B0503020204020204" pitchFamily="34" charset="-122"/>
              </a:rPr>
              <a:t>a LLM or LMM (large multimodal model), with tools that facilitate interaction with the external environment via actions (generated via instructions from the LLM/LMM) and observations (generating LLM/LMM-readable signals). </a:t>
            </a:r>
          </a:p>
        </p:txBody>
      </p:sp>
      <p:sp>
        <p:nvSpPr>
          <p:cNvPr id="11" name="TextBox 10">
            <a:extLst>
              <a:ext uri="{FF2B5EF4-FFF2-40B4-BE49-F238E27FC236}">
                <a16:creationId xmlns:a16="http://schemas.microsoft.com/office/drawing/2014/main" id="{9942356D-CF8A-F54B-C515-BF2728C5DE26}"/>
              </a:ext>
            </a:extLst>
          </p:cNvPr>
          <p:cNvSpPr txBox="1"/>
          <p:nvPr/>
        </p:nvSpPr>
        <p:spPr>
          <a:xfrm>
            <a:off x="4093354" y="5125129"/>
            <a:ext cx="3548417"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400" b="1" dirty="0">
                <a:latin typeface="Microsoft YaHei UI" panose="020B0503020204020204" pitchFamily="34" charset="-122"/>
                <a:ea typeface="Microsoft YaHei UI" panose="020B0503020204020204" pitchFamily="34" charset="-122"/>
              </a:rPr>
              <a:t>Agents additionally interact with other agents</a:t>
            </a:r>
            <a:r>
              <a:rPr lang="en-CN" sz="1400" dirty="0">
                <a:latin typeface="Microsoft YaHei UI" panose="020B0503020204020204" pitchFamily="34" charset="-122"/>
                <a:ea typeface="Microsoft YaHei UI" panose="020B0503020204020204" pitchFamily="34" charset="-122"/>
              </a:rPr>
              <a:t>, communicating any relevant information about the task or observations from the environment.</a:t>
            </a:r>
          </a:p>
        </p:txBody>
      </p:sp>
      <p:sp>
        <p:nvSpPr>
          <p:cNvPr id="2" name="TextBox 1">
            <a:extLst>
              <a:ext uri="{FF2B5EF4-FFF2-40B4-BE49-F238E27FC236}">
                <a16:creationId xmlns:a16="http://schemas.microsoft.com/office/drawing/2014/main" id="{1845866F-2EFA-826B-78BD-54E4E90232DF}"/>
              </a:ext>
            </a:extLst>
          </p:cNvPr>
          <p:cNvSpPr txBox="1"/>
          <p:nvPr/>
        </p:nvSpPr>
        <p:spPr>
          <a:xfrm>
            <a:off x="7084194" y="2117287"/>
            <a:ext cx="665567" cy="276999"/>
          </a:xfrm>
          <a:prstGeom prst="rect">
            <a:avLst/>
          </a:prstGeom>
          <a:noFill/>
        </p:spPr>
        <p:txBody>
          <a:bodyPr wrap="none" rtlCol="0">
            <a:spAutoFit/>
          </a:bodyPr>
          <a:lstStyle/>
          <a:p>
            <a:r>
              <a:rPr lang="en-CN" sz="1200">
                <a:latin typeface="Microsoft YaHei UI" panose="020B0503020204020204" pitchFamily="34" charset="-122"/>
                <a:ea typeface="Microsoft YaHei UI" panose="020B0503020204020204" pitchFamily="34" charset="-122"/>
              </a:rPr>
              <a:t>details</a:t>
            </a:r>
          </a:p>
        </p:txBody>
      </p:sp>
    </p:spTree>
    <p:custDataLst>
      <p:tags r:id="rId1"/>
    </p:custDataLst>
    <p:extLst>
      <p:ext uri="{BB962C8B-B14F-4D97-AF65-F5344CB8AC3E}">
        <p14:creationId xmlns:p14="http://schemas.microsoft.com/office/powerpoint/2010/main" val="72709590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E08F6-F982-C668-2173-B970D98DEC90}"/>
            </a:ext>
          </a:extLst>
        </p:cNvPr>
        <p:cNvGrpSpPr/>
        <p:nvPr/>
      </p:nvGrpSpPr>
      <p:grpSpPr>
        <a:xfrm>
          <a:off x="0" y="0"/>
          <a:ext cx="0" cy="0"/>
          <a:chOff x="0" y="0"/>
          <a:chExt cx="0" cy="0"/>
        </a:xfrm>
      </p:grpSpPr>
      <p:cxnSp>
        <p:nvCxnSpPr>
          <p:cNvPr id="24" name="Straight Arrow Connector 23">
            <a:extLst>
              <a:ext uri="{FF2B5EF4-FFF2-40B4-BE49-F238E27FC236}">
                <a16:creationId xmlns:a16="http://schemas.microsoft.com/office/drawing/2014/main" id="{BB44576C-C704-66BA-E9EC-3FE140066B7F}"/>
              </a:ext>
            </a:extLst>
          </p:cNvPr>
          <p:cNvCxnSpPr/>
          <p:nvPr/>
        </p:nvCxnSpPr>
        <p:spPr>
          <a:xfrm>
            <a:off x="1482291" y="2658923"/>
            <a:ext cx="6439301" cy="1143056"/>
          </a:xfrm>
          <a:prstGeom prst="straightConnector1">
            <a:avLst/>
          </a:prstGeom>
          <a:ln>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E04983BE-736C-DCC6-8B8A-4C60A64AE153}"/>
              </a:ext>
            </a:extLst>
          </p:cNvPr>
          <p:cNvPicPr>
            <a:picLocks noChangeAspect="1"/>
          </p:cNvPicPr>
          <p:nvPr/>
        </p:nvPicPr>
        <p:blipFill>
          <a:blip r:embed="rId4">
            <a:biLevel thresh="50000"/>
          </a:blip>
          <a:srcRect l="40018" t="46599" r="31210" b="10634"/>
          <a:stretch>
            <a:fillRect/>
          </a:stretch>
        </p:blipFill>
        <p:spPr>
          <a:xfrm>
            <a:off x="10413471" y="4254205"/>
            <a:ext cx="527038" cy="502718"/>
          </a:xfrm>
          <a:prstGeom prst="rect">
            <a:avLst/>
          </a:prstGeom>
        </p:spPr>
      </p:pic>
      <p:pic>
        <p:nvPicPr>
          <p:cNvPr id="5" name="图片 1" descr="logo-en">
            <a:extLst>
              <a:ext uri="{FF2B5EF4-FFF2-40B4-BE49-F238E27FC236}">
                <a16:creationId xmlns:a16="http://schemas.microsoft.com/office/drawing/2014/main" id="{BD688B01-85E5-D7B6-B5C7-4E5093314F25}"/>
              </a:ext>
            </a:extLst>
          </p:cNvPr>
          <p:cNvPicPr>
            <a:picLocks noChangeAspect="1"/>
          </p:cNvPicPr>
          <p:nvPr/>
        </p:nvPicPr>
        <p:blipFill>
          <a:blip r:embed="rId5"/>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38E73CF4-2FEE-1360-3C10-FB0750B1054A}"/>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0" name="文本框 9">
            <a:extLst>
              <a:ext uri="{FF2B5EF4-FFF2-40B4-BE49-F238E27FC236}">
                <a16:creationId xmlns:a16="http://schemas.microsoft.com/office/drawing/2014/main" id="{B5C3F76C-40C6-97F8-13B2-725722C10357}"/>
              </a:ext>
            </a:extLst>
          </p:cNvPr>
          <p:cNvSpPr txBox="1"/>
          <p:nvPr/>
        </p:nvSpPr>
        <p:spPr>
          <a:xfrm>
            <a:off x="378212" y="1056171"/>
            <a:ext cx="10570845" cy="541046"/>
          </a:xfrm>
          <a:prstGeom prst="rect">
            <a:avLst/>
          </a:prstGeom>
          <a:noFill/>
        </p:spPr>
        <p:txBody>
          <a:bodyPr wrap="square" rtlCol="0">
            <a:spAutoFit/>
          </a:bodyPr>
          <a:lstStyle/>
          <a:p>
            <a:pPr algn="just">
              <a:lnSpc>
                <a:spcPct val="150000"/>
              </a:lnSpc>
            </a:pPr>
            <a:r>
              <a:rPr lang="en-US" sz="2200" dirty="0">
                <a:latin typeface="Microsoft YaHei UI" panose="020B0503020204020204" pitchFamily="34" charset="-122"/>
                <a:ea typeface="Microsoft YaHei UI" panose="020B0503020204020204" pitchFamily="34" charset="-122"/>
              </a:rPr>
              <a:t>Key Concepts of Agentic AI System</a:t>
            </a:r>
          </a:p>
        </p:txBody>
      </p:sp>
      <p:sp>
        <p:nvSpPr>
          <p:cNvPr id="2" name="TextBox 1">
            <a:extLst>
              <a:ext uri="{FF2B5EF4-FFF2-40B4-BE49-F238E27FC236}">
                <a16:creationId xmlns:a16="http://schemas.microsoft.com/office/drawing/2014/main" id="{C8361808-7218-9EB7-454A-2B47F0AA3A03}"/>
              </a:ext>
            </a:extLst>
          </p:cNvPr>
          <p:cNvSpPr txBox="1"/>
          <p:nvPr/>
        </p:nvSpPr>
        <p:spPr>
          <a:xfrm>
            <a:off x="378212" y="6466595"/>
            <a:ext cx="6860788"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Google Cloud. “What is agentic AI?”. https://</a:t>
            </a:r>
            <a:r>
              <a:rPr lang="en-US" dirty="0" err="1"/>
              <a:t>cloud.google.com</a:t>
            </a:r>
            <a:r>
              <a:rPr lang="en-US" dirty="0"/>
              <a:t>/discover/what-is-agentic-ai </a:t>
            </a:r>
          </a:p>
        </p:txBody>
      </p:sp>
      <p:sp>
        <p:nvSpPr>
          <p:cNvPr id="3" name="文本框 8">
            <a:extLst>
              <a:ext uri="{FF2B5EF4-FFF2-40B4-BE49-F238E27FC236}">
                <a16:creationId xmlns:a16="http://schemas.microsoft.com/office/drawing/2014/main" id="{98503A19-0A83-9067-C9ED-C05D97CCE92D}"/>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Definition of Agentic System</a:t>
            </a:r>
          </a:p>
        </p:txBody>
      </p:sp>
      <p:sp>
        <p:nvSpPr>
          <p:cNvPr id="7" name="TextBox 6">
            <a:extLst>
              <a:ext uri="{FF2B5EF4-FFF2-40B4-BE49-F238E27FC236}">
                <a16:creationId xmlns:a16="http://schemas.microsoft.com/office/drawing/2014/main" id="{679DE413-79CE-537C-7991-B92AD44C3873}"/>
              </a:ext>
            </a:extLst>
          </p:cNvPr>
          <p:cNvSpPr txBox="1"/>
          <p:nvPr/>
        </p:nvSpPr>
        <p:spPr>
          <a:xfrm>
            <a:off x="9517995" y="5004656"/>
            <a:ext cx="2706244" cy="1600438"/>
          </a:xfrm>
          <a:prstGeom prst="rect">
            <a:avLst/>
          </a:prstGeom>
          <a:noFill/>
        </p:spPr>
        <p:txBody>
          <a:bodyPr wrap="square">
            <a:spAutoFit/>
          </a:bodyPr>
          <a:lstStyle>
            <a:defPPr>
              <a:defRPr lang="zh-CN"/>
            </a:defPPr>
            <a:lvl1pPr>
              <a:defRPr sz="1600" b="1">
                <a:latin typeface="Microsoft YaHei UI" panose="020B0503020204020204" pitchFamily="34" charset="-122"/>
                <a:ea typeface="Microsoft YaHei UI" panose="020B0503020204020204" pitchFamily="34" charset="-122"/>
              </a:defRPr>
            </a:lvl1pPr>
          </a:lstStyle>
          <a:p>
            <a:r>
              <a:rPr lang="en-US" sz="1400" dirty="0"/>
              <a:t>Reflection: </a:t>
            </a:r>
            <a:r>
              <a:rPr lang="en-US" sz="1400" b="0" dirty="0"/>
              <a:t>After taking actions, the system learns from the results. It evaluates whether its actions were successful and uses this feedback to adjust its plans and actions in the future. </a:t>
            </a:r>
            <a:endParaRPr lang="en-US" altLang="zh-CN" sz="1400" b="0" dirty="0"/>
          </a:p>
        </p:txBody>
      </p:sp>
      <p:pic>
        <p:nvPicPr>
          <p:cNvPr id="11" name="Picture 10">
            <a:extLst>
              <a:ext uri="{FF2B5EF4-FFF2-40B4-BE49-F238E27FC236}">
                <a16:creationId xmlns:a16="http://schemas.microsoft.com/office/drawing/2014/main" id="{1509E5CA-1AB3-133F-E31F-7759DC7EB861}"/>
              </a:ext>
            </a:extLst>
          </p:cNvPr>
          <p:cNvPicPr>
            <a:picLocks noChangeAspect="1"/>
          </p:cNvPicPr>
          <p:nvPr/>
        </p:nvPicPr>
        <p:blipFill>
          <a:blip r:embed="rId4">
            <a:biLevel thresh="50000"/>
          </a:blip>
          <a:srcRect l="40018" t="46599" r="31210" b="10634"/>
          <a:stretch>
            <a:fillRect/>
          </a:stretch>
        </p:blipFill>
        <p:spPr>
          <a:xfrm>
            <a:off x="2893618" y="2228437"/>
            <a:ext cx="1286496" cy="1227130"/>
          </a:xfrm>
          <a:prstGeom prst="rect">
            <a:avLst/>
          </a:prstGeom>
        </p:spPr>
      </p:pic>
      <p:pic>
        <p:nvPicPr>
          <p:cNvPr id="4100" name="Picture 4" descr="Perception: Meaning, and Process of Perception | Marketing91">
            <a:extLst>
              <a:ext uri="{FF2B5EF4-FFF2-40B4-BE49-F238E27FC236}">
                <a16:creationId xmlns:a16="http://schemas.microsoft.com/office/drawing/2014/main" id="{0DC7E097-878E-E9FC-3676-707A6DAD1485}"/>
              </a:ext>
            </a:extLst>
          </p:cNvPr>
          <p:cNvPicPr>
            <a:picLocks noChangeAspect="1" noChangeArrowheads="1"/>
          </p:cNvPicPr>
          <p:nvPr/>
        </p:nvPicPr>
        <p:blipFill>
          <a:blip r:embed="rId6">
            <a:biLevel thresh="75000"/>
            <a:extLst>
              <a:ext uri="{28A0092B-C50C-407E-A947-70E740481C1C}">
                <a14:useLocalDpi xmlns:a14="http://schemas.microsoft.com/office/drawing/2010/main" val="0"/>
              </a:ext>
            </a:extLst>
          </a:blip>
          <a:srcRect/>
          <a:stretch>
            <a:fillRect/>
          </a:stretch>
        </p:blipFill>
        <p:spPr bwMode="auto">
          <a:xfrm>
            <a:off x="499376" y="1782910"/>
            <a:ext cx="1109418" cy="110941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054A536-0318-519E-728B-162FB3F061C1}"/>
              </a:ext>
            </a:extLst>
          </p:cNvPr>
          <p:cNvSpPr txBox="1"/>
          <p:nvPr/>
        </p:nvSpPr>
        <p:spPr>
          <a:xfrm>
            <a:off x="90527" y="2954687"/>
            <a:ext cx="2130159" cy="954107"/>
          </a:xfrm>
          <a:prstGeom prst="rect">
            <a:avLst/>
          </a:prstGeom>
          <a:noFill/>
        </p:spPr>
        <p:txBody>
          <a:bodyPr wrap="square">
            <a:spAutoFit/>
          </a:bodyPr>
          <a:lstStyle/>
          <a:p>
            <a:r>
              <a:rPr lang="en-US" sz="1400" b="1" dirty="0">
                <a:latin typeface="Microsoft YaHei UI" panose="020B0503020204020204" pitchFamily="34" charset="-122"/>
                <a:ea typeface="Microsoft YaHei UI" panose="020B0503020204020204" pitchFamily="34" charset="-122"/>
              </a:rPr>
              <a:t>Perception: </a:t>
            </a:r>
            <a:r>
              <a:rPr lang="en-US" sz="1400" dirty="0">
                <a:latin typeface="Microsoft YaHei UI" panose="020B0503020204020204" pitchFamily="34" charset="-122"/>
                <a:ea typeface="Microsoft YaHei UI" panose="020B0503020204020204" pitchFamily="34" charset="-122"/>
              </a:rPr>
              <a:t>Gathering information from surroundings and different sources.</a:t>
            </a:r>
          </a:p>
        </p:txBody>
      </p:sp>
      <p:sp>
        <p:nvSpPr>
          <p:cNvPr id="15" name="TextBox 14">
            <a:extLst>
              <a:ext uri="{FF2B5EF4-FFF2-40B4-BE49-F238E27FC236}">
                <a16:creationId xmlns:a16="http://schemas.microsoft.com/office/drawing/2014/main" id="{18E64037-829D-3FA1-7BFE-47D8FB9B0AF8}"/>
              </a:ext>
            </a:extLst>
          </p:cNvPr>
          <p:cNvSpPr txBox="1"/>
          <p:nvPr/>
        </p:nvSpPr>
        <p:spPr>
          <a:xfrm>
            <a:off x="1892436" y="3374677"/>
            <a:ext cx="3160794" cy="1384995"/>
          </a:xfrm>
          <a:prstGeom prst="rect">
            <a:avLst/>
          </a:prstGeom>
          <a:noFill/>
        </p:spPr>
        <p:txBody>
          <a:bodyPr wrap="square">
            <a:spAutoFit/>
          </a:bodyPr>
          <a:lstStyle>
            <a:defPPr>
              <a:defRPr lang="zh-CN"/>
            </a:defPPr>
            <a:lvl1pPr>
              <a:defRPr sz="1600" b="1">
                <a:latin typeface="Microsoft YaHei UI" panose="020B0503020204020204" pitchFamily="34" charset="-122"/>
                <a:ea typeface="Microsoft YaHei UI" panose="020B0503020204020204" pitchFamily="34" charset="-122"/>
              </a:defRPr>
            </a:lvl1pPr>
          </a:lstStyle>
          <a:p>
            <a:r>
              <a:rPr lang="en-US" sz="1400" dirty="0"/>
              <a:t>Reasoning: </a:t>
            </a:r>
            <a:r>
              <a:rPr lang="en-US" sz="1400" b="0" dirty="0"/>
              <a:t>Powered by LLMs, agentic AI system analyzes the gathered data to understand the context, identify relevant information, and formulate potential solutions.</a:t>
            </a:r>
          </a:p>
        </p:txBody>
      </p:sp>
      <p:pic>
        <p:nvPicPr>
          <p:cNvPr id="4104" name="Picture 8" descr="Understanding Agentic AI: Attributes, Architecture, and the Ecosystem Omdia">
            <a:extLst>
              <a:ext uri="{FF2B5EF4-FFF2-40B4-BE49-F238E27FC236}">
                <a16:creationId xmlns:a16="http://schemas.microsoft.com/office/drawing/2014/main" id="{CD89D5F5-38B9-01BF-DEA7-FCCA8EA25EAC}"/>
              </a:ext>
            </a:extLst>
          </p:cNvPr>
          <p:cNvPicPr>
            <a:picLocks noChangeAspect="1" noChangeArrowheads="1"/>
          </p:cNvPicPr>
          <p:nvPr/>
        </p:nvPicPr>
        <p:blipFill rotWithShape="1">
          <a:blip r:embed="rId7">
            <a:biLevel thresh="75000"/>
            <a:extLst>
              <a:ext uri="{28A0092B-C50C-407E-A947-70E740481C1C}">
                <a14:useLocalDpi xmlns:a14="http://schemas.microsoft.com/office/drawing/2010/main" val="0"/>
              </a:ext>
            </a:extLst>
          </a:blip>
          <a:srcRect l="45339" t="14105" r="46558" b="65881"/>
          <a:stretch>
            <a:fillRect/>
          </a:stretch>
        </p:blipFill>
        <p:spPr bwMode="auto">
          <a:xfrm>
            <a:off x="5303129" y="2842001"/>
            <a:ext cx="1143133" cy="106535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6BC246E8-EE88-0A25-C650-E831ED6628A2}"/>
              </a:ext>
            </a:extLst>
          </p:cNvPr>
          <p:cNvSpPr txBox="1"/>
          <p:nvPr/>
        </p:nvSpPr>
        <p:spPr>
          <a:xfrm>
            <a:off x="4833615" y="3907352"/>
            <a:ext cx="2593797" cy="1384995"/>
          </a:xfrm>
          <a:prstGeom prst="rect">
            <a:avLst/>
          </a:prstGeom>
          <a:noFill/>
        </p:spPr>
        <p:txBody>
          <a:bodyPr wrap="square">
            <a:spAutoFit/>
          </a:bodyPr>
          <a:lstStyle>
            <a:defPPr>
              <a:defRPr lang="zh-CN"/>
            </a:defPPr>
            <a:lvl1pPr>
              <a:defRPr sz="1600" b="1">
                <a:latin typeface="Microsoft YaHei UI" panose="020B0503020204020204" pitchFamily="34" charset="-122"/>
                <a:ea typeface="Microsoft YaHei UI" panose="020B0503020204020204" pitchFamily="34" charset="-122"/>
              </a:defRPr>
            </a:lvl1pPr>
          </a:lstStyle>
          <a:p>
            <a:r>
              <a:rPr lang="en-US" sz="1400" dirty="0"/>
              <a:t>Planning: </a:t>
            </a:r>
            <a:r>
              <a:rPr lang="en-US" sz="1400" b="0" dirty="0"/>
              <a:t>Using gathered information to develop a plan, which involves setting goals, splitting  into smaller steps, and figuring out the best way to achieve them.</a:t>
            </a:r>
          </a:p>
        </p:txBody>
      </p:sp>
      <p:pic>
        <p:nvPicPr>
          <p:cNvPr id="4106" name="Picture 10" descr="What is Agentic AI | K21Academy">
            <a:extLst>
              <a:ext uri="{FF2B5EF4-FFF2-40B4-BE49-F238E27FC236}">
                <a16:creationId xmlns:a16="http://schemas.microsoft.com/office/drawing/2014/main" id="{395626A1-3173-8B7D-8A4C-38CDCC79CA3C}"/>
              </a:ext>
            </a:extLst>
          </p:cNvPr>
          <p:cNvPicPr>
            <a:picLocks noChangeAspect="1" noChangeArrowheads="1"/>
          </p:cNvPicPr>
          <p:nvPr/>
        </p:nvPicPr>
        <p:blipFill rotWithShape="1">
          <a:blip r:embed="rId8">
            <a:biLevel thresh="75000"/>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val="0"/>
              </a:ext>
            </a:extLst>
          </a:blip>
          <a:srcRect l="53458" t="56033" r="41297" b="35516"/>
          <a:stretch>
            <a:fillRect/>
          </a:stretch>
        </p:blipFill>
        <p:spPr bwMode="auto">
          <a:xfrm>
            <a:off x="7833777" y="3501268"/>
            <a:ext cx="1039757" cy="9425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937DC4A-CF7F-6801-9FBE-192F480C96EF}"/>
              </a:ext>
            </a:extLst>
          </p:cNvPr>
          <p:cNvSpPr txBox="1"/>
          <p:nvPr/>
        </p:nvSpPr>
        <p:spPr>
          <a:xfrm>
            <a:off x="7399743" y="4453308"/>
            <a:ext cx="2093507" cy="1169551"/>
          </a:xfrm>
          <a:prstGeom prst="rect">
            <a:avLst/>
          </a:prstGeom>
          <a:noFill/>
        </p:spPr>
        <p:txBody>
          <a:bodyPr wrap="square">
            <a:spAutoFit/>
          </a:bodyPr>
          <a:lstStyle>
            <a:defPPr>
              <a:defRPr lang="zh-CN"/>
            </a:defPPr>
            <a:lvl1pPr>
              <a:defRPr sz="1600" b="1">
                <a:latin typeface="Microsoft YaHei UI" panose="020B0503020204020204" pitchFamily="34" charset="-122"/>
                <a:ea typeface="Microsoft YaHei UI" panose="020B0503020204020204" pitchFamily="34" charset="-122"/>
              </a:defRPr>
            </a:lvl1pPr>
          </a:lstStyle>
          <a:p>
            <a:r>
              <a:rPr lang="en-US" sz="1400" dirty="0"/>
              <a:t>Action: </a:t>
            </a:r>
            <a:r>
              <a:rPr lang="en-US" sz="1400" b="0" dirty="0"/>
              <a:t>Performing tasks, making decisions, or interacting with other systems.</a:t>
            </a:r>
          </a:p>
        </p:txBody>
      </p:sp>
      <p:sp>
        <p:nvSpPr>
          <p:cNvPr id="20" name="Curved Up Arrow 19">
            <a:extLst>
              <a:ext uri="{FF2B5EF4-FFF2-40B4-BE49-F238E27FC236}">
                <a16:creationId xmlns:a16="http://schemas.microsoft.com/office/drawing/2014/main" id="{3C191B79-DC4E-453C-D9E1-5E58E8416230}"/>
              </a:ext>
            </a:extLst>
          </p:cNvPr>
          <p:cNvSpPr/>
          <p:nvPr/>
        </p:nvSpPr>
        <p:spPr>
          <a:xfrm>
            <a:off x="10338592" y="4534277"/>
            <a:ext cx="701269" cy="336884"/>
          </a:xfrm>
          <a:prstGeom prst="curvedUp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21" name="Curved Up Arrow 20">
            <a:extLst>
              <a:ext uri="{FF2B5EF4-FFF2-40B4-BE49-F238E27FC236}">
                <a16:creationId xmlns:a16="http://schemas.microsoft.com/office/drawing/2014/main" id="{5AE4E5D7-9221-9144-A2D6-2A770C3E8932}"/>
              </a:ext>
            </a:extLst>
          </p:cNvPr>
          <p:cNvSpPr/>
          <p:nvPr/>
        </p:nvSpPr>
        <p:spPr>
          <a:xfrm rot="10800000">
            <a:off x="10299564" y="4139966"/>
            <a:ext cx="701269" cy="336884"/>
          </a:xfrm>
          <a:prstGeom prst="curvedUp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sp>
        <p:nvSpPr>
          <p:cNvPr id="14" name="Freeform 13">
            <a:extLst>
              <a:ext uri="{FF2B5EF4-FFF2-40B4-BE49-F238E27FC236}">
                <a16:creationId xmlns:a16="http://schemas.microsoft.com/office/drawing/2014/main" id="{84F58FDC-58F1-F576-59A5-07EAC2ADA8B5}"/>
              </a:ext>
            </a:extLst>
          </p:cNvPr>
          <p:cNvSpPr/>
          <p:nvPr/>
        </p:nvSpPr>
        <p:spPr>
          <a:xfrm>
            <a:off x="1482291" y="1785374"/>
            <a:ext cx="6843562" cy="1747098"/>
          </a:xfrm>
          <a:custGeom>
            <a:avLst/>
            <a:gdLst>
              <a:gd name="csX0" fmla="*/ 0 w 6843562"/>
              <a:gd name="csY0" fmla="*/ 207055 h 1747098"/>
              <a:gd name="csX1" fmla="*/ 2897204 w 6843562"/>
              <a:gd name="csY1" fmla="*/ 4925 h 1747098"/>
              <a:gd name="csX2" fmla="*/ 5216892 w 6843562"/>
              <a:gd name="csY2" fmla="*/ 389935 h 1747098"/>
              <a:gd name="csX3" fmla="*/ 6371924 w 6843562"/>
              <a:gd name="csY3" fmla="*/ 1102205 h 1747098"/>
              <a:gd name="csX4" fmla="*/ 6843562 w 6843562"/>
              <a:gd name="csY4" fmla="*/ 1747098 h 1747098"/>
            </a:gdLst>
            <a:ahLst/>
            <a:cxnLst>
              <a:cxn ang="0">
                <a:pos x="csX0" y="csY0"/>
              </a:cxn>
              <a:cxn ang="0">
                <a:pos x="csX1" y="csY1"/>
              </a:cxn>
              <a:cxn ang="0">
                <a:pos x="csX2" y="csY2"/>
              </a:cxn>
              <a:cxn ang="0">
                <a:pos x="csX3" y="csY3"/>
              </a:cxn>
              <a:cxn ang="0">
                <a:pos x="csX4" y="csY4"/>
              </a:cxn>
            </a:cxnLst>
            <a:rect l="l" t="t" r="r" b="b"/>
            <a:pathLst>
              <a:path w="6843562" h="1747098">
                <a:moveTo>
                  <a:pt x="0" y="207055"/>
                </a:moveTo>
                <a:cubicBezTo>
                  <a:pt x="1013861" y="90750"/>
                  <a:pt x="2027722" y="-25555"/>
                  <a:pt x="2897204" y="4925"/>
                </a:cubicBezTo>
                <a:cubicBezTo>
                  <a:pt x="3766686" y="35405"/>
                  <a:pt x="4637772" y="207055"/>
                  <a:pt x="5216892" y="389935"/>
                </a:cubicBezTo>
                <a:cubicBezTo>
                  <a:pt x="5796012" y="572815"/>
                  <a:pt x="6100812" y="876011"/>
                  <a:pt x="6371924" y="1102205"/>
                </a:cubicBezTo>
                <a:cubicBezTo>
                  <a:pt x="6643036" y="1328399"/>
                  <a:pt x="6743299" y="1537748"/>
                  <a:pt x="6843562" y="1747098"/>
                </a:cubicBezTo>
              </a:path>
            </a:pathLst>
          </a:custGeom>
          <a:noFill/>
          <a:ln>
            <a:solidFill>
              <a:schemeClr val="accent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TextBox 15">
            <a:extLst>
              <a:ext uri="{FF2B5EF4-FFF2-40B4-BE49-F238E27FC236}">
                <a16:creationId xmlns:a16="http://schemas.microsoft.com/office/drawing/2014/main" id="{44FE406C-35B7-08F7-7519-7310E753DE8E}"/>
              </a:ext>
            </a:extLst>
          </p:cNvPr>
          <p:cNvSpPr txBox="1"/>
          <p:nvPr/>
        </p:nvSpPr>
        <p:spPr>
          <a:xfrm>
            <a:off x="7399743" y="2021305"/>
            <a:ext cx="3523144" cy="369332"/>
          </a:xfrm>
          <a:prstGeom prst="rect">
            <a:avLst/>
          </a:prstGeom>
          <a:noFill/>
        </p:spPr>
        <p:txBody>
          <a:bodyPr wrap="none" rtlCol="0">
            <a:spAutoFit/>
          </a:bodyPr>
          <a:lstStyle/>
          <a:p>
            <a:r>
              <a:rPr lang="en-US" altLang="zh-CN">
                <a:solidFill>
                  <a:schemeClr val="accent2"/>
                </a:solidFill>
              </a:rPr>
              <a:t>System</a:t>
            </a:r>
            <a:r>
              <a:rPr lang="zh-CN" altLang="en-US">
                <a:solidFill>
                  <a:schemeClr val="accent2"/>
                </a:solidFill>
              </a:rPr>
              <a:t> </a:t>
            </a:r>
            <a:r>
              <a:rPr lang="en-US" altLang="zh-CN">
                <a:solidFill>
                  <a:schemeClr val="accent2"/>
                </a:solidFill>
              </a:rPr>
              <a:t>1</a:t>
            </a:r>
            <a:r>
              <a:rPr lang="zh-CN" altLang="en-US">
                <a:solidFill>
                  <a:schemeClr val="accent2"/>
                </a:solidFill>
              </a:rPr>
              <a:t> </a:t>
            </a:r>
            <a:r>
              <a:rPr lang="en-US" altLang="zh-CN">
                <a:solidFill>
                  <a:schemeClr val="accent2"/>
                </a:solidFill>
              </a:rPr>
              <a:t>thinking:</a:t>
            </a:r>
            <a:r>
              <a:rPr lang="zh-CN" altLang="en-US">
                <a:solidFill>
                  <a:schemeClr val="accent2"/>
                </a:solidFill>
              </a:rPr>
              <a:t> </a:t>
            </a:r>
            <a:r>
              <a:rPr lang="en-US" altLang="zh-CN">
                <a:solidFill>
                  <a:schemeClr val="accent2"/>
                </a:solidFill>
              </a:rPr>
              <a:t>fast</a:t>
            </a:r>
            <a:r>
              <a:rPr lang="zh-CN" altLang="en-US">
                <a:solidFill>
                  <a:schemeClr val="accent2"/>
                </a:solidFill>
              </a:rPr>
              <a:t> </a:t>
            </a:r>
            <a:r>
              <a:rPr lang="en-US" altLang="zh-CN">
                <a:solidFill>
                  <a:schemeClr val="accent2"/>
                </a:solidFill>
              </a:rPr>
              <a:t>and</a:t>
            </a:r>
            <a:r>
              <a:rPr lang="zh-CN" altLang="en-US">
                <a:solidFill>
                  <a:schemeClr val="accent2"/>
                </a:solidFill>
              </a:rPr>
              <a:t> </a:t>
            </a:r>
            <a:r>
              <a:rPr lang="en-US" altLang="zh-CN">
                <a:solidFill>
                  <a:schemeClr val="accent2"/>
                </a:solidFill>
              </a:rPr>
              <a:t>intuitive</a:t>
            </a:r>
            <a:endParaRPr lang="en-CN">
              <a:solidFill>
                <a:schemeClr val="accent2"/>
              </a:solidFill>
            </a:endParaRPr>
          </a:p>
        </p:txBody>
      </p:sp>
      <p:sp>
        <p:nvSpPr>
          <p:cNvPr id="18" name="TextBox 17">
            <a:extLst>
              <a:ext uri="{FF2B5EF4-FFF2-40B4-BE49-F238E27FC236}">
                <a16:creationId xmlns:a16="http://schemas.microsoft.com/office/drawing/2014/main" id="{366AE566-544B-1FF8-1F7E-054142D742B6}"/>
              </a:ext>
            </a:extLst>
          </p:cNvPr>
          <p:cNvSpPr txBox="1"/>
          <p:nvPr/>
        </p:nvSpPr>
        <p:spPr>
          <a:xfrm>
            <a:off x="3981181" y="2511489"/>
            <a:ext cx="3455048" cy="369332"/>
          </a:xfrm>
          <a:prstGeom prst="rect">
            <a:avLst/>
          </a:prstGeom>
          <a:noFill/>
        </p:spPr>
        <p:txBody>
          <a:bodyPr wrap="none" rtlCol="0">
            <a:spAutoFit/>
          </a:bodyPr>
          <a:lstStyle/>
          <a:p>
            <a:r>
              <a:rPr lang="en-US" altLang="zh-CN">
                <a:solidFill>
                  <a:schemeClr val="accent5">
                    <a:lumMod val="60000"/>
                    <a:lumOff val="40000"/>
                  </a:schemeClr>
                </a:solidFill>
              </a:rPr>
              <a:t>System</a:t>
            </a:r>
            <a:r>
              <a:rPr lang="zh-CN" altLang="en-US">
                <a:solidFill>
                  <a:schemeClr val="accent5">
                    <a:lumMod val="60000"/>
                    <a:lumOff val="40000"/>
                  </a:schemeClr>
                </a:solidFill>
              </a:rPr>
              <a:t> </a:t>
            </a:r>
            <a:r>
              <a:rPr lang="en-US" altLang="zh-CN">
                <a:solidFill>
                  <a:schemeClr val="accent5">
                    <a:lumMod val="60000"/>
                    <a:lumOff val="40000"/>
                  </a:schemeClr>
                </a:solidFill>
              </a:rPr>
              <a:t>2</a:t>
            </a:r>
            <a:r>
              <a:rPr lang="zh-CN" altLang="en-US">
                <a:solidFill>
                  <a:schemeClr val="accent5">
                    <a:lumMod val="60000"/>
                    <a:lumOff val="40000"/>
                  </a:schemeClr>
                </a:solidFill>
              </a:rPr>
              <a:t> </a:t>
            </a:r>
            <a:r>
              <a:rPr lang="en-US" altLang="zh-CN">
                <a:solidFill>
                  <a:schemeClr val="accent5">
                    <a:lumMod val="60000"/>
                    <a:lumOff val="40000"/>
                  </a:schemeClr>
                </a:solidFill>
              </a:rPr>
              <a:t>thinking:</a:t>
            </a:r>
            <a:r>
              <a:rPr lang="zh-CN" altLang="en-US">
                <a:solidFill>
                  <a:schemeClr val="accent5">
                    <a:lumMod val="60000"/>
                    <a:lumOff val="40000"/>
                  </a:schemeClr>
                </a:solidFill>
              </a:rPr>
              <a:t> </a:t>
            </a:r>
            <a:r>
              <a:rPr lang="en-US" altLang="zh-CN">
                <a:solidFill>
                  <a:schemeClr val="accent5">
                    <a:lumMod val="60000"/>
                    <a:lumOff val="40000"/>
                  </a:schemeClr>
                </a:solidFill>
              </a:rPr>
              <a:t>slow</a:t>
            </a:r>
            <a:r>
              <a:rPr lang="zh-CN" altLang="en-US">
                <a:solidFill>
                  <a:schemeClr val="accent5">
                    <a:lumMod val="60000"/>
                    <a:lumOff val="40000"/>
                  </a:schemeClr>
                </a:solidFill>
              </a:rPr>
              <a:t> </a:t>
            </a:r>
            <a:r>
              <a:rPr lang="en-US" altLang="zh-CN">
                <a:solidFill>
                  <a:schemeClr val="accent5">
                    <a:lumMod val="60000"/>
                    <a:lumOff val="40000"/>
                  </a:schemeClr>
                </a:solidFill>
              </a:rPr>
              <a:t>and</a:t>
            </a:r>
            <a:r>
              <a:rPr lang="zh-CN" altLang="en-US">
                <a:solidFill>
                  <a:schemeClr val="accent5">
                    <a:lumMod val="60000"/>
                    <a:lumOff val="40000"/>
                  </a:schemeClr>
                </a:solidFill>
              </a:rPr>
              <a:t> </a:t>
            </a:r>
            <a:r>
              <a:rPr lang="en-US" altLang="zh-CN">
                <a:solidFill>
                  <a:schemeClr val="accent5">
                    <a:lumMod val="60000"/>
                    <a:lumOff val="40000"/>
                  </a:schemeClr>
                </a:solidFill>
              </a:rPr>
              <a:t>formal</a:t>
            </a:r>
            <a:endParaRPr lang="en-CN">
              <a:solidFill>
                <a:schemeClr val="accent5">
                  <a:lumMod val="60000"/>
                  <a:lumOff val="40000"/>
                </a:schemeClr>
              </a:solidFill>
            </a:endParaRPr>
          </a:p>
        </p:txBody>
      </p:sp>
    </p:spTree>
    <p:custDataLst>
      <p:tags r:id="rId1"/>
    </p:custDataLst>
    <p:extLst>
      <p:ext uri="{BB962C8B-B14F-4D97-AF65-F5344CB8AC3E}">
        <p14:creationId xmlns:p14="http://schemas.microsoft.com/office/powerpoint/2010/main" val="172590808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8C20-4B55-1BEB-CD0E-BC0F57406492}"/>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BB90E9CB-7289-2F71-CA48-BC7DAFC7C244}"/>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Architecture of Agentic System</a:t>
            </a:r>
          </a:p>
        </p:txBody>
      </p:sp>
      <p:pic>
        <p:nvPicPr>
          <p:cNvPr id="5" name="图片 1" descr="logo-en">
            <a:extLst>
              <a:ext uri="{FF2B5EF4-FFF2-40B4-BE49-F238E27FC236}">
                <a16:creationId xmlns:a16="http://schemas.microsoft.com/office/drawing/2014/main" id="{7E3F8714-DC8D-F09A-07C5-3BE2BCA9BA43}"/>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C4BF4BF4-903E-D3B3-38E0-2A6B26813876}"/>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pic>
        <p:nvPicPr>
          <p:cNvPr id="6" name="Picture 5" descr="A diagram of a system&#10;&#10;AI-generated content may be incorrect.">
            <a:extLst>
              <a:ext uri="{FF2B5EF4-FFF2-40B4-BE49-F238E27FC236}">
                <a16:creationId xmlns:a16="http://schemas.microsoft.com/office/drawing/2014/main" id="{06D782E6-7677-A18B-DACF-AA780EFD25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9479" y="1502366"/>
            <a:ext cx="7772400" cy="4503348"/>
          </a:xfrm>
          <a:prstGeom prst="rect">
            <a:avLst/>
          </a:prstGeom>
        </p:spPr>
      </p:pic>
      <p:sp>
        <p:nvSpPr>
          <p:cNvPr id="12" name="TextBox 11">
            <a:extLst>
              <a:ext uri="{FF2B5EF4-FFF2-40B4-BE49-F238E27FC236}">
                <a16:creationId xmlns:a16="http://schemas.microsoft.com/office/drawing/2014/main" id="{AD0055D5-1F30-F802-8DD9-7A61BA9BF2C3}"/>
              </a:ext>
            </a:extLst>
          </p:cNvPr>
          <p:cNvSpPr txBox="1"/>
          <p:nvPr/>
        </p:nvSpPr>
        <p:spPr>
          <a:xfrm>
            <a:off x="224972" y="6466595"/>
            <a:ext cx="11742056"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Ke, Zixuan, et al. "A survey of frontiers in </a:t>
            </a:r>
            <a:r>
              <a:rPr lang="en-US" dirty="0" err="1"/>
              <a:t>llm</a:t>
            </a:r>
            <a:r>
              <a:rPr lang="en-US" dirty="0"/>
              <a:t> reasoning: Inference scaling, learning to reason, and agentic systems." </a:t>
            </a:r>
            <a:r>
              <a:rPr lang="en-US" dirty="0" err="1"/>
              <a:t>arXiv</a:t>
            </a:r>
            <a:r>
              <a:rPr lang="en-US" dirty="0"/>
              <a:t> preprint arXiv:2504.09037 (2025).</a:t>
            </a:r>
          </a:p>
        </p:txBody>
      </p:sp>
      <p:sp>
        <p:nvSpPr>
          <p:cNvPr id="14" name="TextBox 13">
            <a:extLst>
              <a:ext uri="{FF2B5EF4-FFF2-40B4-BE49-F238E27FC236}">
                <a16:creationId xmlns:a16="http://schemas.microsoft.com/office/drawing/2014/main" id="{7665BBD3-A8DD-4BEC-B1C2-30B4CF60FF22}"/>
              </a:ext>
            </a:extLst>
          </p:cNvPr>
          <p:cNvSpPr txBox="1"/>
          <p:nvPr/>
        </p:nvSpPr>
        <p:spPr>
          <a:xfrm>
            <a:off x="321907" y="4896935"/>
            <a:ext cx="2826721" cy="1323439"/>
          </a:xfrm>
          <a:prstGeom prst="rect">
            <a:avLst/>
          </a:prstGeom>
          <a:noFill/>
        </p:spPr>
        <p:txBody>
          <a:bodyPr wrap="square">
            <a:spAutoFit/>
          </a:bodyPr>
          <a:lstStyle/>
          <a:p>
            <a:r>
              <a:rPr lang="en-CN" sz="1600" b="1" dirty="0">
                <a:latin typeface="Microsoft YaHei UI" panose="020B0503020204020204" pitchFamily="34" charset="-122"/>
                <a:ea typeface="Microsoft YaHei UI" panose="020B0503020204020204" pitchFamily="34" charset="-122"/>
              </a:rPr>
              <a:t>Single-agent systems: </a:t>
            </a:r>
            <a:r>
              <a:rPr lang="en-CN" sz="1600" dirty="0">
                <a:latin typeface="Microsoft YaHei UI" panose="020B0503020204020204" pitchFamily="34" charset="-122"/>
                <a:ea typeface="Microsoft YaHei UI" panose="020B0503020204020204" pitchFamily="34" charset="-122"/>
              </a:rPr>
              <a:t>a single LLM interacts with tools in its environment to refine reasoning, actions, and perceptions.</a:t>
            </a:r>
          </a:p>
        </p:txBody>
      </p:sp>
      <p:sp>
        <p:nvSpPr>
          <p:cNvPr id="16" name="TextBox 15">
            <a:extLst>
              <a:ext uri="{FF2B5EF4-FFF2-40B4-BE49-F238E27FC236}">
                <a16:creationId xmlns:a16="http://schemas.microsoft.com/office/drawing/2014/main" id="{CDDC74B0-A930-7F46-6727-221A35368F13}"/>
              </a:ext>
            </a:extLst>
          </p:cNvPr>
          <p:cNvSpPr txBox="1"/>
          <p:nvPr/>
        </p:nvSpPr>
        <p:spPr>
          <a:xfrm>
            <a:off x="8986065" y="2846099"/>
            <a:ext cx="3141800" cy="1815882"/>
          </a:xfrm>
          <a:prstGeom prst="rect">
            <a:avLst/>
          </a:prstGeom>
          <a:noFill/>
        </p:spPr>
        <p:txBody>
          <a:bodyPr wrap="square">
            <a:spAutoFit/>
          </a:bodyPr>
          <a:lstStyle/>
          <a:p>
            <a:r>
              <a:rPr lang="en-CN" sz="1600" b="1" dirty="0">
                <a:latin typeface="Microsoft YaHei UI" panose="020B0503020204020204" pitchFamily="34" charset="-122"/>
                <a:ea typeface="Microsoft YaHei UI" panose="020B0503020204020204" pitchFamily="34" charset="-122"/>
              </a:rPr>
              <a:t>Multi-agent systems: </a:t>
            </a:r>
            <a:r>
              <a:rPr lang="en-CN" sz="1600" dirty="0">
                <a:latin typeface="Microsoft YaHei UI" panose="020B0503020204020204" pitchFamily="34" charset="-122"/>
                <a:ea typeface="Microsoft YaHei UI" panose="020B0503020204020204" pitchFamily="34" charset="-122"/>
              </a:rPr>
              <a:t>goes beyond agent-environment interactions by enabling agent-agent communication. Each agent takes on a distinct role and exchanges messages with others.</a:t>
            </a:r>
          </a:p>
        </p:txBody>
      </p:sp>
      <p:sp>
        <p:nvSpPr>
          <p:cNvPr id="2" name="TextBox 1">
            <a:extLst>
              <a:ext uri="{FF2B5EF4-FFF2-40B4-BE49-F238E27FC236}">
                <a16:creationId xmlns:a16="http://schemas.microsoft.com/office/drawing/2014/main" id="{ACBA9C1A-08B0-B62B-5910-83CA7BE83681}"/>
              </a:ext>
            </a:extLst>
          </p:cNvPr>
          <p:cNvSpPr txBox="1"/>
          <p:nvPr/>
        </p:nvSpPr>
        <p:spPr>
          <a:xfrm>
            <a:off x="297180" y="1059316"/>
            <a:ext cx="4329411" cy="430887"/>
          </a:xfrm>
          <a:prstGeom prst="rect">
            <a:avLst/>
          </a:prstGeom>
          <a:noFill/>
        </p:spPr>
        <p:txBody>
          <a:bodyPr wrap="square">
            <a:spAutoFit/>
          </a:bodyPr>
          <a:lstStyle/>
          <a:p>
            <a:r>
              <a:rPr lang="en-CN" sz="2200" dirty="0">
                <a:latin typeface="Microsoft YaHei UI" panose="020B0503020204020204" pitchFamily="34" charset="-122"/>
                <a:ea typeface="Microsoft YaHei UI" panose="020B0503020204020204" pitchFamily="34" charset="-122"/>
              </a:rPr>
              <a:t>Taxonomy of Agentic Systems </a:t>
            </a:r>
            <a:endParaRPr lang="en-CN" sz="2200" dirty="0"/>
          </a:p>
        </p:txBody>
      </p:sp>
    </p:spTree>
    <p:custDataLst>
      <p:tags r:id="rId1"/>
    </p:custDataLst>
    <p:extLst>
      <p:ext uri="{BB962C8B-B14F-4D97-AF65-F5344CB8AC3E}">
        <p14:creationId xmlns:p14="http://schemas.microsoft.com/office/powerpoint/2010/main" val="260980630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33CA-7090-A728-384F-4BDD0767E770}"/>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018A56C-B392-A829-42CD-F8D81E26F0E2}"/>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Architecture of Agentic System</a:t>
            </a:r>
          </a:p>
        </p:txBody>
      </p:sp>
      <p:pic>
        <p:nvPicPr>
          <p:cNvPr id="5" name="图片 1" descr="logo-en">
            <a:extLst>
              <a:ext uri="{FF2B5EF4-FFF2-40B4-BE49-F238E27FC236}">
                <a16:creationId xmlns:a16="http://schemas.microsoft.com/office/drawing/2014/main" id="{0349DDF0-5E21-3546-736A-45EC68B5A18A}"/>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33802495-EA5F-E372-5642-500CF3A6541F}"/>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2" name="TextBox 11">
            <a:extLst>
              <a:ext uri="{FF2B5EF4-FFF2-40B4-BE49-F238E27FC236}">
                <a16:creationId xmlns:a16="http://schemas.microsoft.com/office/drawing/2014/main" id="{005651A6-1E83-BD7D-E66F-04811E94ACFF}"/>
              </a:ext>
            </a:extLst>
          </p:cNvPr>
          <p:cNvSpPr txBox="1"/>
          <p:nvPr/>
        </p:nvSpPr>
        <p:spPr>
          <a:xfrm>
            <a:off x="160837" y="6281929"/>
            <a:ext cx="11967028" cy="461665"/>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Fang, </a:t>
            </a:r>
            <a:r>
              <a:rPr lang="en-US" dirty="0" err="1"/>
              <a:t>Jinyuan</a:t>
            </a:r>
            <a:r>
              <a:rPr lang="en-US" dirty="0"/>
              <a:t>, et al. "A comprehensive survey of self-evolving ai agents: A new paradigm bridging foundation models and lifelong agentic systems." </a:t>
            </a:r>
            <a:r>
              <a:rPr lang="en-US" dirty="0" err="1"/>
              <a:t>arXiv</a:t>
            </a:r>
            <a:r>
              <a:rPr lang="en-US" dirty="0"/>
              <a:t>. 2025.</a:t>
            </a:r>
          </a:p>
          <a:p>
            <a:r>
              <a:rPr lang="en-US" dirty="0"/>
              <a:t>Hong, </a:t>
            </a:r>
            <a:r>
              <a:rPr lang="en-US" dirty="0" err="1"/>
              <a:t>Sirui</a:t>
            </a:r>
            <a:r>
              <a:rPr lang="en-US" dirty="0"/>
              <a:t>, et al. "</a:t>
            </a:r>
            <a:r>
              <a:rPr lang="en-US" dirty="0" err="1"/>
              <a:t>MetaGPT</a:t>
            </a:r>
            <a:r>
              <a:rPr lang="en-US" dirty="0"/>
              <a:t>: Meta programming for a multi-agent collaborative framework." ICLR. 2023.</a:t>
            </a:r>
          </a:p>
        </p:txBody>
      </p:sp>
      <p:sp>
        <p:nvSpPr>
          <p:cNvPr id="2" name="文本框 9">
            <a:extLst>
              <a:ext uri="{FF2B5EF4-FFF2-40B4-BE49-F238E27FC236}">
                <a16:creationId xmlns:a16="http://schemas.microsoft.com/office/drawing/2014/main" id="{69DED5FA-1AD7-F6A5-4298-B710E278D7FF}"/>
              </a:ext>
            </a:extLst>
          </p:cNvPr>
          <p:cNvSpPr txBox="1"/>
          <p:nvPr/>
        </p:nvSpPr>
        <p:spPr>
          <a:xfrm>
            <a:off x="329386" y="901381"/>
            <a:ext cx="10570845" cy="1798249"/>
          </a:xfrm>
          <a:prstGeom prst="rect">
            <a:avLst/>
          </a:prstGeom>
          <a:noFill/>
        </p:spPr>
        <p:txBody>
          <a:bodyPr wrap="square" rtlCol="0">
            <a:spAutoFit/>
          </a:bodyPr>
          <a:lstStyle/>
          <a:p>
            <a:pPr algn="just">
              <a:lnSpc>
                <a:spcPct val="150000"/>
              </a:lnSpc>
            </a:pPr>
            <a:r>
              <a:rPr lang="en-US" sz="2200" dirty="0">
                <a:latin typeface="Microsoft YaHei UI" panose="020B0503020204020204" pitchFamily="34" charset="-122"/>
                <a:ea typeface="Microsoft YaHei UI" panose="020B0503020204020204" pitchFamily="34" charset="-122"/>
              </a:rPr>
              <a:t>Architectural Designs of Multi-Agent System (MAS)</a:t>
            </a:r>
          </a:p>
          <a:p>
            <a:pPr marL="285750" indent="-285750" algn="just">
              <a:lnSpc>
                <a:spcPct val="150000"/>
              </a:lnSpc>
              <a:buFont typeface="Arial" panose="020B0604020202020204" pitchFamily="34" charset="0"/>
              <a:buChar char="•"/>
            </a:pPr>
            <a:r>
              <a:rPr lang="en-US" b="1" dirty="0">
                <a:latin typeface="Microsoft YaHei UI" panose="020B0503020204020204" pitchFamily="34" charset="-122"/>
                <a:ea typeface="Microsoft YaHei UI" panose="020B0503020204020204" pitchFamily="34" charset="-122"/>
              </a:rPr>
              <a:t>Hierarchical Structure. </a:t>
            </a:r>
            <a:r>
              <a:rPr lang="en-US" dirty="0">
                <a:latin typeface="Microsoft YaHei UI" panose="020B0503020204020204" pitchFamily="34" charset="-122"/>
                <a:ea typeface="Microsoft YaHei UI" panose="020B0503020204020204" pitchFamily="34" charset="-122"/>
              </a:rPr>
              <a:t>These systems employ static hierarchical organizations, typically linear or tree</a:t>
            </a:r>
            <a:r>
              <a:rPr lang="en-US" altLang="zh-CN" dirty="0">
                <a:latin typeface="Microsoft YaHei UI" panose="020B0503020204020204" pitchFamily="34" charset="-122"/>
                <a:ea typeface="Microsoft YaHei UI" panose="020B0503020204020204" pitchFamily="34" charset="-122"/>
              </a:rPr>
              <a:t>-</a:t>
            </a:r>
            <a:r>
              <a:rPr lang="en-US" dirty="0">
                <a:latin typeface="Microsoft YaHei UI" panose="020B0503020204020204" pitchFamily="34" charset="-122"/>
                <a:ea typeface="Microsoft YaHei UI" panose="020B0503020204020204" pitchFamily="34" charset="-122"/>
              </a:rPr>
              <a:t>based, where tasks are explicitly decomposed and sequentially assigned to specific agents.</a:t>
            </a:r>
          </a:p>
        </p:txBody>
      </p:sp>
      <p:pic>
        <p:nvPicPr>
          <p:cNvPr id="13" name="Picture 12">
            <a:extLst>
              <a:ext uri="{FF2B5EF4-FFF2-40B4-BE49-F238E27FC236}">
                <a16:creationId xmlns:a16="http://schemas.microsoft.com/office/drawing/2014/main" id="{48C674BA-7EDC-3D5E-FD52-4EA8B56419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6663" y="2854420"/>
            <a:ext cx="6097818" cy="3407901"/>
          </a:xfrm>
          <a:prstGeom prst="rect">
            <a:avLst/>
          </a:prstGeom>
        </p:spPr>
      </p:pic>
      <p:sp>
        <p:nvSpPr>
          <p:cNvPr id="17" name="TextBox 16">
            <a:extLst>
              <a:ext uri="{FF2B5EF4-FFF2-40B4-BE49-F238E27FC236}">
                <a16:creationId xmlns:a16="http://schemas.microsoft.com/office/drawing/2014/main" id="{C14D55C4-A081-EDE8-979F-801A95ED48F9}"/>
              </a:ext>
            </a:extLst>
          </p:cNvPr>
          <p:cNvSpPr txBox="1"/>
          <p:nvPr/>
        </p:nvSpPr>
        <p:spPr>
          <a:xfrm>
            <a:off x="8088243" y="3804856"/>
            <a:ext cx="3386545" cy="1526636"/>
          </a:xfrm>
          <a:prstGeom prst="rect">
            <a:avLst/>
          </a:prstGeom>
          <a:noFill/>
        </p:spPr>
        <p:txBody>
          <a:bodyPr wrap="square">
            <a:spAutoFit/>
          </a:bodyPr>
          <a:lstStyle/>
          <a:p>
            <a:pPr>
              <a:lnSpc>
                <a:spcPct val="150000"/>
              </a:lnSpc>
            </a:pPr>
            <a:r>
              <a:rPr lang="en-CN" sz="1600" dirty="0">
                <a:latin typeface="Microsoft YaHei UI" panose="020B0503020204020204" pitchFamily="34" charset="-122"/>
                <a:ea typeface="Microsoft YaHei UI" panose="020B0503020204020204" pitchFamily="34" charset="-122"/>
              </a:rPr>
              <a:t>MetaGPT showcases its ability to decompose complex tasks into specific actionable procedures assigned to </a:t>
            </a:r>
            <a:r>
              <a:rPr lang="en-CN" sz="1600" dirty="0">
                <a:solidFill>
                  <a:srgbClr val="FF0000"/>
                </a:solidFill>
                <a:latin typeface="Microsoft YaHei UI" panose="020B0503020204020204" pitchFamily="34" charset="-122"/>
                <a:ea typeface="Microsoft YaHei UI" panose="020B0503020204020204" pitchFamily="34" charset="-122"/>
              </a:rPr>
              <a:t>various roles</a:t>
            </a:r>
            <a:r>
              <a:rPr lang="en-CN" sz="1600" dirty="0">
                <a:latin typeface="Microsoft YaHei UI" panose="020B0503020204020204" pitchFamily="34" charset="-122"/>
                <a:ea typeface="Microsoft YaHei UI" panose="020B0503020204020204" pitchFamily="34" charset="-122"/>
              </a:rPr>
              <a:t>.</a:t>
            </a:r>
          </a:p>
        </p:txBody>
      </p:sp>
      <p:sp>
        <p:nvSpPr>
          <p:cNvPr id="3" name="Rectangle 2">
            <a:extLst>
              <a:ext uri="{FF2B5EF4-FFF2-40B4-BE49-F238E27FC236}">
                <a16:creationId xmlns:a16="http://schemas.microsoft.com/office/drawing/2014/main" id="{793711D7-3E02-8367-22FB-1F66BC38F618}"/>
              </a:ext>
            </a:extLst>
          </p:cNvPr>
          <p:cNvSpPr/>
          <p:nvPr/>
        </p:nvSpPr>
        <p:spPr>
          <a:xfrm>
            <a:off x="3044545" y="3675202"/>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Rectangle 5">
            <a:extLst>
              <a:ext uri="{FF2B5EF4-FFF2-40B4-BE49-F238E27FC236}">
                <a16:creationId xmlns:a16="http://schemas.microsoft.com/office/drawing/2014/main" id="{511E5810-4E07-40CB-EE0F-132F3424F9E8}"/>
              </a:ext>
            </a:extLst>
          </p:cNvPr>
          <p:cNvSpPr/>
          <p:nvPr/>
        </p:nvSpPr>
        <p:spPr>
          <a:xfrm>
            <a:off x="3429252" y="4199245"/>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93F8868B-1B88-F1CC-7F7D-A6D7DE84CBAE}"/>
              </a:ext>
            </a:extLst>
          </p:cNvPr>
          <p:cNvSpPr/>
          <p:nvPr/>
        </p:nvSpPr>
        <p:spPr>
          <a:xfrm>
            <a:off x="3833729" y="4717824"/>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26736CF0-CEFA-7317-6A79-51053820392F}"/>
              </a:ext>
            </a:extLst>
          </p:cNvPr>
          <p:cNvSpPr/>
          <p:nvPr/>
        </p:nvSpPr>
        <p:spPr>
          <a:xfrm>
            <a:off x="4193723" y="5230783"/>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167D5789-D6CC-11C8-228E-BD6B5B61CC13}"/>
              </a:ext>
            </a:extLst>
          </p:cNvPr>
          <p:cNvSpPr/>
          <p:nvPr/>
        </p:nvSpPr>
        <p:spPr>
          <a:xfrm>
            <a:off x="4588316" y="5723970"/>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Curved Connector 13">
            <a:extLst>
              <a:ext uri="{FF2B5EF4-FFF2-40B4-BE49-F238E27FC236}">
                <a16:creationId xmlns:a16="http://schemas.microsoft.com/office/drawing/2014/main" id="{D86F7EDE-9D6B-16C1-25C8-8E2496D984E2}"/>
              </a:ext>
            </a:extLst>
          </p:cNvPr>
          <p:cNvCxnSpPr>
            <a:stCxn id="3" idx="3"/>
            <a:endCxn id="17" idx="1"/>
          </p:cNvCxnSpPr>
          <p:nvPr/>
        </p:nvCxnSpPr>
        <p:spPr>
          <a:xfrm>
            <a:off x="3940661" y="3775141"/>
            <a:ext cx="4147582" cy="793033"/>
          </a:xfrm>
          <a:prstGeom prst="curvedConnector3">
            <a:avLst>
              <a:gd name="adj1" fmla="val 5858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9EF790BB-03C7-B671-3C27-1B7F7FA5C438}"/>
              </a:ext>
            </a:extLst>
          </p:cNvPr>
          <p:cNvCxnSpPr>
            <a:cxnSpLocks/>
            <a:stCxn id="6" idx="3"/>
            <a:endCxn id="17" idx="1"/>
          </p:cNvCxnSpPr>
          <p:nvPr/>
        </p:nvCxnSpPr>
        <p:spPr>
          <a:xfrm>
            <a:off x="4325368" y="4299184"/>
            <a:ext cx="3762875" cy="268990"/>
          </a:xfrm>
          <a:prstGeom prst="curvedConnector3">
            <a:avLst>
              <a:gd name="adj1" fmla="val 5195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a:extLst>
              <a:ext uri="{FF2B5EF4-FFF2-40B4-BE49-F238E27FC236}">
                <a16:creationId xmlns:a16="http://schemas.microsoft.com/office/drawing/2014/main" id="{1B2A970F-C6A4-AFE2-603E-C78E0E505790}"/>
              </a:ext>
            </a:extLst>
          </p:cNvPr>
          <p:cNvCxnSpPr>
            <a:cxnSpLocks/>
            <a:stCxn id="7" idx="3"/>
            <a:endCxn id="17" idx="1"/>
          </p:cNvCxnSpPr>
          <p:nvPr/>
        </p:nvCxnSpPr>
        <p:spPr>
          <a:xfrm flipV="1">
            <a:off x="4729845" y="4568174"/>
            <a:ext cx="3358398" cy="249589"/>
          </a:xfrm>
          <a:prstGeom prst="curvedConnector3">
            <a:avLst>
              <a:gd name="adj1" fmla="val 5219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FA380709-E97C-C667-2098-5E537B5FC5E1}"/>
              </a:ext>
            </a:extLst>
          </p:cNvPr>
          <p:cNvCxnSpPr>
            <a:cxnSpLocks/>
            <a:stCxn id="8" idx="3"/>
            <a:endCxn id="17" idx="1"/>
          </p:cNvCxnSpPr>
          <p:nvPr/>
        </p:nvCxnSpPr>
        <p:spPr>
          <a:xfrm flipV="1">
            <a:off x="5089839" y="4568174"/>
            <a:ext cx="2998404" cy="762548"/>
          </a:xfrm>
          <a:prstGeom prst="curvedConnector3">
            <a:avLst>
              <a:gd name="adj1" fmla="val 4201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0D017F77-815F-7960-EE81-0A254E59E4D3}"/>
              </a:ext>
            </a:extLst>
          </p:cNvPr>
          <p:cNvCxnSpPr>
            <a:cxnSpLocks/>
            <a:stCxn id="10" idx="3"/>
            <a:endCxn id="17" idx="1"/>
          </p:cNvCxnSpPr>
          <p:nvPr/>
        </p:nvCxnSpPr>
        <p:spPr>
          <a:xfrm flipV="1">
            <a:off x="5484432" y="4568174"/>
            <a:ext cx="2603811" cy="1255735"/>
          </a:xfrm>
          <a:prstGeom prst="curvedConnector3">
            <a:avLst>
              <a:gd name="adj1" fmla="val 3350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34C5D8C-DFCF-D723-8BAB-65D116CA2F52}"/>
              </a:ext>
            </a:extLst>
          </p:cNvPr>
          <p:cNvSpPr txBox="1"/>
          <p:nvPr/>
        </p:nvSpPr>
        <p:spPr>
          <a:xfrm>
            <a:off x="8088243" y="3242406"/>
            <a:ext cx="2811988" cy="369332"/>
          </a:xfrm>
          <a:prstGeom prst="rect">
            <a:avLst/>
          </a:prstGeom>
          <a:noFill/>
        </p:spPr>
        <p:txBody>
          <a:bodyPr wrap="none" rtlCol="0">
            <a:spAutoFit/>
          </a:bodyPr>
          <a:lstStyle/>
          <a:p>
            <a:r>
              <a:rPr lang="en-US" altLang="zh-CN">
                <a:latin typeface="Microsoft YaHei UI" panose="020B0503020204020204" pitchFamily="34" charset="-122"/>
                <a:ea typeface="Microsoft YaHei UI" panose="020B0503020204020204" pitchFamily="34" charset="-122"/>
              </a:rPr>
              <a:t>Example:</a:t>
            </a:r>
            <a:r>
              <a:rPr lang="zh-CN" altLang="en-US">
                <a:latin typeface="Microsoft YaHei UI" panose="020B0503020204020204" pitchFamily="34" charset="-122"/>
                <a:ea typeface="Microsoft YaHei UI" panose="020B0503020204020204" pitchFamily="34" charset="-122"/>
              </a:rPr>
              <a:t> </a:t>
            </a:r>
            <a:r>
              <a:rPr lang="en-CN">
                <a:latin typeface="Microsoft YaHei UI" panose="020B0503020204020204" pitchFamily="34" charset="-122"/>
                <a:ea typeface="Microsoft YaHei UI" panose="020B0503020204020204" pitchFamily="34" charset="-122"/>
              </a:rPr>
              <a:t>Cod</a:t>
            </a:r>
            <a:r>
              <a:rPr lang="en-US" altLang="zh-CN">
                <a:latin typeface="Microsoft YaHei UI" panose="020B0503020204020204" pitchFamily="34" charset="-122"/>
                <a:ea typeface="Microsoft YaHei UI" panose="020B0503020204020204" pitchFamily="34" charset="-122"/>
              </a:rPr>
              <a:t>ing</a:t>
            </a:r>
            <a:r>
              <a:rPr lang="zh-CN" altLang="en-US">
                <a:latin typeface="Microsoft YaHei UI" panose="020B0503020204020204" pitchFamily="34" charset="-122"/>
                <a:ea typeface="Microsoft YaHei UI" panose="020B0503020204020204" pitchFamily="34" charset="-122"/>
              </a:rPr>
              <a:t> </a:t>
            </a:r>
            <a:r>
              <a:rPr lang="en-US" altLang="zh-CN">
                <a:latin typeface="Microsoft YaHei UI" panose="020B0503020204020204" pitchFamily="34" charset="-122"/>
                <a:ea typeface="Microsoft YaHei UI" panose="020B0503020204020204" pitchFamily="34" charset="-122"/>
              </a:rPr>
              <a:t>agent</a:t>
            </a:r>
            <a:r>
              <a:rPr lang="zh-CN" altLang="en-US">
                <a:latin typeface="Microsoft YaHei UI" panose="020B0503020204020204" pitchFamily="34" charset="-122"/>
                <a:ea typeface="Microsoft YaHei UI" panose="020B0503020204020204" pitchFamily="34" charset="-122"/>
              </a:rPr>
              <a:t> </a:t>
            </a:r>
            <a:endParaRPr lang="en-CN">
              <a:latin typeface="Microsoft YaHei UI" panose="020B0503020204020204" pitchFamily="34" charset="-122"/>
              <a:ea typeface="Microsoft YaHei UI" panose="020B0503020204020204" pitchFamily="34" charset="-122"/>
            </a:endParaRPr>
          </a:p>
        </p:txBody>
      </p:sp>
    </p:spTree>
    <p:custDataLst>
      <p:tags r:id="rId1"/>
    </p:custDataLst>
    <p:extLst>
      <p:ext uri="{BB962C8B-B14F-4D97-AF65-F5344CB8AC3E}">
        <p14:creationId xmlns:p14="http://schemas.microsoft.com/office/powerpoint/2010/main" val="433836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F868E-AC06-6476-8C4D-E1849B77AC57}"/>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EDBDD27-EDB1-6742-DB56-17B5A16DB73E}"/>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Architecture of Agentic System</a:t>
            </a:r>
          </a:p>
        </p:txBody>
      </p:sp>
      <p:pic>
        <p:nvPicPr>
          <p:cNvPr id="5" name="图片 1" descr="logo-en">
            <a:extLst>
              <a:ext uri="{FF2B5EF4-FFF2-40B4-BE49-F238E27FC236}">
                <a16:creationId xmlns:a16="http://schemas.microsoft.com/office/drawing/2014/main" id="{69391F7E-A1AC-2CE4-2A8C-26675937B9EC}"/>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911E9B6E-6BB3-7B3A-7885-21EB20AD7CAC}"/>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2" name="TextBox 11">
            <a:extLst>
              <a:ext uri="{FF2B5EF4-FFF2-40B4-BE49-F238E27FC236}">
                <a16:creationId xmlns:a16="http://schemas.microsoft.com/office/drawing/2014/main" id="{863E5627-6DDE-C2A1-4E09-6F9D3AE58EC4}"/>
              </a:ext>
            </a:extLst>
          </p:cNvPr>
          <p:cNvSpPr txBox="1"/>
          <p:nvPr/>
        </p:nvSpPr>
        <p:spPr>
          <a:xfrm>
            <a:off x="160837" y="6466595"/>
            <a:ext cx="10132694"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pPr lvl="0">
              <a:defRPr/>
            </a:pPr>
            <a:r>
              <a:rPr lang="en-US" dirty="0"/>
              <a:t>Fourney, Adam, et al. "</a:t>
            </a:r>
            <a:r>
              <a:rPr lang="en-US" dirty="0" err="1"/>
              <a:t>Magentic</a:t>
            </a:r>
            <a:r>
              <a:rPr lang="en-US" dirty="0"/>
              <a:t>-one: A generalist multi-agent system for solving complex tasks." </a:t>
            </a:r>
            <a:r>
              <a:rPr lang="en-US" i="1" dirty="0" err="1"/>
              <a:t>arXiv</a:t>
            </a:r>
            <a:r>
              <a:rPr lang="en-US" i="1" dirty="0"/>
              <a:t> preprint arXiv:2411.04468</a:t>
            </a:r>
            <a:r>
              <a:rPr lang="en-US" dirty="0"/>
              <a:t> (2024).</a:t>
            </a:r>
          </a:p>
        </p:txBody>
      </p:sp>
      <p:sp>
        <p:nvSpPr>
          <p:cNvPr id="2" name="文本框 9">
            <a:extLst>
              <a:ext uri="{FF2B5EF4-FFF2-40B4-BE49-F238E27FC236}">
                <a16:creationId xmlns:a16="http://schemas.microsoft.com/office/drawing/2014/main" id="{6D1C8F08-60BD-2FA0-C219-C3C1EE9316B5}"/>
              </a:ext>
            </a:extLst>
          </p:cNvPr>
          <p:cNvSpPr txBox="1"/>
          <p:nvPr/>
        </p:nvSpPr>
        <p:spPr>
          <a:xfrm>
            <a:off x="441015" y="927700"/>
            <a:ext cx="10570845" cy="1798249"/>
          </a:xfrm>
          <a:prstGeom prst="rect">
            <a:avLst/>
          </a:prstGeom>
          <a:noFill/>
        </p:spPr>
        <p:txBody>
          <a:bodyPr wrap="square" rtlCol="0">
            <a:spAutoFit/>
          </a:bodyPr>
          <a:lstStyle/>
          <a:p>
            <a:pPr algn="just">
              <a:lnSpc>
                <a:spcPct val="150000"/>
              </a:lnSpc>
            </a:pPr>
            <a:r>
              <a:rPr lang="en-US" sz="2200" dirty="0">
                <a:latin typeface="Microsoft YaHei UI" panose="020B0503020204020204" pitchFamily="34" charset="-122"/>
                <a:ea typeface="Microsoft YaHei UI" panose="020B0503020204020204" pitchFamily="34" charset="-122"/>
              </a:rPr>
              <a:t>Architectural Designs of Multi-Agent System (MAS)</a:t>
            </a:r>
          </a:p>
          <a:p>
            <a:pPr marL="285750" indent="-285750" algn="just">
              <a:lnSpc>
                <a:spcPct val="150000"/>
              </a:lnSpc>
              <a:buFont typeface="Arial" panose="020B0604020202020204" pitchFamily="34" charset="0"/>
              <a:buChar char="•"/>
            </a:pPr>
            <a:r>
              <a:rPr lang="en-US" b="1" dirty="0">
                <a:latin typeface="Microsoft YaHei UI" panose="020B0503020204020204" pitchFamily="34" charset="-122"/>
                <a:ea typeface="Microsoft YaHei UI" panose="020B0503020204020204" pitchFamily="34" charset="-122"/>
              </a:rPr>
              <a:t>Centralized Structure. </a:t>
            </a:r>
            <a:r>
              <a:rPr lang="en-US" dirty="0">
                <a:latin typeface="Microsoft YaHei UI" panose="020B0503020204020204" pitchFamily="34" charset="-122"/>
                <a:ea typeface="Microsoft YaHei UI" panose="020B0503020204020204" pitchFamily="34" charset="-122"/>
              </a:rPr>
              <a:t>This architecture follows </a:t>
            </a:r>
            <a:r>
              <a:rPr lang="en-US" b="1" dirty="0">
                <a:latin typeface="Microsoft YaHei UI" panose="020B0503020204020204" pitchFamily="34" charset="-122"/>
                <a:ea typeface="Microsoft YaHei UI" panose="020B0503020204020204" pitchFamily="34" charset="-122"/>
              </a:rPr>
              <a:t>a manager-follower </a:t>
            </a:r>
            <a:r>
              <a:rPr lang="en-US" dirty="0">
                <a:latin typeface="Microsoft YaHei UI" panose="020B0503020204020204" pitchFamily="34" charset="-122"/>
                <a:ea typeface="Microsoft YaHei UI" panose="020B0503020204020204" pitchFamily="34" charset="-122"/>
              </a:rPr>
              <a:t>paradigm where a central agent or higher-level coordinator handles planning, task decomposition, and delegation, while subordinate agents execute assigned subtasks.</a:t>
            </a:r>
          </a:p>
        </p:txBody>
      </p:sp>
      <p:pic>
        <p:nvPicPr>
          <p:cNvPr id="8" name="Picture 7">
            <a:extLst>
              <a:ext uri="{FF2B5EF4-FFF2-40B4-BE49-F238E27FC236}">
                <a16:creationId xmlns:a16="http://schemas.microsoft.com/office/drawing/2014/main" id="{808DAF94-0517-819C-A1BE-19BA7A04AB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15843" y="2854420"/>
            <a:ext cx="3914841" cy="3362025"/>
          </a:xfrm>
          <a:prstGeom prst="rect">
            <a:avLst/>
          </a:prstGeom>
        </p:spPr>
      </p:pic>
      <p:sp>
        <p:nvSpPr>
          <p:cNvPr id="11" name="TextBox 10">
            <a:extLst>
              <a:ext uri="{FF2B5EF4-FFF2-40B4-BE49-F238E27FC236}">
                <a16:creationId xmlns:a16="http://schemas.microsoft.com/office/drawing/2014/main" id="{FFBA3D4B-87D2-C65C-B542-55C4534D6533}"/>
              </a:ext>
            </a:extLst>
          </p:cNvPr>
          <p:cNvSpPr txBox="1"/>
          <p:nvPr/>
        </p:nvSpPr>
        <p:spPr>
          <a:xfrm>
            <a:off x="7803721" y="3711071"/>
            <a:ext cx="3914841" cy="1157305"/>
          </a:xfrm>
          <a:prstGeom prst="rect">
            <a:avLst/>
          </a:prstGeom>
          <a:noFill/>
        </p:spPr>
        <p:txBody>
          <a:bodyPr wrap="square">
            <a:spAutoFit/>
          </a:bodyPr>
          <a:lstStyle/>
          <a:p>
            <a:pPr>
              <a:lnSpc>
                <a:spcPct val="150000"/>
              </a:lnSpc>
            </a:pPr>
            <a:r>
              <a:rPr lang="en-CN" sz="1600" b="1" dirty="0">
                <a:solidFill>
                  <a:srgbClr val="FF0000"/>
                </a:solidFill>
                <a:latin typeface="Microsoft YaHei UI" panose="020B0503020204020204" pitchFamily="34" charset="-122"/>
                <a:ea typeface="Microsoft YaHei UI" panose="020B0503020204020204" pitchFamily="34" charset="-122"/>
              </a:rPr>
              <a:t>The inner loop </a:t>
            </a:r>
            <a:r>
              <a:rPr lang="en-CN" sz="1600" dirty="0">
                <a:latin typeface="Microsoft YaHei UI" panose="020B0503020204020204" pitchFamily="34" charset="-122"/>
                <a:ea typeface="Microsoft YaHei UI" panose="020B0503020204020204" pitchFamily="34" charset="-122"/>
              </a:rPr>
              <a:t>manages the progress ledger, containing current progress, task assignment to agents.</a:t>
            </a:r>
          </a:p>
        </p:txBody>
      </p:sp>
      <p:sp>
        <p:nvSpPr>
          <p:cNvPr id="3" name="TextBox 2">
            <a:extLst>
              <a:ext uri="{FF2B5EF4-FFF2-40B4-BE49-F238E27FC236}">
                <a16:creationId xmlns:a16="http://schemas.microsoft.com/office/drawing/2014/main" id="{B1985DF7-C83F-0709-2FF2-2315DD0DED5E}"/>
              </a:ext>
            </a:extLst>
          </p:cNvPr>
          <p:cNvSpPr txBox="1"/>
          <p:nvPr/>
        </p:nvSpPr>
        <p:spPr>
          <a:xfrm>
            <a:off x="441015" y="3711071"/>
            <a:ext cx="2901791" cy="1157305"/>
          </a:xfrm>
          <a:prstGeom prst="rect">
            <a:avLst/>
          </a:prstGeom>
          <a:noFill/>
        </p:spPr>
        <p:txBody>
          <a:bodyPr wrap="square">
            <a:spAutoFit/>
          </a:bodyPr>
          <a:lstStyle/>
          <a:p>
            <a:pPr>
              <a:lnSpc>
                <a:spcPct val="150000"/>
              </a:lnSpc>
            </a:pPr>
            <a:r>
              <a:rPr lang="en-CN" sz="1600" b="1" dirty="0">
                <a:latin typeface="Microsoft YaHei UI" panose="020B0503020204020204" pitchFamily="34" charset="-122"/>
                <a:ea typeface="Microsoft YaHei UI" panose="020B0503020204020204" pitchFamily="34" charset="-122"/>
              </a:rPr>
              <a:t>The outer loop </a:t>
            </a:r>
            <a:r>
              <a:rPr lang="en-CN" sz="1600" dirty="0">
                <a:latin typeface="Microsoft YaHei UI" panose="020B0503020204020204" pitchFamily="34" charset="-122"/>
                <a:ea typeface="Microsoft YaHei UI" panose="020B0503020204020204" pitchFamily="34" charset="-122"/>
              </a:rPr>
              <a:t>manages the task ledger, containing facts, guesses, and plan. </a:t>
            </a:r>
          </a:p>
        </p:txBody>
      </p:sp>
      <p:sp>
        <p:nvSpPr>
          <p:cNvPr id="6" name="Rectangle 5">
            <a:extLst>
              <a:ext uri="{FF2B5EF4-FFF2-40B4-BE49-F238E27FC236}">
                <a16:creationId xmlns:a16="http://schemas.microsoft.com/office/drawing/2014/main" id="{644B359F-38AE-6671-67B7-3A1C75C0EF79}"/>
              </a:ext>
            </a:extLst>
          </p:cNvPr>
          <p:cNvSpPr/>
          <p:nvPr/>
        </p:nvSpPr>
        <p:spPr>
          <a:xfrm>
            <a:off x="3755036" y="3429000"/>
            <a:ext cx="1626433" cy="172144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BD3E6E0D-71FF-5F01-5E0F-9F4A443543E6}"/>
              </a:ext>
            </a:extLst>
          </p:cNvPr>
          <p:cNvSpPr/>
          <p:nvPr/>
        </p:nvSpPr>
        <p:spPr>
          <a:xfrm>
            <a:off x="5415196" y="3429000"/>
            <a:ext cx="1944974" cy="172144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3" name="Straight Arrow Connector 12">
            <a:extLst>
              <a:ext uri="{FF2B5EF4-FFF2-40B4-BE49-F238E27FC236}">
                <a16:creationId xmlns:a16="http://schemas.microsoft.com/office/drawing/2014/main" id="{D9614757-FF4A-C13D-2325-9557F0EA1708}"/>
              </a:ext>
            </a:extLst>
          </p:cNvPr>
          <p:cNvCxnSpPr>
            <a:stCxn id="6" idx="1"/>
            <a:endCxn id="3" idx="3"/>
          </p:cNvCxnSpPr>
          <p:nvPr/>
        </p:nvCxnSpPr>
        <p:spPr>
          <a:xfrm flipH="1" flipV="1">
            <a:off x="3342806" y="4289724"/>
            <a:ext cx="41223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69BAFE8-C354-DA9D-D1E3-D79A9A0AE02F}"/>
              </a:ext>
            </a:extLst>
          </p:cNvPr>
          <p:cNvCxnSpPr>
            <a:cxnSpLocks/>
            <a:stCxn id="7" idx="3"/>
            <a:endCxn id="11" idx="1"/>
          </p:cNvCxnSpPr>
          <p:nvPr/>
        </p:nvCxnSpPr>
        <p:spPr>
          <a:xfrm flipV="1">
            <a:off x="7360170" y="4289724"/>
            <a:ext cx="443551"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390805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2A2DF-FD39-DB42-A33C-4F816A86832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DD40ADEB-3A02-FA76-728D-3DE9ADA1A295}"/>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Architecture of Agentic System</a:t>
            </a:r>
          </a:p>
        </p:txBody>
      </p:sp>
      <p:pic>
        <p:nvPicPr>
          <p:cNvPr id="5" name="图片 1" descr="logo-en">
            <a:extLst>
              <a:ext uri="{FF2B5EF4-FFF2-40B4-BE49-F238E27FC236}">
                <a16:creationId xmlns:a16="http://schemas.microsoft.com/office/drawing/2014/main" id="{2EABF317-FD33-664C-2171-523829E79393}"/>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BB53FB0C-2B3D-CD9A-0A30-5F8DA4FC4A1B}"/>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12" name="TextBox 11">
            <a:extLst>
              <a:ext uri="{FF2B5EF4-FFF2-40B4-BE49-F238E27FC236}">
                <a16:creationId xmlns:a16="http://schemas.microsoft.com/office/drawing/2014/main" id="{9871FF78-9B71-4989-51F7-EB4BF34E6621}"/>
              </a:ext>
            </a:extLst>
          </p:cNvPr>
          <p:cNvSpPr txBox="1"/>
          <p:nvPr/>
        </p:nvSpPr>
        <p:spPr>
          <a:xfrm>
            <a:off x="160836" y="6466595"/>
            <a:ext cx="11060157" cy="276999"/>
          </a:xfrm>
          <a:prstGeom prst="rect">
            <a:avLst/>
          </a:prstGeom>
          <a:noFill/>
        </p:spPr>
        <p:txBody>
          <a:bodyPr wrap="square" rtlCol="0">
            <a:spAutoFit/>
          </a:bodyPr>
          <a:lstStyle>
            <a:defPPr>
              <a:defRPr lang="zh-CN"/>
            </a:defPPr>
            <a:lvl1pPr>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pPr lvl="0">
              <a:defRPr/>
            </a:pPr>
            <a:r>
              <a:rPr lang="en-US" dirty="0"/>
              <a:t>Yang, Yingxuan, et al. "</a:t>
            </a:r>
            <a:r>
              <a:rPr lang="en-US" dirty="0" err="1"/>
              <a:t>Agentnet</a:t>
            </a:r>
            <a:r>
              <a:rPr lang="en-US" dirty="0"/>
              <a:t>: Decentralized evolutionary coordination for </a:t>
            </a:r>
            <a:r>
              <a:rPr lang="en-US" dirty="0" err="1"/>
              <a:t>llm</a:t>
            </a:r>
            <a:r>
              <a:rPr lang="en-US" dirty="0"/>
              <a:t>-based multi-agent systems." </a:t>
            </a:r>
            <a:r>
              <a:rPr lang="en-US" i="1" dirty="0" err="1"/>
              <a:t>arXiv</a:t>
            </a:r>
            <a:r>
              <a:rPr lang="en-US" i="1" dirty="0"/>
              <a:t> preprint arXiv:2504.00587</a:t>
            </a:r>
            <a:r>
              <a:rPr lang="en-US" dirty="0"/>
              <a:t> (2025).</a:t>
            </a:r>
          </a:p>
        </p:txBody>
      </p:sp>
      <p:sp>
        <p:nvSpPr>
          <p:cNvPr id="2" name="文本框 9">
            <a:extLst>
              <a:ext uri="{FF2B5EF4-FFF2-40B4-BE49-F238E27FC236}">
                <a16:creationId xmlns:a16="http://schemas.microsoft.com/office/drawing/2014/main" id="{D9BDFCA7-C599-B38D-70C2-A02A33627203}"/>
              </a:ext>
            </a:extLst>
          </p:cNvPr>
          <p:cNvSpPr txBox="1"/>
          <p:nvPr/>
        </p:nvSpPr>
        <p:spPr>
          <a:xfrm>
            <a:off x="378212" y="1056171"/>
            <a:ext cx="10570845" cy="1798249"/>
          </a:xfrm>
          <a:prstGeom prst="rect">
            <a:avLst/>
          </a:prstGeom>
          <a:noFill/>
        </p:spPr>
        <p:txBody>
          <a:bodyPr wrap="square" rtlCol="0">
            <a:spAutoFit/>
          </a:bodyPr>
          <a:lstStyle/>
          <a:p>
            <a:pPr algn="just">
              <a:lnSpc>
                <a:spcPct val="150000"/>
              </a:lnSpc>
            </a:pPr>
            <a:r>
              <a:rPr lang="en-US" sz="2200" dirty="0">
                <a:latin typeface="Microsoft YaHei UI" panose="020B0503020204020204" pitchFamily="34" charset="-122"/>
                <a:ea typeface="Microsoft YaHei UI" panose="020B0503020204020204" pitchFamily="34" charset="-122"/>
              </a:rPr>
              <a:t>The Architectural Design of Multi-Agent System (MAS)</a:t>
            </a:r>
          </a:p>
          <a:p>
            <a:pPr marL="285750" indent="-285750" algn="just">
              <a:lnSpc>
                <a:spcPct val="150000"/>
              </a:lnSpc>
              <a:buFont typeface="Arial" panose="020B0604020202020204" pitchFamily="34" charset="0"/>
              <a:buChar char="•"/>
            </a:pPr>
            <a:r>
              <a:rPr lang="en-US" b="1" dirty="0">
                <a:latin typeface="Microsoft YaHei UI" panose="020B0503020204020204" pitchFamily="34" charset="-122"/>
                <a:ea typeface="Microsoft YaHei UI" panose="020B0503020204020204" pitchFamily="34" charset="-122"/>
              </a:rPr>
              <a:t>Decentralized Structure. </a:t>
            </a:r>
            <a:r>
              <a:rPr lang="en-US" dirty="0">
                <a:latin typeface="Microsoft YaHei UI" panose="020B0503020204020204" pitchFamily="34" charset="-122"/>
                <a:ea typeface="Microsoft YaHei UI" panose="020B0503020204020204" pitchFamily="34" charset="-122"/>
              </a:rPr>
              <a:t>In this architecture, agents collaborate as peers in a distributed network, widely adopted in world simulation applications, which prevents single-point failures—damage to any node does not paralyze the entire system.</a:t>
            </a:r>
          </a:p>
        </p:txBody>
      </p:sp>
      <p:pic>
        <p:nvPicPr>
          <p:cNvPr id="10" name="Picture 9">
            <a:extLst>
              <a:ext uri="{FF2B5EF4-FFF2-40B4-BE49-F238E27FC236}">
                <a16:creationId xmlns:a16="http://schemas.microsoft.com/office/drawing/2014/main" id="{3A350651-E825-8B63-6036-6C4E00594C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1454" y="2888844"/>
            <a:ext cx="8570120" cy="3273620"/>
          </a:xfrm>
          <a:prstGeom prst="rect">
            <a:avLst/>
          </a:prstGeom>
        </p:spPr>
      </p:pic>
    </p:spTree>
    <p:custDataLst>
      <p:tags r:id="rId1"/>
    </p:custDataLst>
    <p:extLst>
      <p:ext uri="{BB962C8B-B14F-4D97-AF65-F5344CB8AC3E}">
        <p14:creationId xmlns:p14="http://schemas.microsoft.com/office/powerpoint/2010/main" val="164890444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34C57-3EA5-B864-67A8-812F43D0B78D}"/>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63D363E9-B4CD-5E6E-981F-459666957148}"/>
              </a:ext>
            </a:extLst>
          </p:cNvPr>
          <p:cNvSpPr txBox="1"/>
          <p:nvPr/>
        </p:nvSpPr>
        <p:spPr>
          <a:xfrm>
            <a:off x="164123" y="114406"/>
            <a:ext cx="6345859" cy="52322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Industry Efforts in Agentic System</a:t>
            </a:r>
          </a:p>
        </p:txBody>
      </p:sp>
      <p:pic>
        <p:nvPicPr>
          <p:cNvPr id="5" name="图片 1" descr="logo-en">
            <a:extLst>
              <a:ext uri="{FF2B5EF4-FFF2-40B4-BE49-F238E27FC236}">
                <a16:creationId xmlns:a16="http://schemas.microsoft.com/office/drawing/2014/main" id="{1BB33DD8-02F0-518D-7D70-31ABA305190A}"/>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740B890F-C0F8-D755-6D6C-A578A5B74363}"/>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2" name="文本框 9">
            <a:extLst>
              <a:ext uri="{FF2B5EF4-FFF2-40B4-BE49-F238E27FC236}">
                <a16:creationId xmlns:a16="http://schemas.microsoft.com/office/drawing/2014/main" id="{008DCC10-977F-7B88-8387-977A1B1C454C}"/>
              </a:ext>
            </a:extLst>
          </p:cNvPr>
          <p:cNvSpPr txBox="1"/>
          <p:nvPr/>
        </p:nvSpPr>
        <p:spPr>
          <a:xfrm>
            <a:off x="2659517" y="1560477"/>
            <a:ext cx="1355069" cy="459485"/>
          </a:xfrm>
          <a:prstGeom prst="rect">
            <a:avLst/>
          </a:prstGeom>
          <a:noFill/>
        </p:spPr>
        <p:txBody>
          <a:bodyPr wrap="square" rtlCol="0">
            <a:spAutoFit/>
          </a:bodyPr>
          <a:lstStyle/>
          <a:p>
            <a:pPr algn="just">
              <a:lnSpc>
                <a:spcPct val="150000"/>
              </a:lnSpc>
            </a:pPr>
            <a:r>
              <a:rPr lang="en-US" dirty="0">
                <a:latin typeface="Microsoft YaHei UI" panose="020B0503020204020204" pitchFamily="34" charset="-122"/>
                <a:ea typeface="Microsoft YaHei UI" panose="020B0503020204020204" pitchFamily="34" charset="-122"/>
              </a:rPr>
              <a:t>Microsoft</a:t>
            </a:r>
          </a:p>
        </p:txBody>
      </p:sp>
      <p:sp>
        <p:nvSpPr>
          <p:cNvPr id="6" name="文本框 9">
            <a:extLst>
              <a:ext uri="{FF2B5EF4-FFF2-40B4-BE49-F238E27FC236}">
                <a16:creationId xmlns:a16="http://schemas.microsoft.com/office/drawing/2014/main" id="{A05A37B8-B323-0BD3-6774-53154C6A6379}"/>
              </a:ext>
            </a:extLst>
          </p:cNvPr>
          <p:cNvSpPr txBox="1"/>
          <p:nvPr/>
        </p:nvSpPr>
        <p:spPr>
          <a:xfrm>
            <a:off x="8300930" y="1560476"/>
            <a:ext cx="1093487" cy="459485"/>
          </a:xfrm>
          <a:prstGeom prst="rect">
            <a:avLst/>
          </a:prstGeom>
          <a:noFill/>
        </p:spPr>
        <p:txBody>
          <a:bodyPr wrap="square" rtlCol="0">
            <a:spAutoFit/>
          </a:bodyPr>
          <a:lstStyle/>
          <a:p>
            <a:pPr algn="just">
              <a:lnSpc>
                <a:spcPct val="150000"/>
              </a:lnSpc>
            </a:pPr>
            <a:r>
              <a:rPr lang="en-US" dirty="0">
                <a:latin typeface="Microsoft YaHei UI" panose="020B0503020204020204" pitchFamily="34" charset="-122"/>
                <a:ea typeface="Microsoft YaHei UI" panose="020B0503020204020204" pitchFamily="34" charset="-122"/>
              </a:rPr>
              <a:t>Google</a:t>
            </a:r>
          </a:p>
        </p:txBody>
      </p:sp>
      <p:pic>
        <p:nvPicPr>
          <p:cNvPr id="11" name="Picture 10">
            <a:extLst>
              <a:ext uri="{FF2B5EF4-FFF2-40B4-BE49-F238E27FC236}">
                <a16:creationId xmlns:a16="http://schemas.microsoft.com/office/drawing/2014/main" id="{B4E98878-22DD-2A32-BCF7-242CC8FFB9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0149" y="2154072"/>
            <a:ext cx="4435051" cy="3075809"/>
          </a:xfrm>
          <a:prstGeom prst="rect">
            <a:avLst/>
          </a:prstGeom>
        </p:spPr>
      </p:pic>
      <p:pic>
        <p:nvPicPr>
          <p:cNvPr id="1026" name="Picture 2" descr="AutoGen Landing">
            <a:extLst>
              <a:ext uri="{FF2B5EF4-FFF2-40B4-BE49-F238E27FC236}">
                <a16:creationId xmlns:a16="http://schemas.microsoft.com/office/drawing/2014/main" id="{E76473D9-6937-E942-16F0-090C2D0FE2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737" y="2154072"/>
            <a:ext cx="4877708" cy="323632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6D8B77C-4BE6-3064-7AAB-9038BECC3D5A}"/>
              </a:ext>
            </a:extLst>
          </p:cNvPr>
          <p:cNvSpPr txBox="1"/>
          <p:nvPr/>
        </p:nvSpPr>
        <p:spPr>
          <a:xfrm>
            <a:off x="866446" y="5524504"/>
            <a:ext cx="4941209" cy="830997"/>
          </a:xfrm>
          <a:prstGeom prst="rect">
            <a:avLst/>
          </a:prstGeom>
          <a:noFill/>
        </p:spPr>
        <p:txBody>
          <a:bodyPr wrap="square">
            <a:spAutoFit/>
          </a:bodyPr>
          <a:lstStyle/>
          <a:p>
            <a:r>
              <a:rPr lang="en-US" sz="1600" b="1" i="0" dirty="0" err="1">
                <a:solidFill>
                  <a:srgbClr val="1F2328"/>
                </a:solidFill>
                <a:effectLst/>
                <a:latin typeface="Microsoft YaHei UI" panose="020B0503020204020204" pitchFamily="34" charset="-122"/>
                <a:ea typeface="Microsoft YaHei UI" panose="020B0503020204020204" pitchFamily="34" charset="-122"/>
              </a:rPr>
              <a:t>AutoGen</a:t>
            </a:r>
            <a:r>
              <a:rPr lang="en-US" sz="1600" b="0" i="0" dirty="0">
                <a:solidFill>
                  <a:srgbClr val="1F2328"/>
                </a:solidFill>
                <a:effectLst/>
                <a:latin typeface="Microsoft YaHei UI" panose="020B0503020204020204" pitchFamily="34" charset="-122"/>
                <a:ea typeface="Microsoft YaHei UI" panose="020B0503020204020204" pitchFamily="34" charset="-122"/>
              </a:rPr>
              <a:t> is a framework for creating multi-agent AI applications that can act autonomously or work alongside humans.</a:t>
            </a:r>
            <a:endParaRPr lang="en-CN" sz="1600" dirty="0">
              <a:latin typeface="Microsoft YaHei UI" panose="020B0503020204020204" pitchFamily="34" charset="-122"/>
              <a:ea typeface="Microsoft YaHei UI" panose="020B0503020204020204" pitchFamily="34" charset="-122"/>
            </a:endParaRPr>
          </a:p>
        </p:txBody>
      </p:sp>
      <p:sp>
        <p:nvSpPr>
          <p:cNvPr id="10" name="TextBox 9">
            <a:extLst>
              <a:ext uri="{FF2B5EF4-FFF2-40B4-BE49-F238E27FC236}">
                <a16:creationId xmlns:a16="http://schemas.microsoft.com/office/drawing/2014/main" id="{A2711141-5084-90F9-9A56-6CD2A41138CE}"/>
              </a:ext>
            </a:extLst>
          </p:cNvPr>
          <p:cNvSpPr txBox="1"/>
          <p:nvPr/>
        </p:nvSpPr>
        <p:spPr>
          <a:xfrm>
            <a:off x="6630149" y="5524503"/>
            <a:ext cx="4435051" cy="830997"/>
          </a:xfrm>
          <a:prstGeom prst="rect">
            <a:avLst/>
          </a:prstGeom>
          <a:noFill/>
        </p:spPr>
        <p:txBody>
          <a:bodyPr wrap="square">
            <a:spAutoFit/>
          </a:bodyPr>
          <a:lstStyle/>
          <a:p>
            <a:r>
              <a:rPr lang="en-US" sz="1600" b="1" i="0" dirty="0">
                <a:effectLst/>
                <a:latin typeface="Microsoft YaHei UI" panose="020B0503020204020204" pitchFamily="34" charset="-122"/>
                <a:ea typeface="Microsoft YaHei UI" panose="020B0503020204020204" pitchFamily="34" charset="-122"/>
              </a:rPr>
              <a:t>Agent Development Kit (ADK) </a:t>
            </a:r>
            <a:r>
              <a:rPr lang="en-US" sz="1600" b="0" i="0" dirty="0">
                <a:effectLst/>
                <a:latin typeface="Microsoft YaHei UI" panose="020B0503020204020204" pitchFamily="34" charset="-122"/>
                <a:ea typeface="Microsoft YaHei UI" panose="020B0503020204020204" pitchFamily="34" charset="-122"/>
              </a:rPr>
              <a:t>is a flexible and modular framework for </a:t>
            </a:r>
            <a:r>
              <a:rPr lang="en-US" sz="1600" i="0" dirty="0">
                <a:effectLst/>
                <a:latin typeface="Microsoft YaHei UI" panose="020B0503020204020204" pitchFamily="34" charset="-122"/>
                <a:ea typeface="Microsoft YaHei UI" panose="020B0503020204020204" pitchFamily="34" charset="-122"/>
              </a:rPr>
              <a:t>developing and deploying AI agents. </a:t>
            </a:r>
            <a:endParaRPr lang="en-CN" sz="1600" dirty="0">
              <a:latin typeface="Microsoft YaHei UI" panose="020B0503020204020204" pitchFamily="34" charset="-122"/>
              <a:ea typeface="Microsoft YaHei UI" panose="020B0503020204020204" pitchFamily="34" charset="-122"/>
            </a:endParaRPr>
          </a:p>
        </p:txBody>
      </p:sp>
    </p:spTree>
    <p:custDataLst>
      <p:tags r:id="rId1"/>
    </p:custDataLst>
    <p:extLst>
      <p:ext uri="{BB962C8B-B14F-4D97-AF65-F5344CB8AC3E}">
        <p14:creationId xmlns:p14="http://schemas.microsoft.com/office/powerpoint/2010/main" val="12526496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216A-AF6C-72C4-D589-2EB2AA0B2129}"/>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B4FD16B7-C6B2-59ED-05DD-C4DD0D2A76CA}"/>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D3D45C8F-5BB3-FB79-6772-6E9CB3A1FEF9}"/>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B029AD26-7E9B-684B-98BD-E29FD975D268}"/>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2" name="文本框 9">
            <a:extLst>
              <a:ext uri="{FF2B5EF4-FFF2-40B4-BE49-F238E27FC236}">
                <a16:creationId xmlns:a16="http://schemas.microsoft.com/office/drawing/2014/main" id="{22F52221-75FE-F72E-EA63-D8C2CF0C07E4}"/>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A Generalist Multi-Agent System for Solving Complex Tasks</a:t>
            </a:r>
          </a:p>
        </p:txBody>
      </p:sp>
      <p:sp>
        <p:nvSpPr>
          <p:cNvPr id="6" name="TextBox 5">
            <a:extLst>
              <a:ext uri="{FF2B5EF4-FFF2-40B4-BE49-F238E27FC236}">
                <a16:creationId xmlns:a16="http://schemas.microsoft.com/office/drawing/2014/main" id="{E13A8BF0-2BF8-0B96-6CA2-8836355495AC}"/>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sp>
        <p:nvSpPr>
          <p:cNvPr id="17" name="TextBox 16">
            <a:extLst>
              <a:ext uri="{FF2B5EF4-FFF2-40B4-BE49-F238E27FC236}">
                <a16:creationId xmlns:a16="http://schemas.microsoft.com/office/drawing/2014/main" id="{CE4B7EA3-589A-6621-624B-28C7B706D90A}"/>
              </a:ext>
            </a:extLst>
          </p:cNvPr>
          <p:cNvSpPr txBox="1"/>
          <p:nvPr/>
        </p:nvSpPr>
        <p:spPr>
          <a:xfrm>
            <a:off x="378212" y="2042407"/>
            <a:ext cx="11303758" cy="646331"/>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Definition: </a:t>
            </a:r>
            <a:r>
              <a:rPr lang="en-CN" dirty="0">
                <a:latin typeface="Microsoft YaHei UI" panose="020B0503020204020204" pitchFamily="34" charset="-122"/>
                <a:ea typeface="Microsoft YaHei UI" panose="020B0503020204020204" pitchFamily="34" charset="-122"/>
              </a:rPr>
              <a:t>A task is defined as a complex task if it requires, or significantly benefits from, a process involving planning, acting, observing, and reflecting, potentially multiple times.</a:t>
            </a:r>
          </a:p>
        </p:txBody>
      </p:sp>
      <p:sp>
        <p:nvSpPr>
          <p:cNvPr id="19" name="TextBox 18">
            <a:extLst>
              <a:ext uri="{FF2B5EF4-FFF2-40B4-BE49-F238E27FC236}">
                <a16:creationId xmlns:a16="http://schemas.microsoft.com/office/drawing/2014/main" id="{C95666B3-A965-02CA-13C4-C120193A2C36}"/>
              </a:ext>
            </a:extLst>
          </p:cNvPr>
          <p:cNvSpPr txBox="1"/>
          <p:nvPr/>
        </p:nvSpPr>
        <p:spPr>
          <a:xfrm>
            <a:off x="378212" y="3444065"/>
            <a:ext cx="5467951" cy="2656176"/>
          </a:xfrm>
          <a:prstGeom prst="rect">
            <a:avLst/>
          </a:prstGeom>
          <a:noFill/>
        </p:spPr>
        <p:txBody>
          <a:bodyPr wrap="square">
            <a:spAutoFit/>
          </a:bodyPr>
          <a:lstStyle/>
          <a:p>
            <a:pPr>
              <a:lnSpc>
                <a:spcPct val="120000"/>
              </a:lnSpc>
            </a:pPr>
            <a:r>
              <a:rPr lang="en-CN" sz="1400" dirty="0">
                <a:latin typeface="Microsoft YaHei UI" panose="020B0503020204020204" pitchFamily="34" charset="-122"/>
                <a:ea typeface="Microsoft YaHei UI" panose="020B0503020204020204" pitchFamily="34" charset="-122"/>
              </a:rPr>
              <a:t>For example, the input task is “</a:t>
            </a:r>
            <a:r>
              <a:rPr lang="en-CN" sz="1400" b="1" dirty="0">
                <a:latin typeface="Microsoft YaHei UI" panose="020B0503020204020204" pitchFamily="34" charset="-122"/>
                <a:ea typeface="Microsoft YaHei UI" panose="020B0503020204020204" pitchFamily="34" charset="-122"/>
              </a:rPr>
              <a:t>fact-check each claim in the file as correct or incorrect</a:t>
            </a:r>
            <a:r>
              <a:rPr lang="en-CN" sz="1400" dirty="0">
                <a:latin typeface="Microsoft YaHei UI" panose="020B0503020204020204" pitchFamily="34" charset="-122"/>
                <a:ea typeface="Microsoft YaHei UI" panose="020B0503020204020204" pitchFamily="34" charset="-122"/>
              </a:rPr>
              <a:t>” with a PDF file as an attachment. </a:t>
            </a:r>
          </a:p>
          <a:p>
            <a:pPr>
              <a:lnSpc>
                <a:spcPct val="120000"/>
              </a:lnSpc>
            </a:pPr>
            <a:r>
              <a:rPr lang="en-CN" sz="1400" dirty="0">
                <a:latin typeface="Microsoft YaHei UI" panose="020B0503020204020204" pitchFamily="34" charset="-122"/>
                <a:ea typeface="Microsoft YaHei UI" panose="020B0503020204020204" pitchFamily="34" charset="-122"/>
              </a:rPr>
              <a:t>The desired output consists either of a textual answer (possibly representing a structured object), or a specific state of the environment to reach, e.g., </a:t>
            </a:r>
          </a:p>
          <a:p>
            <a:pPr>
              <a:lnSpc>
                <a:spcPct val="120000"/>
              </a:lnSpc>
            </a:pPr>
            <a:r>
              <a:rPr lang="en-CN" sz="1400" dirty="0">
                <a:latin typeface="Microsoft YaHei UI" panose="020B0503020204020204" pitchFamily="34" charset="-122"/>
                <a:ea typeface="Microsoft YaHei UI" panose="020B0503020204020204" pitchFamily="34" charset="-122"/>
              </a:rPr>
              <a:t>{  </a:t>
            </a:r>
          </a:p>
          <a:p>
            <a:pPr>
              <a:lnSpc>
                <a:spcPct val="120000"/>
              </a:lnSpc>
            </a:pPr>
            <a:r>
              <a:rPr lang="en-CN" sz="1400" dirty="0">
                <a:latin typeface="Microsoft YaHei UI" panose="020B0503020204020204" pitchFamily="34" charset="-122"/>
                <a:ea typeface="Microsoft YaHei UI" panose="020B0503020204020204" pitchFamily="34" charset="-122"/>
              </a:rPr>
              <a:t>   claim 1: correct, </a:t>
            </a:r>
          </a:p>
          <a:p>
            <a:pPr>
              <a:lnSpc>
                <a:spcPct val="120000"/>
              </a:lnSpc>
            </a:pPr>
            <a:r>
              <a:rPr lang="en-CN" sz="1400" dirty="0">
                <a:latin typeface="Microsoft YaHei UI" panose="020B0503020204020204" pitchFamily="34" charset="-122"/>
                <a:ea typeface="Microsoft YaHei UI" panose="020B0503020204020204" pitchFamily="34" charset="-122"/>
              </a:rPr>
              <a:t>   claim 2: incorrect, </a:t>
            </a:r>
          </a:p>
          <a:p>
            <a:pPr>
              <a:lnSpc>
                <a:spcPct val="120000"/>
              </a:lnSpc>
            </a:pPr>
            <a:r>
              <a:rPr lang="en-CN" sz="1400" dirty="0">
                <a:latin typeface="Microsoft YaHei UI" panose="020B0503020204020204" pitchFamily="34" charset="-122"/>
                <a:ea typeface="Microsoft YaHei UI" panose="020B0503020204020204" pitchFamily="34" charset="-122"/>
              </a:rPr>
              <a:t>   ...</a:t>
            </a:r>
          </a:p>
          <a:p>
            <a:pPr>
              <a:lnSpc>
                <a:spcPct val="120000"/>
              </a:lnSpc>
            </a:pPr>
            <a:r>
              <a:rPr lang="en-CN" sz="1400" dirty="0">
                <a:latin typeface="Microsoft YaHei UI" panose="020B0503020204020204" pitchFamily="34" charset="-122"/>
                <a:ea typeface="Microsoft YaHei UI" panose="020B0503020204020204" pitchFamily="34" charset="-122"/>
              </a:rPr>
              <a:t>}</a:t>
            </a:r>
          </a:p>
        </p:txBody>
      </p:sp>
      <p:pic>
        <p:nvPicPr>
          <p:cNvPr id="3074" name="Picture 2" descr="How to Split a Large PDF into Several Small Files – Support | KDAN">
            <a:extLst>
              <a:ext uri="{FF2B5EF4-FFF2-40B4-BE49-F238E27FC236}">
                <a16:creationId xmlns:a16="http://schemas.microsoft.com/office/drawing/2014/main" id="{2FB36D08-3E7D-A7F3-1D1B-497B334D09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99" t="25444" r="6869" b="10142"/>
          <a:stretch>
            <a:fillRect/>
          </a:stretch>
        </p:blipFill>
        <p:spPr bwMode="auto">
          <a:xfrm>
            <a:off x="6096000" y="3372826"/>
            <a:ext cx="5327176" cy="29592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B88A93A-0720-8F77-22A3-59A228DAE101}"/>
              </a:ext>
            </a:extLst>
          </p:cNvPr>
          <p:cNvSpPr txBox="1"/>
          <p:nvPr/>
        </p:nvSpPr>
        <p:spPr>
          <a:xfrm>
            <a:off x="8021611" y="3167066"/>
            <a:ext cx="1871897" cy="276999"/>
          </a:xfrm>
          <a:prstGeom prst="rect">
            <a:avLst/>
          </a:prstGeom>
          <a:noFill/>
        </p:spPr>
        <p:txBody>
          <a:bodyPr wrap="square">
            <a:spAutoFit/>
          </a:bodyPr>
          <a:lstStyle/>
          <a:p>
            <a:r>
              <a:rPr lang="en-CN" sz="1200" dirty="0">
                <a:solidFill>
                  <a:srgbClr val="FF0000"/>
                </a:solidFill>
                <a:latin typeface="Microsoft YaHei UI" panose="020B0503020204020204" pitchFamily="34" charset="-122"/>
                <a:ea typeface="Microsoft YaHei UI" panose="020B0503020204020204" pitchFamily="34" charset="-122"/>
              </a:rPr>
              <a:t>claim x: correct</a:t>
            </a:r>
            <a:endParaRPr lang="en-CN" sz="1200" dirty="0">
              <a:solidFill>
                <a:srgbClr val="FF0000"/>
              </a:solidFill>
            </a:endParaRPr>
          </a:p>
        </p:txBody>
      </p:sp>
    </p:spTree>
    <p:custDataLst>
      <p:tags r:id="rId1"/>
    </p:custDataLst>
    <p:extLst>
      <p:ext uri="{BB962C8B-B14F-4D97-AF65-F5344CB8AC3E}">
        <p14:creationId xmlns:p14="http://schemas.microsoft.com/office/powerpoint/2010/main" val="426055979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A9B0E-9C9C-B470-C4F0-3EB842040D60}"/>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3A5E8367-3E79-896D-5117-CA6F3D69BF05}"/>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F6973831-F1CD-11E1-E401-C25FA6BE6784}"/>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428C08BA-FBC3-A262-FCE9-AECD53424D14}"/>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3D2BBC39-469A-DF9D-89D9-C012E4DAF9E1}"/>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pic>
        <p:nvPicPr>
          <p:cNvPr id="8" name="Picture 7">
            <a:extLst>
              <a:ext uri="{FF2B5EF4-FFF2-40B4-BE49-F238E27FC236}">
                <a16:creationId xmlns:a16="http://schemas.microsoft.com/office/drawing/2014/main" id="{8BA364B1-5F2D-F427-E340-81EA499980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6636" y="2046531"/>
            <a:ext cx="6969370" cy="3859959"/>
          </a:xfrm>
          <a:prstGeom prst="rect">
            <a:avLst/>
          </a:prstGeom>
        </p:spPr>
      </p:pic>
      <p:sp>
        <p:nvSpPr>
          <p:cNvPr id="11" name="TextBox 10">
            <a:extLst>
              <a:ext uri="{FF2B5EF4-FFF2-40B4-BE49-F238E27FC236}">
                <a16:creationId xmlns:a16="http://schemas.microsoft.com/office/drawing/2014/main" id="{43F25FC0-8067-1F7D-D3B5-1573F1E08DF9}"/>
              </a:ext>
            </a:extLst>
          </p:cNvPr>
          <p:cNvSpPr txBox="1"/>
          <p:nvPr/>
        </p:nvSpPr>
        <p:spPr>
          <a:xfrm>
            <a:off x="273666" y="1949769"/>
            <a:ext cx="4302970" cy="4053482"/>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CN" dirty="0">
                <a:latin typeface="Microsoft YaHei UI" panose="020B0503020204020204" pitchFamily="34" charset="-122"/>
                <a:ea typeface="Microsoft YaHei UI" panose="020B0503020204020204" pitchFamily="34" charset="-122"/>
              </a:rPr>
              <a:t>The </a:t>
            </a:r>
            <a:r>
              <a:rPr lang="en-CN" b="1" dirty="0">
                <a:solidFill>
                  <a:srgbClr val="7030A0"/>
                </a:solidFill>
                <a:latin typeface="Microsoft YaHei UI" panose="020B0503020204020204" pitchFamily="34" charset="-122"/>
                <a:ea typeface="Microsoft YaHei UI" panose="020B0503020204020204" pitchFamily="34" charset="-122"/>
              </a:rPr>
              <a:t>Orchestrator</a:t>
            </a:r>
            <a:r>
              <a:rPr lang="en-CN" dirty="0">
                <a:latin typeface="Microsoft YaHei UI" panose="020B0503020204020204" pitchFamily="34" charset="-122"/>
                <a:ea typeface="Microsoft YaHei UI" panose="020B0503020204020204" pitchFamily="34" charset="-122"/>
              </a:rPr>
              <a:t> agent creates a plan, delegates tasks to other agents, and tracks progress towards the goal, dynamically revising the plan as needed.</a:t>
            </a:r>
          </a:p>
          <a:p>
            <a:pPr marL="285750" indent="-285750">
              <a:lnSpc>
                <a:spcPct val="120000"/>
              </a:lnSpc>
              <a:buFont typeface="Arial" panose="020B0604020202020204" pitchFamily="34" charset="0"/>
              <a:buChar char="•"/>
            </a:pPr>
            <a:endParaRPr lang="en-CN" dirty="0">
              <a:latin typeface="Microsoft YaHei UI" panose="020B0503020204020204" pitchFamily="34" charset="-122"/>
              <a:ea typeface="Microsoft YaHei UI" panose="020B0503020204020204" pitchFamily="34" charset="-122"/>
            </a:endParaRPr>
          </a:p>
          <a:p>
            <a:pPr marL="285750" indent="-285750">
              <a:lnSpc>
                <a:spcPct val="120000"/>
              </a:lnSpc>
              <a:buFont typeface="Arial" panose="020B0604020202020204" pitchFamily="34" charset="0"/>
              <a:buChar char="•"/>
            </a:pPr>
            <a:r>
              <a:rPr lang="en-CN" dirty="0">
                <a:latin typeface="Microsoft YaHei UI" panose="020B0503020204020204" pitchFamily="34" charset="-122"/>
                <a:ea typeface="Microsoft YaHei UI" panose="020B0503020204020204" pitchFamily="34" charset="-122"/>
              </a:rPr>
              <a:t>The </a:t>
            </a:r>
            <a:r>
              <a:rPr lang="en-CN" dirty="0">
                <a:solidFill>
                  <a:srgbClr val="FF0000"/>
                </a:solidFill>
                <a:latin typeface="Microsoft YaHei UI" panose="020B0503020204020204" pitchFamily="34" charset="-122"/>
                <a:ea typeface="Microsoft YaHei UI" panose="020B0503020204020204" pitchFamily="34" charset="-122"/>
              </a:rPr>
              <a:t>FileSurfer</a:t>
            </a:r>
            <a:r>
              <a:rPr lang="en-CN" dirty="0">
                <a:latin typeface="Microsoft YaHei UI" panose="020B0503020204020204" pitchFamily="34" charset="-122"/>
                <a:ea typeface="Microsoft YaHei UI" panose="020B0503020204020204" pitchFamily="34" charset="-122"/>
              </a:rPr>
              <a:t> agent to read and handle files.</a:t>
            </a:r>
          </a:p>
          <a:p>
            <a:pPr marL="285750" indent="-285750">
              <a:lnSpc>
                <a:spcPct val="120000"/>
              </a:lnSpc>
              <a:buFont typeface="Arial" panose="020B0604020202020204" pitchFamily="34" charset="0"/>
              <a:buChar char="•"/>
            </a:pPr>
            <a:r>
              <a:rPr lang="en-CN" dirty="0">
                <a:latin typeface="Microsoft YaHei UI" panose="020B0503020204020204" pitchFamily="34" charset="-122"/>
                <a:ea typeface="Microsoft YaHei UI" panose="020B0503020204020204" pitchFamily="34" charset="-122"/>
              </a:rPr>
              <a:t>The </a:t>
            </a:r>
            <a:r>
              <a:rPr lang="en-CN" dirty="0">
                <a:solidFill>
                  <a:srgbClr val="FF0000"/>
                </a:solidFill>
                <a:latin typeface="Microsoft YaHei UI" panose="020B0503020204020204" pitchFamily="34" charset="-122"/>
                <a:ea typeface="Microsoft YaHei UI" panose="020B0503020204020204" pitchFamily="34" charset="-122"/>
              </a:rPr>
              <a:t>WebSurfer</a:t>
            </a:r>
            <a:r>
              <a:rPr lang="en-CN" dirty="0">
                <a:latin typeface="Microsoft YaHei UI" panose="020B0503020204020204" pitchFamily="34" charset="-122"/>
                <a:ea typeface="Microsoft YaHei UI" panose="020B0503020204020204" pitchFamily="34" charset="-122"/>
              </a:rPr>
              <a:t> agent to operate a web browser.</a:t>
            </a:r>
          </a:p>
          <a:p>
            <a:pPr marL="285750" indent="-285750">
              <a:lnSpc>
                <a:spcPct val="120000"/>
              </a:lnSpc>
              <a:buFont typeface="Arial" panose="020B0604020202020204" pitchFamily="34" charset="0"/>
              <a:buChar char="•"/>
            </a:pPr>
            <a:r>
              <a:rPr lang="en-CN" dirty="0">
                <a:latin typeface="Microsoft YaHei UI" panose="020B0503020204020204" pitchFamily="34" charset="-122"/>
                <a:ea typeface="Microsoft YaHei UI" panose="020B0503020204020204" pitchFamily="34" charset="-122"/>
              </a:rPr>
              <a:t>The </a:t>
            </a:r>
            <a:r>
              <a:rPr lang="en-CN" dirty="0">
                <a:solidFill>
                  <a:srgbClr val="FF0000"/>
                </a:solidFill>
                <a:latin typeface="Microsoft YaHei UI" panose="020B0503020204020204" pitchFamily="34" charset="-122"/>
                <a:ea typeface="Microsoft YaHei UI" panose="020B0503020204020204" pitchFamily="34" charset="-122"/>
              </a:rPr>
              <a:t>Coder or Computer Terminal </a:t>
            </a:r>
            <a:r>
              <a:rPr lang="en-CN" dirty="0">
                <a:latin typeface="Microsoft YaHei UI" panose="020B0503020204020204" pitchFamily="34" charset="-122"/>
                <a:ea typeface="Microsoft YaHei UI" panose="020B0503020204020204" pitchFamily="34" charset="-122"/>
              </a:rPr>
              <a:t>agent to write or execute code.</a:t>
            </a:r>
          </a:p>
        </p:txBody>
      </p:sp>
      <p:sp>
        <p:nvSpPr>
          <p:cNvPr id="13" name="TextBox 12">
            <a:extLst>
              <a:ext uri="{FF2B5EF4-FFF2-40B4-BE49-F238E27FC236}">
                <a16:creationId xmlns:a16="http://schemas.microsoft.com/office/drawing/2014/main" id="{91820D69-6A7A-B8DD-64B3-9D5EA1842ED6}"/>
              </a:ext>
            </a:extLst>
          </p:cNvPr>
          <p:cNvSpPr txBox="1"/>
          <p:nvPr/>
        </p:nvSpPr>
        <p:spPr>
          <a:xfrm>
            <a:off x="4721925" y="1780745"/>
            <a:ext cx="1284518" cy="400110"/>
          </a:xfrm>
          <a:prstGeom prst="rect">
            <a:avLst/>
          </a:prstGeom>
          <a:noFill/>
        </p:spPr>
        <p:txBody>
          <a:bodyPr wrap="square">
            <a:spAutoFit/>
          </a:bodyPr>
          <a:lstStyle/>
          <a:p>
            <a:r>
              <a:rPr lang="en-US" sz="1000" dirty="0">
                <a:latin typeface="Microsoft YaHei UI" panose="020B0503020204020204" pitchFamily="34" charset="-122"/>
                <a:ea typeface="Microsoft YaHei UI" panose="020B0503020204020204" pitchFamily="34" charset="-122"/>
              </a:rPr>
              <a:t>Sample task from </a:t>
            </a:r>
          </a:p>
          <a:p>
            <a:r>
              <a:rPr lang="en-US" sz="1000" dirty="0">
                <a:latin typeface="Microsoft YaHei UI" panose="020B0503020204020204" pitchFamily="34" charset="-122"/>
                <a:ea typeface="Microsoft YaHei UI" panose="020B0503020204020204" pitchFamily="34" charset="-122"/>
              </a:rPr>
              <a:t>GAIA benchmark</a:t>
            </a:r>
            <a:endParaRPr lang="en-CN" sz="1000" dirty="0">
              <a:latin typeface="Microsoft YaHei UI" panose="020B0503020204020204" pitchFamily="34" charset="-122"/>
              <a:ea typeface="Microsoft YaHei UI" panose="020B0503020204020204" pitchFamily="34" charset="-122"/>
            </a:endParaRPr>
          </a:p>
        </p:txBody>
      </p:sp>
      <p:sp>
        <p:nvSpPr>
          <p:cNvPr id="3" name="文本框 9">
            <a:extLst>
              <a:ext uri="{FF2B5EF4-FFF2-40B4-BE49-F238E27FC236}">
                <a16:creationId xmlns:a16="http://schemas.microsoft.com/office/drawing/2014/main" id="{70EDCE78-5C6E-8259-6514-FE9B1CEFDE29}"/>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Architecture Overview</a:t>
            </a:r>
          </a:p>
        </p:txBody>
      </p:sp>
      <p:sp>
        <p:nvSpPr>
          <p:cNvPr id="2" name="Rectangle 1">
            <a:extLst>
              <a:ext uri="{FF2B5EF4-FFF2-40B4-BE49-F238E27FC236}">
                <a16:creationId xmlns:a16="http://schemas.microsoft.com/office/drawing/2014/main" id="{AD102CED-3D02-AD82-0158-33C52D936682}"/>
              </a:ext>
            </a:extLst>
          </p:cNvPr>
          <p:cNvSpPr/>
          <p:nvPr/>
        </p:nvSpPr>
        <p:spPr>
          <a:xfrm>
            <a:off x="6717147" y="2872012"/>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D2824DCC-4734-636D-C194-180B26455FEA}"/>
              </a:ext>
            </a:extLst>
          </p:cNvPr>
          <p:cNvSpPr/>
          <p:nvPr/>
        </p:nvSpPr>
        <p:spPr>
          <a:xfrm>
            <a:off x="6732137" y="3934845"/>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F19E5D0A-3C40-C46E-C4FA-9F2293D07EF5}"/>
              </a:ext>
            </a:extLst>
          </p:cNvPr>
          <p:cNvSpPr/>
          <p:nvPr/>
        </p:nvSpPr>
        <p:spPr>
          <a:xfrm>
            <a:off x="8510969" y="3954025"/>
            <a:ext cx="896116"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25BD875E-B979-66E0-A55B-60633FCD51C4}"/>
              </a:ext>
            </a:extLst>
          </p:cNvPr>
          <p:cNvSpPr/>
          <p:nvPr/>
        </p:nvSpPr>
        <p:spPr>
          <a:xfrm>
            <a:off x="10274811" y="3946529"/>
            <a:ext cx="1080238" cy="1998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ustDataLst>
      <p:tags r:id="rId1"/>
    </p:custDataLst>
    <p:extLst>
      <p:ext uri="{BB962C8B-B14F-4D97-AF65-F5344CB8AC3E}">
        <p14:creationId xmlns:p14="http://schemas.microsoft.com/office/powerpoint/2010/main" val="323950654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749AD-F957-B8F3-861E-342163A0DBC7}"/>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D15170C-CC08-9AB5-31B5-878DE0D5A87A}"/>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FCB67B49-4911-DB2A-5838-ABDA8ED921EA}"/>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AB8DBFEB-7986-97CD-3B46-1A4836D8E3A6}"/>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B98D0B24-460A-DC37-A0F2-C3E578F9676F}"/>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sp>
        <p:nvSpPr>
          <p:cNvPr id="3" name="文本框 9">
            <a:extLst>
              <a:ext uri="{FF2B5EF4-FFF2-40B4-BE49-F238E27FC236}">
                <a16:creationId xmlns:a16="http://schemas.microsoft.com/office/drawing/2014/main" id="{F027BE21-1B72-C51E-423C-77E7D88C63AA}"/>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Agents</a:t>
            </a:r>
          </a:p>
        </p:txBody>
      </p:sp>
      <p:sp>
        <p:nvSpPr>
          <p:cNvPr id="11" name="文本框 9">
            <a:extLst>
              <a:ext uri="{FF2B5EF4-FFF2-40B4-BE49-F238E27FC236}">
                <a16:creationId xmlns:a16="http://schemas.microsoft.com/office/drawing/2014/main" id="{0EAFAACD-E9F0-333B-335B-5E990A51FE32}"/>
              </a:ext>
            </a:extLst>
          </p:cNvPr>
          <p:cNvSpPr txBox="1"/>
          <p:nvPr/>
        </p:nvSpPr>
        <p:spPr>
          <a:xfrm>
            <a:off x="985930" y="1881652"/>
            <a:ext cx="896947" cy="459421"/>
          </a:xfrm>
          <a:prstGeom prst="rect">
            <a:avLst/>
          </a:prstGeom>
          <a:noFill/>
        </p:spPr>
        <p:txBody>
          <a:bodyPr wrap="square" rtlCol="0">
            <a:spAutoFit/>
          </a:bodyPr>
          <a:lstStyle/>
          <a:p>
            <a:pPr algn="just">
              <a:lnSpc>
                <a:spcPct val="150000"/>
              </a:lnSpc>
            </a:pPr>
            <a:r>
              <a:rPr lang="en-US" b="1" dirty="0">
                <a:latin typeface="Microsoft YaHei UI" panose="020B0503020204020204" pitchFamily="34" charset="-122"/>
                <a:ea typeface="Microsoft YaHei UI" panose="020B0503020204020204" pitchFamily="34" charset="-122"/>
              </a:rPr>
              <a:t>Coder</a:t>
            </a:r>
          </a:p>
        </p:txBody>
      </p:sp>
      <p:sp>
        <p:nvSpPr>
          <p:cNvPr id="12" name="文本框 9">
            <a:extLst>
              <a:ext uri="{FF2B5EF4-FFF2-40B4-BE49-F238E27FC236}">
                <a16:creationId xmlns:a16="http://schemas.microsoft.com/office/drawing/2014/main" id="{2B29443C-304F-6FD3-1291-EC8BC39EEBA9}"/>
              </a:ext>
            </a:extLst>
          </p:cNvPr>
          <p:cNvSpPr txBox="1"/>
          <p:nvPr/>
        </p:nvSpPr>
        <p:spPr>
          <a:xfrm>
            <a:off x="3338327" y="1881652"/>
            <a:ext cx="2401397" cy="459421"/>
          </a:xfrm>
          <a:prstGeom prst="rect">
            <a:avLst/>
          </a:prstGeom>
          <a:noFill/>
        </p:spPr>
        <p:txBody>
          <a:bodyPr wrap="square" rtlCol="0">
            <a:spAutoFit/>
          </a:bodyPr>
          <a:lstStyle/>
          <a:p>
            <a:pPr algn="just">
              <a:lnSpc>
                <a:spcPct val="150000"/>
              </a:lnSpc>
            </a:pPr>
            <a:r>
              <a:rPr lang="en-US" b="1" dirty="0" err="1">
                <a:latin typeface="Microsoft YaHei UI" panose="020B0503020204020204" pitchFamily="34" charset="-122"/>
                <a:ea typeface="Microsoft YaHei UI" panose="020B0503020204020204" pitchFamily="34" charset="-122"/>
              </a:rPr>
              <a:t>ComputerTerminal</a:t>
            </a:r>
            <a:endParaRPr lang="en-US" b="1" dirty="0">
              <a:latin typeface="Microsoft YaHei UI" panose="020B0503020204020204" pitchFamily="34" charset="-122"/>
              <a:ea typeface="Microsoft YaHei UI" panose="020B0503020204020204" pitchFamily="34" charset="-122"/>
            </a:endParaRPr>
          </a:p>
        </p:txBody>
      </p:sp>
      <p:sp>
        <p:nvSpPr>
          <p:cNvPr id="19" name="TextBox 18">
            <a:extLst>
              <a:ext uri="{FF2B5EF4-FFF2-40B4-BE49-F238E27FC236}">
                <a16:creationId xmlns:a16="http://schemas.microsoft.com/office/drawing/2014/main" id="{139FDE1D-8B81-6943-CC1E-7D58270D766A}"/>
              </a:ext>
            </a:extLst>
          </p:cNvPr>
          <p:cNvSpPr txBox="1"/>
          <p:nvPr/>
        </p:nvSpPr>
        <p:spPr>
          <a:xfrm>
            <a:off x="378212" y="2477548"/>
            <a:ext cx="2719925" cy="3367910"/>
          </a:xfrm>
          <a:prstGeom prst="rect">
            <a:avLst/>
          </a:prstGeom>
          <a:noFill/>
        </p:spPr>
        <p:txBody>
          <a:bodyPr wrap="square">
            <a:spAutoFit/>
          </a:bodyPr>
          <a:lstStyle>
            <a:defPPr>
              <a:defRPr lang="zh-CN"/>
            </a:defPPr>
            <a:lvl1pPr>
              <a:lnSpc>
                <a:spcPct val="150000"/>
              </a:lnSpc>
              <a:defRPr>
                <a:latin typeface="Microsoft YaHei UI" panose="020B0503020204020204" pitchFamily="34" charset="-122"/>
                <a:ea typeface="Microsoft YaHei UI" panose="020B0503020204020204" pitchFamily="34" charset="-122"/>
              </a:defRPr>
            </a:lvl1pPr>
          </a:lstStyle>
          <a:p>
            <a:r>
              <a:rPr lang="en-CN" dirty="0"/>
              <a:t>An LLM-based agent specialized through its system prompt for writing code, analyzing information collected from the other agents, or creating new artifacts.</a:t>
            </a:r>
          </a:p>
        </p:txBody>
      </p:sp>
      <p:sp>
        <p:nvSpPr>
          <p:cNvPr id="21" name="TextBox 20">
            <a:extLst>
              <a:ext uri="{FF2B5EF4-FFF2-40B4-BE49-F238E27FC236}">
                <a16:creationId xmlns:a16="http://schemas.microsoft.com/office/drawing/2014/main" id="{920F45E1-ABBF-898B-1873-97DAF4ED0382}"/>
              </a:ext>
            </a:extLst>
          </p:cNvPr>
          <p:cNvSpPr txBox="1"/>
          <p:nvPr/>
        </p:nvSpPr>
        <p:spPr>
          <a:xfrm>
            <a:off x="3452979" y="2477548"/>
            <a:ext cx="2286745" cy="2536913"/>
          </a:xfrm>
          <a:prstGeom prst="rect">
            <a:avLst/>
          </a:prstGeom>
          <a:noFill/>
        </p:spPr>
        <p:txBody>
          <a:bodyPr wrap="square">
            <a:spAutoFit/>
          </a:bodyPr>
          <a:lstStyle>
            <a:defPPr>
              <a:defRPr lang="zh-CN"/>
            </a:defPPr>
            <a:lvl1pPr>
              <a:lnSpc>
                <a:spcPct val="150000"/>
              </a:lnSpc>
              <a:defRPr>
                <a:latin typeface="Microsoft YaHei UI" panose="020B0503020204020204" pitchFamily="34" charset="-122"/>
                <a:ea typeface="Microsoft YaHei UI" panose="020B0503020204020204" pitchFamily="34" charset="-122"/>
              </a:defRPr>
            </a:lvl1pPr>
          </a:lstStyle>
          <a:p>
            <a:r>
              <a:rPr lang="en-CN" dirty="0"/>
              <a:t>It provides the team with access to a console shell where the Coder’s programs can be executed.</a:t>
            </a:r>
          </a:p>
        </p:txBody>
      </p:sp>
      <p:pic>
        <p:nvPicPr>
          <p:cNvPr id="10" name="Picture 9" descr="A diagram of a task&#10;&#10;AI-generated content may be incorrect.">
            <a:extLst>
              <a:ext uri="{FF2B5EF4-FFF2-40B4-BE49-F238E27FC236}">
                <a16:creationId xmlns:a16="http://schemas.microsoft.com/office/drawing/2014/main" id="{B34D6EE0-1D19-69CE-CBC6-EB9FEE8AE8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0694" y="1535699"/>
            <a:ext cx="5291742" cy="4550898"/>
          </a:xfrm>
          <a:prstGeom prst="rect">
            <a:avLst/>
          </a:prstGeom>
        </p:spPr>
      </p:pic>
      <p:sp>
        <p:nvSpPr>
          <p:cNvPr id="13" name="Rectangle 12">
            <a:extLst>
              <a:ext uri="{FF2B5EF4-FFF2-40B4-BE49-F238E27FC236}">
                <a16:creationId xmlns:a16="http://schemas.microsoft.com/office/drawing/2014/main" id="{E1E2CA19-F411-2DA9-4424-8670A55C8B9C}"/>
              </a:ext>
            </a:extLst>
          </p:cNvPr>
          <p:cNvSpPr/>
          <p:nvPr/>
        </p:nvSpPr>
        <p:spPr>
          <a:xfrm>
            <a:off x="6073515" y="5478188"/>
            <a:ext cx="896116" cy="19987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4" name="Rectangle 13">
            <a:extLst>
              <a:ext uri="{FF2B5EF4-FFF2-40B4-BE49-F238E27FC236}">
                <a16:creationId xmlns:a16="http://schemas.microsoft.com/office/drawing/2014/main" id="{D5375FA4-1FB1-6E38-3642-1C54F0959900}"/>
              </a:ext>
            </a:extLst>
          </p:cNvPr>
          <p:cNvSpPr/>
          <p:nvPr/>
        </p:nvSpPr>
        <p:spPr>
          <a:xfrm>
            <a:off x="7267731" y="5478188"/>
            <a:ext cx="1246682" cy="19987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ustDataLst>
      <p:tags r:id="rId1"/>
    </p:custDataLst>
    <p:extLst>
      <p:ext uri="{BB962C8B-B14F-4D97-AF65-F5344CB8AC3E}">
        <p14:creationId xmlns:p14="http://schemas.microsoft.com/office/powerpoint/2010/main" val="73188777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292B-6A55-E667-7A18-DEE1A458F86D}"/>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EA68E24A-805F-96A0-0DAF-F954887D404D}"/>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DAD812DE-507E-2C95-DDE6-DFB0AFDE32DC}"/>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1A9E459A-0D40-F1D5-E60A-8123A7E06A0A}"/>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0A5AF847-BB98-3ECD-0955-E69FC859FBB6}"/>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sp>
        <p:nvSpPr>
          <p:cNvPr id="3" name="文本框 9">
            <a:extLst>
              <a:ext uri="{FF2B5EF4-FFF2-40B4-BE49-F238E27FC236}">
                <a16:creationId xmlns:a16="http://schemas.microsoft.com/office/drawing/2014/main" id="{35FE068B-0E44-DF27-2720-96ADCFFBE1DE}"/>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Workflow</a:t>
            </a:r>
          </a:p>
        </p:txBody>
      </p:sp>
      <p:pic>
        <p:nvPicPr>
          <p:cNvPr id="14" name="Picture 13" descr="A diagram of a task&#10;&#10;AI-generated content may be incorrect.">
            <a:extLst>
              <a:ext uri="{FF2B5EF4-FFF2-40B4-BE49-F238E27FC236}">
                <a16:creationId xmlns:a16="http://schemas.microsoft.com/office/drawing/2014/main" id="{BFA6FC03-6490-320F-4161-DF8C516E3D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0694" y="1535699"/>
            <a:ext cx="5291742" cy="4550898"/>
          </a:xfrm>
          <a:prstGeom prst="rect">
            <a:avLst/>
          </a:prstGeom>
        </p:spPr>
      </p:pic>
      <p:sp>
        <p:nvSpPr>
          <p:cNvPr id="2" name="文本框 9">
            <a:extLst>
              <a:ext uri="{FF2B5EF4-FFF2-40B4-BE49-F238E27FC236}">
                <a16:creationId xmlns:a16="http://schemas.microsoft.com/office/drawing/2014/main" id="{36C7EDCC-EC2C-D8D2-F6AB-F1A969CD7A8E}"/>
              </a:ext>
            </a:extLst>
          </p:cNvPr>
          <p:cNvSpPr txBox="1"/>
          <p:nvPr/>
        </p:nvSpPr>
        <p:spPr>
          <a:xfrm>
            <a:off x="687950" y="2015355"/>
            <a:ext cx="1561141" cy="459421"/>
          </a:xfrm>
          <a:prstGeom prst="rect">
            <a:avLst/>
          </a:prstGeom>
          <a:noFill/>
        </p:spPr>
        <p:txBody>
          <a:bodyPr wrap="square" rtlCol="0">
            <a:spAutoFit/>
          </a:bodyPr>
          <a:lstStyle/>
          <a:p>
            <a:pPr algn="just">
              <a:lnSpc>
                <a:spcPct val="150000"/>
              </a:lnSpc>
            </a:pPr>
            <a:r>
              <a:rPr lang="en-US" b="1" dirty="0" err="1">
                <a:latin typeface="Microsoft YaHei UI" panose="020B0503020204020204" pitchFamily="34" charset="-122"/>
                <a:ea typeface="Microsoft YaHei UI" panose="020B0503020204020204" pitchFamily="34" charset="-122"/>
              </a:rPr>
              <a:t>WebSurfer</a:t>
            </a:r>
            <a:endParaRPr lang="en-US" b="1" dirty="0">
              <a:latin typeface="Microsoft YaHei UI" panose="020B0503020204020204" pitchFamily="34" charset="-122"/>
              <a:ea typeface="Microsoft YaHei UI" panose="020B0503020204020204" pitchFamily="34" charset="-122"/>
            </a:endParaRPr>
          </a:p>
        </p:txBody>
      </p:sp>
      <p:sp>
        <p:nvSpPr>
          <p:cNvPr id="8" name="文本框 9">
            <a:extLst>
              <a:ext uri="{FF2B5EF4-FFF2-40B4-BE49-F238E27FC236}">
                <a16:creationId xmlns:a16="http://schemas.microsoft.com/office/drawing/2014/main" id="{5DF5C188-1B5C-1E7F-D716-129757AFBC47}"/>
              </a:ext>
            </a:extLst>
          </p:cNvPr>
          <p:cNvSpPr txBox="1"/>
          <p:nvPr/>
        </p:nvSpPr>
        <p:spPr>
          <a:xfrm>
            <a:off x="3613121" y="2015354"/>
            <a:ext cx="1355069" cy="459421"/>
          </a:xfrm>
          <a:prstGeom prst="rect">
            <a:avLst/>
          </a:prstGeom>
          <a:noFill/>
        </p:spPr>
        <p:txBody>
          <a:bodyPr wrap="square" rtlCol="0">
            <a:spAutoFit/>
          </a:bodyPr>
          <a:lstStyle/>
          <a:p>
            <a:pPr algn="just">
              <a:lnSpc>
                <a:spcPct val="150000"/>
              </a:lnSpc>
            </a:pPr>
            <a:r>
              <a:rPr lang="en-US" b="1" dirty="0" err="1">
                <a:latin typeface="Microsoft YaHei UI" panose="020B0503020204020204" pitchFamily="34" charset="-122"/>
                <a:ea typeface="Microsoft YaHei UI" panose="020B0503020204020204" pitchFamily="34" charset="-122"/>
              </a:rPr>
              <a:t>FileSurfer</a:t>
            </a:r>
            <a:endParaRPr lang="en-US" b="1" dirty="0">
              <a:latin typeface="Microsoft YaHei UI" panose="020B0503020204020204" pitchFamily="34" charset="-122"/>
              <a:ea typeface="Microsoft YaHei UI" panose="020B0503020204020204" pitchFamily="34" charset="-122"/>
            </a:endParaRPr>
          </a:p>
        </p:txBody>
      </p:sp>
      <p:sp>
        <p:nvSpPr>
          <p:cNvPr id="11" name="TextBox 10">
            <a:extLst>
              <a:ext uri="{FF2B5EF4-FFF2-40B4-BE49-F238E27FC236}">
                <a16:creationId xmlns:a16="http://schemas.microsoft.com/office/drawing/2014/main" id="{939D3B79-C3BC-ED66-FA02-92463B1A9CB0}"/>
              </a:ext>
            </a:extLst>
          </p:cNvPr>
          <p:cNvSpPr txBox="1"/>
          <p:nvPr/>
        </p:nvSpPr>
        <p:spPr>
          <a:xfrm>
            <a:off x="303321" y="2903963"/>
            <a:ext cx="2441725" cy="2952411"/>
          </a:xfrm>
          <a:prstGeom prst="rect">
            <a:avLst/>
          </a:prstGeom>
          <a:noFill/>
        </p:spPr>
        <p:txBody>
          <a:bodyPr wrap="square">
            <a:spAutoFit/>
          </a:bodyPr>
          <a:lstStyle/>
          <a:p>
            <a:pPr>
              <a:lnSpc>
                <a:spcPct val="150000"/>
              </a:lnSpc>
            </a:pPr>
            <a:r>
              <a:rPr lang="en-CN" dirty="0">
                <a:latin typeface="Microsoft YaHei UI" panose="020B0503020204020204" pitchFamily="34" charset="-122"/>
                <a:ea typeface="Microsoft YaHei UI" panose="020B0503020204020204" pitchFamily="34" charset="-122"/>
              </a:rPr>
              <a:t>A highly specialized LLM-based agent that is proficient in commanding and managing the state of a Chromium-based web browser.</a:t>
            </a:r>
          </a:p>
        </p:txBody>
      </p:sp>
      <p:sp>
        <p:nvSpPr>
          <p:cNvPr id="12" name="TextBox 11">
            <a:extLst>
              <a:ext uri="{FF2B5EF4-FFF2-40B4-BE49-F238E27FC236}">
                <a16:creationId xmlns:a16="http://schemas.microsoft.com/office/drawing/2014/main" id="{700F2B99-C158-E489-D3B9-74461C1103E0}"/>
              </a:ext>
            </a:extLst>
          </p:cNvPr>
          <p:cNvSpPr txBox="1"/>
          <p:nvPr/>
        </p:nvSpPr>
        <p:spPr>
          <a:xfrm>
            <a:off x="3210068" y="2903963"/>
            <a:ext cx="2455459" cy="2952411"/>
          </a:xfrm>
          <a:prstGeom prst="rect">
            <a:avLst/>
          </a:prstGeom>
          <a:noFill/>
        </p:spPr>
        <p:txBody>
          <a:bodyPr wrap="square">
            <a:spAutoFit/>
          </a:bodyPr>
          <a:lstStyle>
            <a:defPPr>
              <a:defRPr lang="zh-CN"/>
            </a:defPPr>
            <a:lvl1pPr>
              <a:lnSpc>
                <a:spcPct val="150000"/>
              </a:lnSpc>
              <a:defRPr>
                <a:latin typeface="Microsoft YaHei UI" panose="020B0503020204020204" pitchFamily="34" charset="-122"/>
                <a:ea typeface="Microsoft YaHei UI" panose="020B0503020204020204" pitchFamily="34" charset="-122"/>
              </a:defRPr>
            </a:lvl1pPr>
          </a:lstStyle>
          <a:p>
            <a:r>
              <a:rPr lang="en-CN" dirty="0"/>
              <a:t>It’s similar to the WebSurfer, except that it commands a custom markdown-based file preview application rather than a web browser.</a:t>
            </a:r>
          </a:p>
        </p:txBody>
      </p:sp>
      <p:sp>
        <p:nvSpPr>
          <p:cNvPr id="13" name="Rectangle 12">
            <a:extLst>
              <a:ext uri="{FF2B5EF4-FFF2-40B4-BE49-F238E27FC236}">
                <a16:creationId xmlns:a16="http://schemas.microsoft.com/office/drawing/2014/main" id="{C36DD1C4-8CE6-0719-26C0-F9881B02E03B}"/>
              </a:ext>
            </a:extLst>
          </p:cNvPr>
          <p:cNvSpPr/>
          <p:nvPr/>
        </p:nvSpPr>
        <p:spPr>
          <a:xfrm>
            <a:off x="8826488" y="5484068"/>
            <a:ext cx="1151074" cy="19987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Rectangle 14">
            <a:extLst>
              <a:ext uri="{FF2B5EF4-FFF2-40B4-BE49-F238E27FC236}">
                <a16:creationId xmlns:a16="http://schemas.microsoft.com/office/drawing/2014/main" id="{E9AA3EC4-EAC0-B4EF-0C13-888A257745B7}"/>
              </a:ext>
            </a:extLst>
          </p:cNvPr>
          <p:cNvSpPr/>
          <p:nvPr/>
        </p:nvSpPr>
        <p:spPr>
          <a:xfrm>
            <a:off x="10208302" y="5484068"/>
            <a:ext cx="891914" cy="19987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ustDataLst>
      <p:tags r:id="rId1"/>
    </p:custDataLst>
    <p:extLst>
      <p:ext uri="{BB962C8B-B14F-4D97-AF65-F5344CB8AC3E}">
        <p14:creationId xmlns:p14="http://schemas.microsoft.com/office/powerpoint/2010/main" val="418292723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BCC43-F951-0D25-5AAA-D6C80D3FEF8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9CCE646-F68C-12E9-E86D-3520FEF07643}"/>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78627090-30FA-4F8C-1374-7BF441DE68DB}"/>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67403F1F-9579-3BA4-1A38-3671B56E27D3}"/>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88731D44-B1F8-33B0-A2FF-F430EDF2B9FC}"/>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sp>
        <p:nvSpPr>
          <p:cNvPr id="3" name="文本框 9">
            <a:extLst>
              <a:ext uri="{FF2B5EF4-FFF2-40B4-BE49-F238E27FC236}">
                <a16:creationId xmlns:a16="http://schemas.microsoft.com/office/drawing/2014/main" id="{5F4DE7EC-B2A0-FA25-61C6-5E86191438EC}"/>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Evaluation</a:t>
            </a:r>
          </a:p>
        </p:txBody>
      </p:sp>
      <p:sp>
        <p:nvSpPr>
          <p:cNvPr id="7" name="TextBox 6">
            <a:extLst>
              <a:ext uri="{FF2B5EF4-FFF2-40B4-BE49-F238E27FC236}">
                <a16:creationId xmlns:a16="http://schemas.microsoft.com/office/drawing/2014/main" id="{BD224F97-1880-96BE-DE9D-5ACC1530F799}"/>
              </a:ext>
            </a:extLst>
          </p:cNvPr>
          <p:cNvSpPr txBox="1"/>
          <p:nvPr/>
        </p:nvSpPr>
        <p:spPr>
          <a:xfrm>
            <a:off x="386716" y="1551925"/>
            <a:ext cx="11341348" cy="2409186"/>
          </a:xfrm>
          <a:prstGeom prst="rect">
            <a:avLst/>
          </a:prstGeom>
          <a:noFill/>
        </p:spPr>
        <p:txBody>
          <a:bodyPr wrap="square">
            <a:spAutoFit/>
          </a:bodyPr>
          <a:lstStyle/>
          <a:p>
            <a:pPr>
              <a:lnSpc>
                <a:spcPct val="150000"/>
              </a:lnSpc>
            </a:pPr>
            <a:r>
              <a:rPr lang="en-CN" b="1" dirty="0">
                <a:latin typeface="Microsoft YaHei UI" panose="020B0503020204020204" pitchFamily="34" charset="-122"/>
                <a:ea typeface="Microsoft YaHei UI" panose="020B0503020204020204" pitchFamily="34" charset="-122"/>
              </a:rPr>
              <a:t>Benchmarks:</a:t>
            </a:r>
          </a:p>
          <a:p>
            <a:pPr marL="342900" indent="-342900">
              <a:lnSpc>
                <a:spcPct val="150000"/>
              </a:lnSpc>
              <a:buFont typeface="Arial" panose="020B0604020202020204" pitchFamily="34" charset="0"/>
              <a:buChar char="•"/>
            </a:pPr>
            <a:r>
              <a:rPr lang="en-CN" sz="1400" b="1" dirty="0">
                <a:latin typeface="Microsoft YaHei UI" panose="020B0503020204020204" pitchFamily="34" charset="-122"/>
                <a:ea typeface="Microsoft YaHei UI" panose="020B0503020204020204" pitchFamily="34" charset="-122"/>
              </a:rPr>
              <a:t>GAIA</a:t>
            </a:r>
            <a:r>
              <a:rPr lang="en-US" sz="1400" b="1" dirty="0">
                <a:latin typeface="Microsoft YaHei UI" panose="020B0503020204020204" pitchFamily="34" charset="-122"/>
                <a:ea typeface="Microsoft YaHei UI" panose="020B0503020204020204" pitchFamily="34" charset="-122"/>
              </a:rPr>
              <a:t>: </a:t>
            </a:r>
            <a:r>
              <a:rPr lang="en-US" sz="1400" dirty="0">
                <a:latin typeface="Microsoft YaHei UI" panose="020B0503020204020204" pitchFamily="34" charset="-122"/>
                <a:ea typeface="Microsoft YaHei UI" panose="020B0503020204020204" pitchFamily="34" charset="-122"/>
              </a:rPr>
              <a:t>a benchmark for general AI assistants with 465 multi-modal question–answer pairs, which are real-world and challenging, requiring multiple steps and multiple tools to solve.</a:t>
            </a:r>
          </a:p>
          <a:p>
            <a:pPr marL="342900" indent="-342900">
              <a:lnSpc>
                <a:spcPct val="150000"/>
              </a:lnSpc>
              <a:buFont typeface="Arial" panose="020B0604020202020204" pitchFamily="34" charset="0"/>
              <a:buChar char="•"/>
            </a:pPr>
            <a:r>
              <a:rPr lang="en-CN" sz="1400" b="1" dirty="0">
                <a:latin typeface="Microsoft YaHei UI" panose="020B0503020204020204" pitchFamily="34" charset="-122"/>
                <a:ea typeface="Microsoft YaHei UI" panose="020B0503020204020204" pitchFamily="34" charset="-122"/>
              </a:rPr>
              <a:t>AssistantBench: </a:t>
            </a:r>
            <a:r>
              <a:rPr lang="en-US" sz="1400" dirty="0">
                <a:latin typeface="Microsoft YaHei UI" panose="020B0503020204020204" pitchFamily="34" charset="-122"/>
                <a:ea typeface="Microsoft YaHei UI" panose="020B0503020204020204" pitchFamily="34" charset="-122"/>
              </a:rPr>
              <a:t>a set of 214 question–answer pairs that are realistic, time-consuming (requiring a human several minutes to perform), and require navigating real-world websites and multi-step reasoning.</a:t>
            </a:r>
          </a:p>
          <a:p>
            <a:pPr marL="342900" indent="-342900">
              <a:lnSpc>
                <a:spcPct val="150000"/>
              </a:lnSpc>
              <a:buFont typeface="Arial" panose="020B0604020202020204" pitchFamily="34" charset="0"/>
              <a:buChar char="•"/>
            </a:pPr>
            <a:r>
              <a:rPr lang="en-US" sz="1400" b="1" dirty="0" err="1">
                <a:latin typeface="Microsoft YaHei UI" panose="020B0503020204020204" pitchFamily="34" charset="-122"/>
                <a:ea typeface="Microsoft YaHei UI" panose="020B0503020204020204" pitchFamily="34" charset="-122"/>
              </a:rPr>
              <a:t>WebArena</a:t>
            </a:r>
            <a:r>
              <a:rPr lang="en-US" sz="1400" b="1" dirty="0">
                <a:latin typeface="Microsoft YaHei UI" panose="020B0503020204020204" pitchFamily="34" charset="-122"/>
                <a:ea typeface="Microsoft YaHei UI" panose="020B0503020204020204" pitchFamily="34" charset="-122"/>
              </a:rPr>
              <a:t>: </a:t>
            </a:r>
            <a:r>
              <a:rPr lang="en-US" sz="1400" dirty="0">
                <a:latin typeface="Microsoft YaHei UI" panose="020B0503020204020204" pitchFamily="34" charset="-122"/>
                <a:ea typeface="Microsoft YaHei UI" panose="020B0503020204020204" pitchFamily="34" charset="-122"/>
              </a:rPr>
              <a:t>812 tasks across five major website categories (e.g., shopping, forums, maps, etc.), and a sixth category that requires multi-step planning and interacting with multiple websites.</a:t>
            </a:r>
            <a:endParaRPr lang="en-CN" sz="1400" dirty="0">
              <a:latin typeface="Microsoft YaHei UI" panose="020B0503020204020204" pitchFamily="34" charset="-122"/>
              <a:ea typeface="Microsoft YaHei UI" panose="020B0503020204020204" pitchFamily="34" charset="-122"/>
            </a:endParaRPr>
          </a:p>
        </p:txBody>
      </p:sp>
      <p:pic>
        <p:nvPicPr>
          <p:cNvPr id="8" name="Picture 7" descr="A screenshot of a test&#10;&#10;AI-generated content may be incorrect.">
            <a:extLst>
              <a:ext uri="{FF2B5EF4-FFF2-40B4-BE49-F238E27FC236}">
                <a16:creationId xmlns:a16="http://schemas.microsoft.com/office/drawing/2014/main" id="{90DF8682-446D-0F8D-BD8F-06175B0E1F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4543" y="3961109"/>
            <a:ext cx="3965756" cy="2201353"/>
          </a:xfrm>
          <a:prstGeom prst="rect">
            <a:avLst/>
          </a:prstGeom>
        </p:spPr>
      </p:pic>
      <p:sp>
        <p:nvSpPr>
          <p:cNvPr id="11" name="TextBox 10">
            <a:extLst>
              <a:ext uri="{FF2B5EF4-FFF2-40B4-BE49-F238E27FC236}">
                <a16:creationId xmlns:a16="http://schemas.microsoft.com/office/drawing/2014/main" id="{5CBCB781-C0A2-E7CD-041A-44DE74F8E55E}"/>
              </a:ext>
            </a:extLst>
          </p:cNvPr>
          <p:cNvSpPr txBox="1"/>
          <p:nvPr/>
        </p:nvSpPr>
        <p:spPr>
          <a:xfrm>
            <a:off x="1826787" y="6194688"/>
            <a:ext cx="1419639" cy="276999"/>
          </a:xfrm>
          <a:prstGeom prst="rect">
            <a:avLst/>
          </a:prstGeom>
          <a:noFill/>
        </p:spPr>
        <p:txBody>
          <a:bodyPr wrap="square">
            <a:spAutoFit/>
          </a:bodyPr>
          <a:lstStyle/>
          <a:p>
            <a:r>
              <a:rPr lang="en-CN" sz="1200" b="1" dirty="0">
                <a:latin typeface="Microsoft YaHei UI" panose="020B0503020204020204" pitchFamily="34" charset="-122"/>
                <a:ea typeface="Microsoft YaHei UI" panose="020B0503020204020204" pitchFamily="34" charset="-122"/>
              </a:rPr>
              <a:t>GAIA</a:t>
            </a:r>
            <a:r>
              <a:rPr lang="en-US" sz="1200" b="1" dirty="0">
                <a:latin typeface="Microsoft YaHei UI" panose="020B0503020204020204" pitchFamily="34" charset="-122"/>
                <a:ea typeface="Microsoft YaHei UI" panose="020B0503020204020204" pitchFamily="34" charset="-122"/>
              </a:rPr>
              <a:t> examples </a:t>
            </a:r>
            <a:endParaRPr lang="en-CN" sz="1200" dirty="0"/>
          </a:p>
        </p:txBody>
      </p:sp>
      <p:sp>
        <p:nvSpPr>
          <p:cNvPr id="14" name="TextBox 13">
            <a:extLst>
              <a:ext uri="{FF2B5EF4-FFF2-40B4-BE49-F238E27FC236}">
                <a16:creationId xmlns:a16="http://schemas.microsoft.com/office/drawing/2014/main" id="{904F8261-176D-7FBA-42B9-4D51DBB63F9A}"/>
              </a:ext>
            </a:extLst>
          </p:cNvPr>
          <p:cNvSpPr txBox="1"/>
          <p:nvPr/>
        </p:nvSpPr>
        <p:spPr>
          <a:xfrm>
            <a:off x="5352077" y="6192735"/>
            <a:ext cx="2157176" cy="276999"/>
          </a:xfrm>
          <a:prstGeom prst="rect">
            <a:avLst/>
          </a:prstGeom>
          <a:noFill/>
        </p:spPr>
        <p:txBody>
          <a:bodyPr wrap="square">
            <a:spAutoFit/>
          </a:bodyPr>
          <a:lstStyle/>
          <a:p>
            <a:r>
              <a:rPr lang="en-CN" sz="1200" b="1" dirty="0">
                <a:latin typeface="Microsoft YaHei UI" panose="020B0503020204020204" pitchFamily="34" charset="-122"/>
                <a:ea typeface="Microsoft YaHei UI" panose="020B0503020204020204" pitchFamily="34" charset="-122"/>
              </a:rPr>
              <a:t>AssistantBench examples</a:t>
            </a:r>
            <a:endParaRPr lang="en-CN" sz="1200" dirty="0"/>
          </a:p>
        </p:txBody>
      </p:sp>
      <p:pic>
        <p:nvPicPr>
          <p:cNvPr id="21" name="Picture 20" descr="A screenshot of a computer&#10;&#10;AI-generated content may be incorrect.">
            <a:extLst>
              <a:ext uri="{FF2B5EF4-FFF2-40B4-BE49-F238E27FC236}">
                <a16:creationId xmlns:a16="http://schemas.microsoft.com/office/drawing/2014/main" id="{DB65E2B5-D4FB-3F28-A220-119B8C8E36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4997" y="3989497"/>
            <a:ext cx="2611337" cy="2144576"/>
          </a:xfrm>
          <a:prstGeom prst="rect">
            <a:avLst/>
          </a:prstGeom>
        </p:spPr>
      </p:pic>
      <p:sp>
        <p:nvSpPr>
          <p:cNvPr id="25" name="TextBox 24">
            <a:extLst>
              <a:ext uri="{FF2B5EF4-FFF2-40B4-BE49-F238E27FC236}">
                <a16:creationId xmlns:a16="http://schemas.microsoft.com/office/drawing/2014/main" id="{2F7721E5-74BA-9917-787B-9A1D27F5D46F}"/>
              </a:ext>
            </a:extLst>
          </p:cNvPr>
          <p:cNvSpPr txBox="1"/>
          <p:nvPr/>
        </p:nvSpPr>
        <p:spPr>
          <a:xfrm>
            <a:off x="9049299" y="6199395"/>
            <a:ext cx="2157176" cy="276999"/>
          </a:xfrm>
          <a:prstGeom prst="rect">
            <a:avLst/>
          </a:prstGeom>
          <a:noFill/>
        </p:spPr>
        <p:txBody>
          <a:bodyPr wrap="square">
            <a:spAutoFit/>
          </a:bodyPr>
          <a:lstStyle/>
          <a:p>
            <a:r>
              <a:rPr lang="en-CN" sz="1200" b="1" dirty="0">
                <a:latin typeface="Microsoft YaHei UI" panose="020B0503020204020204" pitchFamily="34" charset="-122"/>
                <a:ea typeface="Microsoft YaHei UI" panose="020B0503020204020204" pitchFamily="34" charset="-122"/>
              </a:rPr>
              <a:t>WebArena example</a:t>
            </a:r>
            <a:endParaRPr lang="en-CN" sz="1200" dirty="0"/>
          </a:p>
        </p:txBody>
      </p:sp>
      <p:pic>
        <p:nvPicPr>
          <p:cNvPr id="27" name="Picture 26">
            <a:extLst>
              <a:ext uri="{FF2B5EF4-FFF2-40B4-BE49-F238E27FC236}">
                <a16:creationId xmlns:a16="http://schemas.microsoft.com/office/drawing/2014/main" id="{B4B51C00-CFA3-D97A-1D00-7C0F4C5132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30242" y="3790209"/>
            <a:ext cx="2329013" cy="2409186"/>
          </a:xfrm>
          <a:prstGeom prst="rect">
            <a:avLst/>
          </a:prstGeom>
        </p:spPr>
      </p:pic>
    </p:spTree>
    <p:custDataLst>
      <p:tags r:id="rId1"/>
    </p:custDataLst>
    <p:extLst>
      <p:ext uri="{BB962C8B-B14F-4D97-AF65-F5344CB8AC3E}">
        <p14:creationId xmlns:p14="http://schemas.microsoft.com/office/powerpoint/2010/main" val="366139103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E9AFA-380F-F9E3-E24F-44946A00695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EB3348E3-BB6A-96A5-6C33-B8BFBA0DF4A8}"/>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B258B5D8-261F-27BB-F84E-A05940832937}"/>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1C902DC1-2E48-E57A-F4B0-D72733ECFA2B}"/>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41408FE0-6B44-456C-12C5-3380EC439C08}"/>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b="1" dirty="0"/>
              <a:t>[Microsoft Research AI Frontiers] </a:t>
            </a:r>
            <a:r>
              <a:rPr lang="en-US" dirty="0"/>
              <a:t>Fourney, Adam, et al. "</a:t>
            </a:r>
            <a:r>
              <a:rPr lang="en-US" dirty="0" err="1"/>
              <a:t>Magentic</a:t>
            </a:r>
            <a:r>
              <a:rPr lang="en-US" dirty="0"/>
              <a:t>-one: A generalist multi-agent system for solving complex tasks." arXiv:2411.04468 (2024).</a:t>
            </a:r>
            <a:endParaRPr lang="en-CN" dirty="0"/>
          </a:p>
        </p:txBody>
      </p:sp>
      <p:sp>
        <p:nvSpPr>
          <p:cNvPr id="3" name="文本框 9">
            <a:extLst>
              <a:ext uri="{FF2B5EF4-FFF2-40B4-BE49-F238E27FC236}">
                <a16:creationId xmlns:a16="http://schemas.microsoft.com/office/drawing/2014/main" id="{BDDFA162-11C2-4071-7D5D-A85CCD44BBE4}"/>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err="1">
                <a:latin typeface="Microsoft YaHei UI" panose="020B0503020204020204" pitchFamily="34" charset="-122"/>
                <a:ea typeface="Microsoft YaHei UI" panose="020B0503020204020204" pitchFamily="34" charset="-122"/>
              </a:rPr>
              <a:t>Magentic</a:t>
            </a:r>
            <a:r>
              <a:rPr lang="en-US" sz="2200" b="1" dirty="0">
                <a:latin typeface="Microsoft YaHei UI" panose="020B0503020204020204" pitchFamily="34" charset="-122"/>
                <a:ea typeface="Microsoft YaHei UI" panose="020B0503020204020204" pitchFamily="34" charset="-122"/>
              </a:rPr>
              <a:t>-One Evaluation</a:t>
            </a:r>
          </a:p>
        </p:txBody>
      </p:sp>
      <p:sp>
        <p:nvSpPr>
          <p:cNvPr id="7" name="TextBox 6">
            <a:extLst>
              <a:ext uri="{FF2B5EF4-FFF2-40B4-BE49-F238E27FC236}">
                <a16:creationId xmlns:a16="http://schemas.microsoft.com/office/drawing/2014/main" id="{F29F42EC-48B2-64EF-75A1-599714B26106}"/>
              </a:ext>
            </a:extLst>
          </p:cNvPr>
          <p:cNvSpPr txBox="1"/>
          <p:nvPr/>
        </p:nvSpPr>
        <p:spPr>
          <a:xfrm>
            <a:off x="378212" y="1733942"/>
            <a:ext cx="11341348" cy="541046"/>
          </a:xfrm>
          <a:prstGeom prst="rect">
            <a:avLst/>
          </a:prstGeom>
          <a:noFill/>
        </p:spPr>
        <p:txBody>
          <a:bodyPr wrap="square">
            <a:spAutoFit/>
          </a:bodyPr>
          <a:lstStyle/>
          <a:p>
            <a:pPr>
              <a:lnSpc>
                <a:spcPct val="150000"/>
              </a:lnSpc>
            </a:pPr>
            <a:r>
              <a:rPr lang="en-CN" sz="2200" b="1" dirty="0">
                <a:latin typeface="Microsoft YaHei UI" panose="020B0503020204020204" pitchFamily="34" charset="-122"/>
                <a:ea typeface="Microsoft YaHei UI" panose="020B0503020204020204" pitchFamily="34" charset="-122"/>
              </a:rPr>
              <a:t>Performance:</a:t>
            </a:r>
          </a:p>
        </p:txBody>
      </p:sp>
      <p:pic>
        <p:nvPicPr>
          <p:cNvPr id="8" name="Picture 7" descr="A table of numbers and text&#10;&#10;AI-generated content may be incorrect.">
            <a:extLst>
              <a:ext uri="{FF2B5EF4-FFF2-40B4-BE49-F238E27FC236}">
                <a16:creationId xmlns:a16="http://schemas.microsoft.com/office/drawing/2014/main" id="{E3E460FB-15DD-4167-9673-2FCD8C2FFF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030" y="2559423"/>
            <a:ext cx="7772400" cy="3486211"/>
          </a:xfrm>
          <a:prstGeom prst="rect">
            <a:avLst/>
          </a:prstGeom>
        </p:spPr>
      </p:pic>
      <p:sp>
        <p:nvSpPr>
          <p:cNvPr id="11" name="TextBox 10">
            <a:extLst>
              <a:ext uri="{FF2B5EF4-FFF2-40B4-BE49-F238E27FC236}">
                <a16:creationId xmlns:a16="http://schemas.microsoft.com/office/drawing/2014/main" id="{194600F3-4A46-296F-3718-91AFB986E35E}"/>
              </a:ext>
            </a:extLst>
          </p:cNvPr>
          <p:cNvSpPr txBox="1"/>
          <p:nvPr/>
        </p:nvSpPr>
        <p:spPr>
          <a:xfrm>
            <a:off x="8460740" y="3758927"/>
            <a:ext cx="3267710" cy="923330"/>
          </a:xfrm>
          <a:prstGeom prst="rect">
            <a:avLst/>
          </a:prstGeom>
          <a:noFill/>
        </p:spPr>
        <p:txBody>
          <a:bodyPr wrap="square">
            <a:spAutoFit/>
          </a:bodyPr>
          <a:lstStyle/>
          <a:p>
            <a:r>
              <a:rPr lang="en-CN" dirty="0">
                <a:solidFill>
                  <a:srgbClr val="FF0000"/>
                </a:solidFill>
                <a:latin typeface="Microsoft YaHei UI" panose="020B0503020204020204" pitchFamily="34" charset="-122"/>
                <a:ea typeface="Microsoft YaHei UI" panose="020B0503020204020204" pitchFamily="34" charset="-122"/>
              </a:rPr>
              <a:t>Magentic-One complete better on hard tasks on AssistantBench.</a:t>
            </a:r>
          </a:p>
        </p:txBody>
      </p:sp>
      <p:sp>
        <p:nvSpPr>
          <p:cNvPr id="12" name="TextBox 11">
            <a:extLst>
              <a:ext uri="{FF2B5EF4-FFF2-40B4-BE49-F238E27FC236}">
                <a16:creationId xmlns:a16="http://schemas.microsoft.com/office/drawing/2014/main" id="{280F9354-06F5-FAA7-4160-70113FE52598}"/>
              </a:ext>
            </a:extLst>
          </p:cNvPr>
          <p:cNvSpPr txBox="1"/>
          <p:nvPr/>
        </p:nvSpPr>
        <p:spPr>
          <a:xfrm>
            <a:off x="8451850" y="2559423"/>
            <a:ext cx="3267710" cy="646331"/>
          </a:xfrm>
          <a:prstGeom prst="rect">
            <a:avLst/>
          </a:prstGeom>
          <a:noFill/>
        </p:spPr>
        <p:txBody>
          <a:bodyPr wrap="square">
            <a:spAutoFit/>
          </a:bodyPr>
          <a:lstStyle/>
          <a:p>
            <a:r>
              <a:rPr lang="en-CN" dirty="0">
                <a:latin typeface="Microsoft YaHei UI" panose="020B0503020204020204" pitchFamily="34" charset="-122"/>
                <a:ea typeface="Microsoft YaHei UI" panose="020B0503020204020204" pitchFamily="34" charset="-122"/>
              </a:rPr>
              <a:t>Best baseline for each dataset is different.</a:t>
            </a:r>
          </a:p>
        </p:txBody>
      </p:sp>
    </p:spTree>
    <p:custDataLst>
      <p:tags r:id="rId1"/>
    </p:custDataLst>
    <p:extLst>
      <p:ext uri="{BB962C8B-B14F-4D97-AF65-F5344CB8AC3E}">
        <p14:creationId xmlns:p14="http://schemas.microsoft.com/office/powerpoint/2010/main" val="387939124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CACC-CD55-17FE-F7D0-C3FF26ED2F99}"/>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43B28AA9-B68E-FB3B-6A9C-F688400CB63B}"/>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AAED9A54-2087-722D-BAB4-B4E8524613D5}"/>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0AEACF42-B348-004D-26E3-84A471D53233}"/>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C8C100B9-7488-AB6F-32AE-D267FC718EC5}"/>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Ding, Keyan, et al. "</a:t>
            </a:r>
            <a:r>
              <a:rPr lang="en-US" dirty="0" err="1"/>
              <a:t>SciToolAgent</a:t>
            </a:r>
            <a:r>
              <a:rPr lang="en-US" dirty="0"/>
              <a:t>: a knowledge-graph-driven scientific agent for multitool integration." Nature Computational Science (2025): 1-11.</a:t>
            </a:r>
            <a:endParaRPr lang="en-CN" dirty="0"/>
          </a:p>
        </p:txBody>
      </p:sp>
      <p:sp>
        <p:nvSpPr>
          <p:cNvPr id="3" name="文本框 9">
            <a:extLst>
              <a:ext uri="{FF2B5EF4-FFF2-40B4-BE49-F238E27FC236}">
                <a16:creationId xmlns:a16="http://schemas.microsoft.com/office/drawing/2014/main" id="{429A64BC-73A6-8DA8-F80A-369DBC12AA01}"/>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err="1">
                <a:latin typeface="Microsoft YaHei UI" panose="020B0503020204020204" pitchFamily="34" charset="-122"/>
                <a:ea typeface="Microsoft YaHei UI" panose="020B0503020204020204" pitchFamily="34" charset="-122"/>
                <a:sym typeface="Wingdings" pitchFamily="2" charset="2"/>
              </a:rPr>
              <a:t>SciToolAgent</a:t>
            </a:r>
            <a:r>
              <a:rPr lang="en-US" altLang="zh-CN" sz="2200" b="1" dirty="0">
                <a:latin typeface="Microsoft YaHei UI" panose="020B0503020204020204" pitchFamily="34" charset="-122"/>
                <a:ea typeface="Microsoft YaHei UI" panose="020B0503020204020204" pitchFamily="34" charset="-122"/>
                <a:sym typeface="Wingdings" pitchFamily="2" charset="2"/>
              </a:rPr>
              <a:t>: an LLM-based agent in scientific research</a:t>
            </a:r>
            <a:endParaRPr lang="en-US" sz="2200" b="1" dirty="0">
              <a:latin typeface="Microsoft YaHei UI" panose="020B0503020204020204" pitchFamily="34" charset="-122"/>
              <a:ea typeface="Microsoft YaHei UI" panose="020B0503020204020204" pitchFamily="34" charset="-122"/>
            </a:endParaRPr>
          </a:p>
        </p:txBody>
      </p:sp>
      <p:pic>
        <p:nvPicPr>
          <p:cNvPr id="10" name="Content Placeholder 2">
            <a:extLst>
              <a:ext uri="{FF2B5EF4-FFF2-40B4-BE49-F238E27FC236}">
                <a16:creationId xmlns:a16="http://schemas.microsoft.com/office/drawing/2014/main" id="{DEB5D8C0-4AB6-1EE5-9739-43BC884C6767}"/>
              </a:ext>
            </a:extLst>
          </p:cNvPr>
          <p:cNvPicPr>
            <a:picLocks noGrp="1" noChangeAspect="1"/>
          </p:cNvPicPr>
          <p:nvPr>
            <p:ph idx="1"/>
          </p:nvPr>
        </p:nvPicPr>
        <p:blipFill>
          <a:blip r:embed="rId5"/>
          <a:stretch>
            <a:fillRect/>
          </a:stretch>
        </p:blipFill>
        <p:spPr>
          <a:xfrm>
            <a:off x="458263" y="1597217"/>
            <a:ext cx="7171262" cy="4853410"/>
          </a:xfrm>
        </p:spPr>
      </p:pic>
      <p:sp>
        <p:nvSpPr>
          <p:cNvPr id="13" name="TextBox 12">
            <a:extLst>
              <a:ext uri="{FF2B5EF4-FFF2-40B4-BE49-F238E27FC236}">
                <a16:creationId xmlns:a16="http://schemas.microsoft.com/office/drawing/2014/main" id="{87E36A38-2B02-8E19-944A-0EC2E401D0EB}"/>
              </a:ext>
            </a:extLst>
          </p:cNvPr>
          <p:cNvSpPr txBox="1"/>
          <p:nvPr/>
        </p:nvSpPr>
        <p:spPr>
          <a:xfrm>
            <a:off x="7905962" y="1764928"/>
            <a:ext cx="4044696" cy="4158126"/>
          </a:xfrm>
          <a:prstGeom prst="rect">
            <a:avLst/>
          </a:prstGeom>
          <a:noFill/>
        </p:spPr>
        <p:txBody>
          <a:bodyPr wrap="square">
            <a:spAutoFit/>
          </a:bodyPr>
          <a:lstStyle/>
          <a:p>
            <a:pPr>
              <a:lnSpc>
                <a:spcPct val="150000"/>
              </a:lnSpc>
            </a:pPr>
            <a:r>
              <a:rPr lang="en-CN" b="1" dirty="0">
                <a:latin typeface="Microsoft YaHei UI" panose="020B0503020204020204" pitchFamily="34" charset="-122"/>
                <a:ea typeface="Microsoft YaHei UI" panose="020B0503020204020204" pitchFamily="34" charset="-122"/>
              </a:rPr>
              <a:t>Why SciToolAgent?</a:t>
            </a:r>
          </a:p>
          <a:p>
            <a:pPr>
              <a:lnSpc>
                <a:spcPct val="150000"/>
              </a:lnSpc>
            </a:pPr>
            <a:r>
              <a:rPr lang="en-CN" sz="1600" dirty="0">
                <a:latin typeface="Microsoft YaHei UI" panose="020B0503020204020204" pitchFamily="34" charset="-122"/>
                <a:ea typeface="Microsoft YaHei UI" panose="020B0503020204020204" pitchFamily="34" charset="-122"/>
              </a:rPr>
              <a:t>Issues of existing methods </a:t>
            </a:r>
            <a:r>
              <a:rPr lang="en-US" sz="1600" dirty="0">
                <a:latin typeface="Microsoft YaHei UI" panose="020B0503020204020204" pitchFamily="34" charset="-122"/>
                <a:ea typeface="Microsoft YaHei UI" panose="020B0503020204020204" pitchFamily="34" charset="-122"/>
              </a:rPr>
              <a:t>integrating LLMs with domain-specific scientific tools:</a:t>
            </a:r>
          </a:p>
          <a:p>
            <a:pPr marL="342900"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A restricted set of tools without semantic tool connections </a:t>
            </a:r>
            <a:r>
              <a:rPr lang="en-US" sz="1600" b="1" dirty="0">
                <a:latin typeface="Microsoft YaHei UI" panose="020B0503020204020204" pitchFamily="34" charset="-122"/>
                <a:ea typeface="Microsoft YaHei UI" panose="020B0503020204020204" pitchFamily="34" charset="-122"/>
              </a:rPr>
              <a:t>(</a:t>
            </a:r>
            <a:r>
              <a:rPr lang="en-US" sz="1600" b="1" dirty="0" err="1">
                <a:latin typeface="Microsoft YaHei UI" panose="020B0503020204020204" pitchFamily="34" charset="-122"/>
                <a:ea typeface="Microsoft YaHei UI" panose="020B0503020204020204" pitchFamily="34" charset="-122"/>
              </a:rPr>
              <a:t>SciToolKG</a:t>
            </a:r>
            <a:r>
              <a:rPr lang="en-US" sz="1600" b="1" dirty="0">
                <a:latin typeface="Microsoft YaHei UI" panose="020B0503020204020204" pitchFamily="34" charset="-122"/>
                <a:ea typeface="Microsoft YaHei UI" panose="020B0503020204020204" pitchFamily="34" charset="-122"/>
              </a:rPr>
              <a:t> constructed)</a:t>
            </a:r>
            <a:r>
              <a:rPr lang="en-US" sz="1600" dirty="0">
                <a:latin typeface="Microsoft YaHei UI" panose="020B0503020204020204" pitchFamily="34" charset="-122"/>
                <a:ea typeface="Microsoft YaHei UI" panose="020B0503020204020204" pitchFamily="34" charset="-122"/>
              </a:rPr>
              <a:t>.</a:t>
            </a:r>
            <a:endParaRPr lang="en-US" sz="1600" b="1" dirty="0">
              <a:latin typeface="Microsoft YaHei UI" panose="020B0503020204020204" pitchFamily="34" charset="-122"/>
              <a:ea typeface="Microsoft YaHei UI" panose="020B0503020204020204" pitchFamily="34" charset="-122"/>
            </a:endParaRPr>
          </a:p>
          <a:p>
            <a:pPr marL="342900"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Overlook crucial safety and ethical considerations in scientific research </a:t>
            </a:r>
            <a:r>
              <a:rPr lang="en-US" sz="1600" b="1" dirty="0">
                <a:latin typeface="Microsoft YaHei UI" panose="020B0503020204020204" pitchFamily="34" charset="-122"/>
                <a:ea typeface="Microsoft YaHei UI" panose="020B0503020204020204" pitchFamily="34" charset="-122"/>
              </a:rPr>
              <a:t>(the security check in the Executor)</a:t>
            </a:r>
            <a:r>
              <a:rPr lang="en-US" sz="1600" dirty="0">
                <a:latin typeface="Microsoft YaHei UI" panose="020B0503020204020204" pitchFamily="34" charset="-122"/>
                <a:ea typeface="Microsoft YaHei UI" panose="020B0503020204020204" pitchFamily="34" charset="-122"/>
              </a:rPr>
              <a:t>.</a:t>
            </a:r>
            <a:endParaRPr lang="en-US" sz="1600" b="1" dirty="0">
              <a:latin typeface="Microsoft YaHei UI" panose="020B0503020204020204" pitchFamily="34" charset="-122"/>
              <a:ea typeface="Microsoft YaHei UI" panose="020B0503020204020204" pitchFamily="34" charset="-122"/>
            </a:endParaRPr>
          </a:p>
        </p:txBody>
      </p:sp>
      <p:sp>
        <p:nvSpPr>
          <p:cNvPr id="2" name="Rectangle 1">
            <a:extLst>
              <a:ext uri="{FF2B5EF4-FFF2-40B4-BE49-F238E27FC236}">
                <a16:creationId xmlns:a16="http://schemas.microsoft.com/office/drawing/2014/main" id="{A0F95E8E-6E50-F6B5-565A-32178AA46C4B}"/>
              </a:ext>
            </a:extLst>
          </p:cNvPr>
          <p:cNvSpPr/>
          <p:nvPr/>
        </p:nvSpPr>
        <p:spPr>
          <a:xfrm>
            <a:off x="1632031" y="4341802"/>
            <a:ext cx="729204" cy="6931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FCF06DBC-E7D2-8CD5-EBB0-4AD8822D16BE}"/>
              </a:ext>
            </a:extLst>
          </p:cNvPr>
          <p:cNvSpPr/>
          <p:nvPr/>
        </p:nvSpPr>
        <p:spPr>
          <a:xfrm>
            <a:off x="492987" y="1637630"/>
            <a:ext cx="7136538" cy="26637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E56A3831-4F9A-EB8B-5A29-64B3D12999ED}"/>
              </a:ext>
            </a:extLst>
          </p:cNvPr>
          <p:cNvSpPr/>
          <p:nvPr/>
        </p:nvSpPr>
        <p:spPr>
          <a:xfrm>
            <a:off x="4832430" y="4495841"/>
            <a:ext cx="1684483" cy="76494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B3A45090-7497-6365-97D9-2C1CA70CD05E}"/>
              </a:ext>
            </a:extLst>
          </p:cNvPr>
          <p:cNvSpPr txBox="1"/>
          <p:nvPr/>
        </p:nvSpPr>
        <p:spPr>
          <a:xfrm>
            <a:off x="63654" y="1613185"/>
            <a:ext cx="396262" cy="369332"/>
          </a:xfrm>
          <a:prstGeom prst="rect">
            <a:avLst/>
          </a:prstGeom>
          <a:noFill/>
        </p:spPr>
        <p:txBody>
          <a:bodyPr wrap="none" rtlCol="0">
            <a:spAutoFit/>
          </a:bodyPr>
          <a:lstStyle/>
          <a:p>
            <a:r>
              <a:rPr lang="en-CN" dirty="0">
                <a:solidFill>
                  <a:srgbClr val="FF0000"/>
                </a:solidFill>
                <a:latin typeface="Microsoft YaHei UI" panose="020B0503020204020204" pitchFamily="34" charset="-122"/>
                <a:ea typeface="Microsoft YaHei UI" panose="020B0503020204020204" pitchFamily="34" charset="-122"/>
              </a:rPr>
              <a:t>1)</a:t>
            </a:r>
          </a:p>
        </p:txBody>
      </p:sp>
      <p:sp>
        <p:nvSpPr>
          <p:cNvPr id="12" name="TextBox 11">
            <a:extLst>
              <a:ext uri="{FF2B5EF4-FFF2-40B4-BE49-F238E27FC236}">
                <a16:creationId xmlns:a16="http://schemas.microsoft.com/office/drawing/2014/main" id="{F7895F14-39DC-E8FC-D280-A0A10C95E7F0}"/>
              </a:ext>
            </a:extLst>
          </p:cNvPr>
          <p:cNvSpPr txBox="1"/>
          <p:nvPr/>
        </p:nvSpPr>
        <p:spPr>
          <a:xfrm>
            <a:off x="4482715" y="4427529"/>
            <a:ext cx="396262" cy="369332"/>
          </a:xfrm>
          <a:prstGeom prst="rect">
            <a:avLst/>
          </a:prstGeom>
          <a:noFill/>
        </p:spPr>
        <p:txBody>
          <a:bodyPr wrap="none" rtlCol="0">
            <a:spAutoFit/>
          </a:bodyPr>
          <a:lstStyle/>
          <a:p>
            <a:r>
              <a:rPr lang="en-CN" dirty="0">
                <a:solidFill>
                  <a:srgbClr val="FF0000"/>
                </a:solidFill>
                <a:latin typeface="Microsoft YaHei UI" panose="020B0503020204020204" pitchFamily="34" charset="-122"/>
                <a:ea typeface="Microsoft YaHei UI" panose="020B0503020204020204" pitchFamily="34" charset="-122"/>
              </a:rPr>
              <a:t>2)</a:t>
            </a:r>
          </a:p>
        </p:txBody>
      </p:sp>
      <p:sp>
        <p:nvSpPr>
          <p:cNvPr id="14" name="TextBox 13">
            <a:extLst>
              <a:ext uri="{FF2B5EF4-FFF2-40B4-BE49-F238E27FC236}">
                <a16:creationId xmlns:a16="http://schemas.microsoft.com/office/drawing/2014/main" id="{2DA9BA0B-A7C4-A4B2-F191-357A5200A018}"/>
              </a:ext>
            </a:extLst>
          </p:cNvPr>
          <p:cNvSpPr txBox="1"/>
          <p:nvPr/>
        </p:nvSpPr>
        <p:spPr>
          <a:xfrm>
            <a:off x="1236183" y="4246921"/>
            <a:ext cx="396262" cy="369332"/>
          </a:xfrm>
          <a:prstGeom prst="rect">
            <a:avLst/>
          </a:prstGeom>
          <a:noFill/>
        </p:spPr>
        <p:txBody>
          <a:bodyPr wrap="none" rtlCol="0">
            <a:spAutoFit/>
          </a:bodyPr>
          <a:lstStyle/>
          <a:p>
            <a:r>
              <a:rPr lang="en-CN" dirty="0">
                <a:solidFill>
                  <a:srgbClr val="FF0000"/>
                </a:solidFill>
                <a:latin typeface="Microsoft YaHei UI" panose="020B0503020204020204" pitchFamily="34" charset="-122"/>
                <a:ea typeface="Microsoft YaHei UI" panose="020B0503020204020204" pitchFamily="34" charset="-122"/>
              </a:rPr>
              <a:t>1)</a:t>
            </a:r>
          </a:p>
        </p:txBody>
      </p:sp>
    </p:spTree>
    <p:custDataLst>
      <p:tags r:id="rId1"/>
    </p:custDataLst>
    <p:extLst>
      <p:ext uri="{BB962C8B-B14F-4D97-AF65-F5344CB8AC3E}">
        <p14:creationId xmlns:p14="http://schemas.microsoft.com/office/powerpoint/2010/main" val="380245363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882D-0B85-7FC6-F5B9-D86ECAD3218D}"/>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F0CCD5B8-EABD-FBED-85A7-6E49BFFBD5BC}"/>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684EBFC3-D161-C41C-DAE5-A40DDC612A1D}"/>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26ED270C-F20E-9244-757B-1ED897D6E82D}"/>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DA450C90-1006-F633-7E60-6F59A30DDDDD}"/>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Ding, Keyan, et al. "</a:t>
            </a:r>
            <a:r>
              <a:rPr lang="en-US" dirty="0" err="1"/>
              <a:t>SciToolAgent</a:t>
            </a:r>
            <a:r>
              <a:rPr lang="en-US" dirty="0"/>
              <a:t>: a knowledge-graph-driven scientific agent for multitool integration." Nature Computational Science (2025): 1-11.</a:t>
            </a:r>
            <a:endParaRPr lang="en-CN" dirty="0"/>
          </a:p>
        </p:txBody>
      </p:sp>
      <p:sp>
        <p:nvSpPr>
          <p:cNvPr id="3" name="文本框 9">
            <a:extLst>
              <a:ext uri="{FF2B5EF4-FFF2-40B4-BE49-F238E27FC236}">
                <a16:creationId xmlns:a16="http://schemas.microsoft.com/office/drawing/2014/main" id="{C0714681-FBEF-F467-CD11-44AA044C8ADE}"/>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err="1">
                <a:latin typeface="Microsoft YaHei UI" panose="020B0503020204020204" pitchFamily="34" charset="-122"/>
                <a:ea typeface="Microsoft YaHei UI" panose="020B0503020204020204" pitchFamily="34" charset="-122"/>
                <a:sym typeface="Wingdings" pitchFamily="2" charset="2"/>
              </a:rPr>
              <a:t>SciToolAgent</a:t>
            </a:r>
            <a:r>
              <a:rPr lang="en-US" altLang="zh-CN" sz="2200" b="1" dirty="0">
                <a:latin typeface="Microsoft YaHei UI" panose="020B0503020204020204" pitchFamily="34" charset="-122"/>
                <a:ea typeface="Microsoft YaHei UI" panose="020B0503020204020204" pitchFamily="34" charset="-122"/>
                <a:sym typeface="Wingdings" pitchFamily="2" charset="2"/>
              </a:rPr>
              <a:t> Overview</a:t>
            </a:r>
            <a:endParaRPr lang="en-US" sz="2200" b="1" dirty="0">
              <a:latin typeface="Microsoft YaHei UI" panose="020B0503020204020204" pitchFamily="34" charset="-122"/>
              <a:ea typeface="Microsoft YaHei UI" panose="020B0503020204020204" pitchFamily="34" charset="-122"/>
            </a:endParaRPr>
          </a:p>
        </p:txBody>
      </p:sp>
      <p:pic>
        <p:nvPicPr>
          <p:cNvPr id="10" name="Content Placeholder 2">
            <a:extLst>
              <a:ext uri="{FF2B5EF4-FFF2-40B4-BE49-F238E27FC236}">
                <a16:creationId xmlns:a16="http://schemas.microsoft.com/office/drawing/2014/main" id="{6FCBA64B-69EE-B84D-BE2E-AB02B63340E6}"/>
              </a:ext>
            </a:extLst>
          </p:cNvPr>
          <p:cNvPicPr>
            <a:picLocks noGrp="1" noChangeAspect="1"/>
          </p:cNvPicPr>
          <p:nvPr>
            <p:ph idx="1"/>
          </p:nvPr>
        </p:nvPicPr>
        <p:blipFill>
          <a:blip r:embed="rId5"/>
          <a:stretch>
            <a:fillRect/>
          </a:stretch>
        </p:blipFill>
        <p:spPr>
          <a:xfrm>
            <a:off x="458263" y="1597217"/>
            <a:ext cx="7171262" cy="4853410"/>
          </a:xfrm>
        </p:spPr>
      </p:pic>
      <p:sp>
        <p:nvSpPr>
          <p:cNvPr id="13" name="TextBox 12">
            <a:extLst>
              <a:ext uri="{FF2B5EF4-FFF2-40B4-BE49-F238E27FC236}">
                <a16:creationId xmlns:a16="http://schemas.microsoft.com/office/drawing/2014/main" id="{B65995F5-3553-6A51-DCF6-82284274EB43}"/>
              </a:ext>
            </a:extLst>
          </p:cNvPr>
          <p:cNvSpPr txBox="1"/>
          <p:nvPr/>
        </p:nvSpPr>
        <p:spPr>
          <a:xfrm>
            <a:off x="7905963" y="1773806"/>
            <a:ext cx="3827774" cy="4573624"/>
          </a:xfrm>
          <a:prstGeom prst="rect">
            <a:avLst/>
          </a:prstGeom>
          <a:noFill/>
        </p:spPr>
        <p:txBody>
          <a:bodyPr wrap="square">
            <a:spAutoFit/>
          </a:bodyPr>
          <a:lstStyle/>
          <a:p>
            <a:pPr>
              <a:lnSpc>
                <a:spcPct val="150000"/>
              </a:lnSpc>
            </a:pPr>
            <a:r>
              <a:rPr lang="en-CN" b="1" dirty="0">
                <a:latin typeface="Microsoft YaHei UI" panose="020B0503020204020204" pitchFamily="34" charset="-122"/>
                <a:ea typeface="Microsoft YaHei UI" panose="020B0503020204020204" pitchFamily="34" charset="-122"/>
              </a:rPr>
              <a:t>SciToolAgent Implementation</a:t>
            </a:r>
          </a:p>
          <a:p>
            <a:pPr marL="342900" indent="-342900">
              <a:lnSpc>
                <a:spcPct val="150000"/>
              </a:lnSpc>
              <a:buFont typeface="+mj-lt"/>
              <a:buAutoNum type="arabicParenR"/>
            </a:pPr>
            <a:r>
              <a:rPr lang="en-CN" sz="1600" b="1" dirty="0">
                <a:solidFill>
                  <a:srgbClr val="FF0000"/>
                </a:solidFill>
                <a:latin typeface="Microsoft YaHei UI" panose="020B0503020204020204" pitchFamily="34" charset="-122"/>
                <a:ea typeface="Microsoft YaHei UI" panose="020B0503020204020204" pitchFamily="34" charset="-122"/>
              </a:rPr>
              <a:t>LLM-based Planner</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Retrieve relevant k tools</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Explore neighbor tools</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Generate Chain-of-Tools</a:t>
            </a:r>
          </a:p>
          <a:p>
            <a:pPr marL="342900" indent="-342900">
              <a:lnSpc>
                <a:spcPct val="150000"/>
              </a:lnSpc>
              <a:buFont typeface="+mj-lt"/>
              <a:buAutoNum type="arabicParenR"/>
            </a:pPr>
            <a:r>
              <a:rPr lang="en-CN" sz="1600" b="1" dirty="0">
                <a:solidFill>
                  <a:srgbClr val="FF0000"/>
                </a:solidFill>
                <a:latin typeface="Microsoft YaHei UI" panose="020B0503020204020204" pitchFamily="34" charset="-122"/>
                <a:ea typeface="Microsoft YaHei UI" panose="020B0503020204020204" pitchFamily="34" charset="-122"/>
              </a:rPr>
              <a:t>LLM-based Executor</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Prepare necessary data</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Invoke tools with prepared inputs</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Error handling and retries</a:t>
            </a:r>
          </a:p>
          <a:p>
            <a:pPr marL="742950" lvl="1" indent="-285750">
              <a:lnSpc>
                <a:spcPct val="150000"/>
              </a:lnSpc>
              <a:buFont typeface="Wingdings" pitchFamily="2" charset="2"/>
              <a:buChar char="§"/>
            </a:pPr>
            <a:r>
              <a:rPr lang="en-CN" sz="1400" dirty="0">
                <a:latin typeface="Microsoft YaHei UI" panose="020B0503020204020204" pitchFamily="34" charset="-122"/>
                <a:ea typeface="Microsoft YaHei UI" panose="020B0503020204020204" pitchFamily="34" charset="-122"/>
              </a:rPr>
              <a:t>Safety check </a:t>
            </a:r>
          </a:p>
          <a:p>
            <a:pPr marL="342900" indent="-342900">
              <a:lnSpc>
                <a:spcPct val="150000"/>
              </a:lnSpc>
              <a:buFont typeface="+mj-lt"/>
              <a:buAutoNum type="arabicParenR"/>
            </a:pPr>
            <a:r>
              <a:rPr lang="en-CN" sz="1600" b="1" dirty="0">
                <a:solidFill>
                  <a:srgbClr val="FF0000"/>
                </a:solidFill>
                <a:latin typeface="Microsoft YaHei UI" panose="020B0503020204020204" pitchFamily="34" charset="-122"/>
                <a:ea typeface="Microsoft YaHei UI" panose="020B0503020204020204" pitchFamily="34" charset="-122"/>
              </a:rPr>
              <a:t>LLM-based Summarizer</a:t>
            </a:r>
          </a:p>
          <a:p>
            <a:pPr marL="742950" lvl="1" indent="-285750">
              <a:lnSpc>
                <a:spcPct val="150000"/>
              </a:lnSpc>
              <a:buFont typeface="Wingdings" pitchFamily="2" charset="2"/>
              <a:buChar char="§"/>
            </a:pPr>
            <a:r>
              <a:rPr lang="en-CN" sz="1600" dirty="0">
                <a:latin typeface="Microsoft YaHei UI" panose="020B0503020204020204" pitchFamily="34" charset="-122"/>
                <a:ea typeface="Microsoft YaHei UI" panose="020B0503020204020204" pitchFamily="34" charset="-122"/>
              </a:rPr>
              <a:t>Collect and verify the outputs</a:t>
            </a:r>
          </a:p>
          <a:p>
            <a:pPr marL="742950" lvl="1" indent="-285750">
              <a:lnSpc>
                <a:spcPct val="150000"/>
              </a:lnSpc>
              <a:buFont typeface="Wingdings" pitchFamily="2" charset="2"/>
              <a:buChar char="§"/>
            </a:pPr>
            <a:r>
              <a:rPr lang="en-CN" sz="1600" dirty="0">
                <a:latin typeface="Microsoft YaHei UI" panose="020B0503020204020204" pitchFamily="34" charset="-122"/>
                <a:ea typeface="Microsoft YaHei UI" panose="020B0503020204020204" pitchFamily="34" charset="-122"/>
              </a:rPr>
              <a:t>Refine the interation</a:t>
            </a:r>
          </a:p>
        </p:txBody>
      </p:sp>
      <p:sp>
        <p:nvSpPr>
          <p:cNvPr id="18" name="Rectangle 17">
            <a:extLst>
              <a:ext uri="{FF2B5EF4-FFF2-40B4-BE49-F238E27FC236}">
                <a16:creationId xmlns:a16="http://schemas.microsoft.com/office/drawing/2014/main" id="{BDD2B206-9407-3DB8-8C75-153488C261ED}"/>
              </a:ext>
            </a:extLst>
          </p:cNvPr>
          <p:cNvSpPr/>
          <p:nvPr/>
        </p:nvSpPr>
        <p:spPr>
          <a:xfrm>
            <a:off x="2272719" y="5260782"/>
            <a:ext cx="500462" cy="6753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Rectangle 1">
            <a:extLst>
              <a:ext uri="{FF2B5EF4-FFF2-40B4-BE49-F238E27FC236}">
                <a16:creationId xmlns:a16="http://schemas.microsoft.com/office/drawing/2014/main" id="{A6B0960A-D95E-402D-D788-7C0EC8D3092C}"/>
              </a:ext>
            </a:extLst>
          </p:cNvPr>
          <p:cNvSpPr/>
          <p:nvPr/>
        </p:nvSpPr>
        <p:spPr>
          <a:xfrm>
            <a:off x="4704638" y="5260782"/>
            <a:ext cx="631860" cy="6753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81769A12-1B58-7290-2D03-DF6B67BD241F}"/>
              </a:ext>
            </a:extLst>
          </p:cNvPr>
          <p:cNvSpPr/>
          <p:nvPr/>
        </p:nvSpPr>
        <p:spPr>
          <a:xfrm>
            <a:off x="5851150" y="5260781"/>
            <a:ext cx="811977" cy="6753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4A39AE97-FA7F-8D9C-07A1-CA3C03FAE2D8}"/>
              </a:ext>
            </a:extLst>
          </p:cNvPr>
          <p:cNvSpPr txBox="1"/>
          <p:nvPr/>
        </p:nvSpPr>
        <p:spPr>
          <a:xfrm>
            <a:off x="4624306" y="4933635"/>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2)</a:t>
            </a:r>
          </a:p>
        </p:txBody>
      </p:sp>
      <p:sp>
        <p:nvSpPr>
          <p:cNvPr id="11" name="TextBox 10">
            <a:extLst>
              <a:ext uri="{FF2B5EF4-FFF2-40B4-BE49-F238E27FC236}">
                <a16:creationId xmlns:a16="http://schemas.microsoft.com/office/drawing/2014/main" id="{D911440D-903B-8358-175D-14BD79F66A1E}"/>
              </a:ext>
            </a:extLst>
          </p:cNvPr>
          <p:cNvSpPr txBox="1"/>
          <p:nvPr/>
        </p:nvSpPr>
        <p:spPr>
          <a:xfrm>
            <a:off x="2213480" y="4933635"/>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1)</a:t>
            </a:r>
          </a:p>
        </p:txBody>
      </p:sp>
      <p:sp>
        <p:nvSpPr>
          <p:cNvPr id="12" name="TextBox 11">
            <a:extLst>
              <a:ext uri="{FF2B5EF4-FFF2-40B4-BE49-F238E27FC236}">
                <a16:creationId xmlns:a16="http://schemas.microsoft.com/office/drawing/2014/main" id="{A30C886B-5630-EB9E-5E8B-C7BC0F87ADF1}"/>
              </a:ext>
            </a:extLst>
          </p:cNvPr>
          <p:cNvSpPr txBox="1"/>
          <p:nvPr/>
        </p:nvSpPr>
        <p:spPr>
          <a:xfrm>
            <a:off x="6057390" y="4933635"/>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3)</a:t>
            </a:r>
          </a:p>
        </p:txBody>
      </p:sp>
      <p:sp>
        <p:nvSpPr>
          <p:cNvPr id="14" name="TextBox 13">
            <a:extLst>
              <a:ext uri="{FF2B5EF4-FFF2-40B4-BE49-F238E27FC236}">
                <a16:creationId xmlns:a16="http://schemas.microsoft.com/office/drawing/2014/main" id="{2E7D7CBA-0450-5657-0D26-2AE076B559C4}"/>
              </a:ext>
            </a:extLst>
          </p:cNvPr>
          <p:cNvSpPr txBox="1"/>
          <p:nvPr/>
        </p:nvSpPr>
        <p:spPr>
          <a:xfrm>
            <a:off x="5020568" y="1348530"/>
            <a:ext cx="2560124" cy="369332"/>
          </a:xfrm>
          <a:prstGeom prst="rect">
            <a:avLst/>
          </a:prstGeom>
          <a:noFill/>
        </p:spPr>
        <p:txBody>
          <a:bodyPr wrap="none" rtlCol="0">
            <a:spAutoFit/>
          </a:bodyPr>
          <a:lstStyle/>
          <a:p>
            <a:r>
              <a:rPr lang="en-US" altLang="zh-CN"/>
              <a:t>knowledge</a:t>
            </a:r>
            <a:r>
              <a:rPr lang="zh-CN" altLang="en-US"/>
              <a:t> </a:t>
            </a:r>
            <a:r>
              <a:rPr lang="en-US" altLang="zh-CN"/>
              <a:t>graph</a:t>
            </a:r>
            <a:r>
              <a:rPr lang="zh-CN" altLang="en-US"/>
              <a:t> </a:t>
            </a:r>
            <a:r>
              <a:rPr lang="en-US" altLang="zh-CN"/>
              <a:t>of</a:t>
            </a:r>
            <a:r>
              <a:rPr lang="zh-CN" altLang="en-US"/>
              <a:t> </a:t>
            </a:r>
            <a:r>
              <a:rPr lang="en-US" altLang="zh-CN"/>
              <a:t>tools</a:t>
            </a:r>
            <a:endParaRPr lang="en-CN"/>
          </a:p>
        </p:txBody>
      </p:sp>
    </p:spTree>
    <p:custDataLst>
      <p:tags r:id="rId1"/>
    </p:custDataLst>
    <p:extLst>
      <p:ext uri="{BB962C8B-B14F-4D97-AF65-F5344CB8AC3E}">
        <p14:creationId xmlns:p14="http://schemas.microsoft.com/office/powerpoint/2010/main" val="125484323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CF03-0550-C039-A850-8C5C944B5230}"/>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DCCCA74-7C7E-12EA-18EA-4C2E49E7D1C1}"/>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563DF46C-EAF6-6422-83E5-770DDE39ECAC}"/>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420A2E33-1AED-2F91-8EC6-2AD420D0EB17}"/>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36070A83-9783-1842-AD95-C0357826FAC9}"/>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Ding, Keyan, et al. "</a:t>
            </a:r>
            <a:r>
              <a:rPr lang="en-US" dirty="0" err="1"/>
              <a:t>SciToolAgent</a:t>
            </a:r>
            <a:r>
              <a:rPr lang="en-US" dirty="0"/>
              <a:t>: a knowledge-graph-driven scientific agent for multitool integration." Nature Computational Science (2025): 1-11.</a:t>
            </a:r>
            <a:endParaRPr lang="en-CN" dirty="0"/>
          </a:p>
        </p:txBody>
      </p:sp>
      <p:sp>
        <p:nvSpPr>
          <p:cNvPr id="3" name="文本框 9">
            <a:extLst>
              <a:ext uri="{FF2B5EF4-FFF2-40B4-BE49-F238E27FC236}">
                <a16:creationId xmlns:a16="http://schemas.microsoft.com/office/drawing/2014/main" id="{F2200968-63B9-D6C1-7A7C-7B5EF0EAB8A0}"/>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err="1">
                <a:latin typeface="Microsoft YaHei UI" panose="020B0503020204020204" pitchFamily="34" charset="-122"/>
                <a:ea typeface="Microsoft YaHei UI" panose="020B0503020204020204" pitchFamily="34" charset="-122"/>
                <a:sym typeface="Wingdings" pitchFamily="2" charset="2"/>
              </a:rPr>
              <a:t>SciToolAgent</a:t>
            </a:r>
            <a:r>
              <a:rPr lang="en-US" altLang="zh-CN" sz="2200" b="1" dirty="0">
                <a:latin typeface="Microsoft YaHei UI" panose="020B0503020204020204" pitchFamily="34" charset="-122"/>
                <a:ea typeface="Microsoft YaHei UI" panose="020B0503020204020204" pitchFamily="34" charset="-122"/>
                <a:sym typeface="Wingdings" pitchFamily="2" charset="2"/>
              </a:rPr>
              <a:t> Performance</a:t>
            </a:r>
            <a:endParaRPr lang="en-US" sz="2200" b="1" dirty="0">
              <a:latin typeface="Microsoft YaHei UI" panose="020B0503020204020204" pitchFamily="34" charset="-122"/>
              <a:ea typeface="Microsoft YaHei UI" panose="020B0503020204020204" pitchFamily="34" charset="-122"/>
            </a:endParaRPr>
          </a:p>
        </p:txBody>
      </p:sp>
      <p:pic>
        <p:nvPicPr>
          <p:cNvPr id="16" name="Content Placeholder 15" descr="A graph of different colored bars&#10;&#10;AI-generated content may be incorrect.">
            <a:extLst>
              <a:ext uri="{FF2B5EF4-FFF2-40B4-BE49-F238E27FC236}">
                <a16:creationId xmlns:a16="http://schemas.microsoft.com/office/drawing/2014/main" id="{9DA65908-5AB9-1DD8-A1A0-DA326BAFC1E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53551" y="1661062"/>
            <a:ext cx="10969625" cy="3090726"/>
          </a:xfrm>
        </p:spPr>
      </p:pic>
      <p:sp>
        <p:nvSpPr>
          <p:cNvPr id="19" name="TextBox 18">
            <a:extLst>
              <a:ext uri="{FF2B5EF4-FFF2-40B4-BE49-F238E27FC236}">
                <a16:creationId xmlns:a16="http://schemas.microsoft.com/office/drawing/2014/main" id="{A50F579D-6CC7-916D-D204-2EA93AE82C62}"/>
              </a:ext>
            </a:extLst>
          </p:cNvPr>
          <p:cNvSpPr txBox="1"/>
          <p:nvPr/>
        </p:nvSpPr>
        <p:spPr>
          <a:xfrm>
            <a:off x="5011172" y="1056171"/>
            <a:ext cx="3995668" cy="646331"/>
          </a:xfrm>
          <a:prstGeom prst="rect">
            <a:avLst/>
          </a:prstGeom>
          <a:noFill/>
        </p:spPr>
        <p:txBody>
          <a:bodyPr wrap="square">
            <a:spAutoFit/>
          </a:bodyPr>
          <a:lstStyle/>
          <a:p>
            <a:r>
              <a:rPr lang="en-CN" dirty="0">
                <a:latin typeface="Microsoft YaHei UI" panose="020B0503020204020204" pitchFamily="34" charset="-122"/>
                <a:ea typeface="Microsoft YaHei UI" panose="020B0503020204020204" pitchFamily="34" charset="-122"/>
              </a:rPr>
              <a:t>Level-1: 152 simple questions</a:t>
            </a:r>
          </a:p>
          <a:p>
            <a:r>
              <a:rPr lang="en-CN" dirty="0">
                <a:latin typeface="Microsoft YaHei UI" panose="020B0503020204020204" pitchFamily="34" charset="-122"/>
                <a:ea typeface="Microsoft YaHei UI" panose="020B0503020204020204" pitchFamily="34" charset="-122"/>
              </a:rPr>
              <a:t>Level-2: 379 complex questions</a:t>
            </a:r>
          </a:p>
        </p:txBody>
      </p:sp>
      <p:sp>
        <p:nvSpPr>
          <p:cNvPr id="21" name="TextBox 20">
            <a:extLst>
              <a:ext uri="{FF2B5EF4-FFF2-40B4-BE49-F238E27FC236}">
                <a16:creationId xmlns:a16="http://schemas.microsoft.com/office/drawing/2014/main" id="{9DF31AEE-3B45-91CF-46DE-8CB385CE8D53}"/>
              </a:ext>
            </a:extLst>
          </p:cNvPr>
          <p:cNvSpPr txBox="1"/>
          <p:nvPr/>
        </p:nvSpPr>
        <p:spPr>
          <a:xfrm>
            <a:off x="528277" y="4815633"/>
            <a:ext cx="11422381" cy="1477328"/>
          </a:xfrm>
          <a:prstGeom prst="rect">
            <a:avLst/>
          </a:prstGeom>
          <a:noFill/>
        </p:spPr>
        <p:txBody>
          <a:bodyPr wrap="square">
            <a:spAutoFit/>
          </a:bodyPr>
          <a:lstStyle/>
          <a:p>
            <a:r>
              <a:rPr lang="en-CN" b="1" dirty="0">
                <a:latin typeface="Microsoft YaHei UI" panose="020B0503020204020204" pitchFamily="34" charset="-122"/>
                <a:ea typeface="Microsoft YaHei UI" panose="020B0503020204020204" pitchFamily="34" charset="-122"/>
              </a:rPr>
              <a:t>Evaluation Metrics: </a:t>
            </a:r>
          </a:p>
          <a:p>
            <a:pPr marL="342900" indent="-342900">
              <a:buFont typeface="+mj-lt"/>
              <a:buAutoNum type="arabicParenR"/>
            </a:pPr>
            <a:r>
              <a:rPr lang="en-CN" b="1" dirty="0">
                <a:latin typeface="Microsoft YaHei UI" panose="020B0503020204020204" pitchFamily="34" charset="-122"/>
                <a:ea typeface="Microsoft YaHei UI" panose="020B0503020204020204" pitchFamily="34" charset="-122"/>
              </a:rPr>
              <a:t>Pass Rate: </a:t>
            </a:r>
            <a:r>
              <a:rPr lang="en-CN" dirty="0">
                <a:latin typeface="Microsoft YaHei UI" panose="020B0503020204020204" pitchFamily="34" charset="-122"/>
                <a:ea typeface="Microsoft YaHei UI" panose="020B0503020204020204" pitchFamily="34" charset="-122"/>
              </a:rPr>
              <a:t>the proportion of successfully completed queries</a:t>
            </a:r>
          </a:p>
          <a:p>
            <a:pPr marL="342900" indent="-342900">
              <a:buFont typeface="+mj-lt"/>
              <a:buAutoNum type="arabicParenR"/>
            </a:pPr>
            <a:r>
              <a:rPr lang="en-CN" b="1" dirty="0">
                <a:latin typeface="Microsoft YaHei UI" panose="020B0503020204020204" pitchFamily="34" charset="-122"/>
                <a:ea typeface="Microsoft YaHei UI" panose="020B0503020204020204" pitchFamily="34" charset="-122"/>
              </a:rPr>
              <a:t>Tool Planning Accuracy: </a:t>
            </a:r>
            <a:r>
              <a:rPr lang="en-CN" dirty="0">
                <a:latin typeface="Microsoft YaHei UI" panose="020B0503020204020204" pitchFamily="34" charset="-122"/>
                <a:ea typeface="Microsoft YaHei UI" panose="020B0503020204020204" pitchFamily="34" charset="-122"/>
              </a:rPr>
              <a:t>the alignment between the tool selection and sequencing generated by the agent and a reference plan verified by human experts</a:t>
            </a:r>
          </a:p>
          <a:p>
            <a:pPr marL="342900" indent="-342900">
              <a:buFont typeface="+mj-lt"/>
              <a:buAutoNum type="arabicParenR"/>
            </a:pPr>
            <a:r>
              <a:rPr lang="en-CN" b="1" dirty="0">
                <a:latin typeface="Microsoft YaHei UI" panose="020B0503020204020204" pitchFamily="34" charset="-122"/>
                <a:ea typeface="Microsoft YaHei UI" panose="020B0503020204020204" pitchFamily="34" charset="-122"/>
              </a:rPr>
              <a:t>Final Answer Accuracy: </a:t>
            </a:r>
            <a:r>
              <a:rPr lang="en-CN" dirty="0">
                <a:latin typeface="Microsoft YaHei UI" panose="020B0503020204020204" pitchFamily="34" charset="-122"/>
                <a:ea typeface="Microsoft YaHei UI" panose="020B0503020204020204" pitchFamily="34" charset="-122"/>
              </a:rPr>
              <a:t>the final solution generated by agents compared with the standard answer</a:t>
            </a:r>
          </a:p>
        </p:txBody>
      </p:sp>
    </p:spTree>
    <p:custDataLst>
      <p:tags r:id="rId1"/>
    </p:custDataLst>
    <p:extLst>
      <p:ext uri="{BB962C8B-B14F-4D97-AF65-F5344CB8AC3E}">
        <p14:creationId xmlns:p14="http://schemas.microsoft.com/office/powerpoint/2010/main" val="278673499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22FD0-BC00-B26F-8B77-3A89BA5F42DC}"/>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70E6E185-F921-04BD-304F-AC8C0F52BBE8}"/>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11D3DDE1-59AC-6F22-6B86-2EE685E7553F}"/>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236E17E7-BF5D-57B1-45C4-CDA0FADD2DEF}"/>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C5886853-B58B-7806-4D3C-89BD17ADE87D}"/>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Ding, Keyan, et al. "</a:t>
            </a:r>
            <a:r>
              <a:rPr lang="en-US" dirty="0" err="1"/>
              <a:t>SciToolAgent</a:t>
            </a:r>
            <a:r>
              <a:rPr lang="en-US" dirty="0"/>
              <a:t>: a knowledge-graph-driven scientific agent for multitool integration." Nature Computational Science (2025): 1-11.</a:t>
            </a:r>
            <a:endParaRPr lang="en-CN" dirty="0"/>
          </a:p>
        </p:txBody>
      </p:sp>
      <p:sp>
        <p:nvSpPr>
          <p:cNvPr id="3" name="文本框 9">
            <a:extLst>
              <a:ext uri="{FF2B5EF4-FFF2-40B4-BE49-F238E27FC236}">
                <a16:creationId xmlns:a16="http://schemas.microsoft.com/office/drawing/2014/main" id="{3101779B-3B76-032F-2B2F-455065FCA6B8}"/>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err="1">
                <a:latin typeface="Microsoft YaHei UI" panose="020B0503020204020204" pitchFamily="34" charset="-122"/>
                <a:ea typeface="Microsoft YaHei UI" panose="020B0503020204020204" pitchFamily="34" charset="-122"/>
                <a:sym typeface="Wingdings" pitchFamily="2" charset="2"/>
              </a:rPr>
              <a:t>SciToolAgent</a:t>
            </a:r>
            <a:r>
              <a:rPr lang="en-US" altLang="zh-CN" sz="2200" b="1" dirty="0">
                <a:latin typeface="Microsoft YaHei UI" panose="020B0503020204020204" pitchFamily="34" charset="-122"/>
                <a:ea typeface="Microsoft YaHei UI" panose="020B0503020204020204" pitchFamily="34" charset="-122"/>
                <a:sym typeface="Wingdings" pitchFamily="2" charset="2"/>
              </a:rPr>
              <a:t>: Raw</a:t>
            </a:r>
            <a:r>
              <a:rPr lang="zh-CN" altLang="en-US" sz="2200" b="1" dirty="0">
                <a:latin typeface="Microsoft YaHei UI" panose="020B0503020204020204" pitchFamily="34" charset="-122"/>
                <a:ea typeface="Microsoft YaHei UI" panose="020B0503020204020204" pitchFamily="34" charset="-122"/>
                <a:sym typeface="Wingdings" pitchFamily="2" charset="2"/>
              </a:rPr>
              <a:t> </a:t>
            </a:r>
            <a:r>
              <a:rPr lang="en-US" altLang="zh-CN" sz="2200" b="1" dirty="0">
                <a:latin typeface="Microsoft YaHei UI" panose="020B0503020204020204" pitchFamily="34" charset="-122"/>
                <a:ea typeface="Microsoft YaHei UI" panose="020B0503020204020204" pitchFamily="34" charset="-122"/>
                <a:sym typeface="Wingdings" pitchFamily="2" charset="2"/>
              </a:rPr>
              <a:t>Data</a:t>
            </a:r>
            <a:r>
              <a:rPr lang="zh-CN" altLang="en-US" sz="2200" b="1" dirty="0">
                <a:latin typeface="Microsoft YaHei UI" panose="020B0503020204020204" pitchFamily="34" charset="-122"/>
                <a:ea typeface="Microsoft YaHei UI" panose="020B0503020204020204" pitchFamily="34" charset="-122"/>
                <a:sym typeface="Wingdings" pitchFamily="2" charset="2"/>
              </a:rPr>
              <a:t> </a:t>
            </a:r>
            <a:r>
              <a:rPr lang="en-US" altLang="zh-CN" sz="2200" b="1" dirty="0">
                <a:latin typeface="Microsoft YaHei UI" panose="020B0503020204020204" pitchFamily="34" charset="-122"/>
                <a:ea typeface="Microsoft YaHei UI" panose="020B0503020204020204" pitchFamily="34" charset="-122"/>
                <a:sym typeface="Wingdings" pitchFamily="2" charset="2"/>
              </a:rPr>
              <a:t>Samples</a:t>
            </a:r>
            <a:endParaRPr lang="en-US" sz="2200" b="1" dirty="0">
              <a:latin typeface="Microsoft YaHei UI" panose="020B0503020204020204" pitchFamily="34" charset="-122"/>
              <a:ea typeface="Microsoft YaHei UI" panose="020B0503020204020204" pitchFamily="34" charset="-122"/>
            </a:endParaRPr>
          </a:p>
        </p:txBody>
      </p:sp>
      <p:sp>
        <p:nvSpPr>
          <p:cNvPr id="11" name="TextBox 10">
            <a:extLst>
              <a:ext uri="{FF2B5EF4-FFF2-40B4-BE49-F238E27FC236}">
                <a16:creationId xmlns:a16="http://schemas.microsoft.com/office/drawing/2014/main" id="{40969514-234D-BFF6-1AB0-78E4288DB150}"/>
              </a:ext>
            </a:extLst>
          </p:cNvPr>
          <p:cNvSpPr txBox="1"/>
          <p:nvPr/>
        </p:nvSpPr>
        <p:spPr>
          <a:xfrm>
            <a:off x="8363699" y="2302737"/>
            <a:ext cx="3828301" cy="369332"/>
          </a:xfrm>
          <a:prstGeom prst="rect">
            <a:avLst/>
          </a:prstGeom>
          <a:noFill/>
        </p:spPr>
        <p:txBody>
          <a:bodyPr wrap="square">
            <a:spAutoFit/>
          </a:bodyPr>
          <a:lstStyle/>
          <a:p>
            <a:r>
              <a:rPr lang="en-US" b="1" dirty="0">
                <a:latin typeface="Microsoft YaHei UI" panose="020B0503020204020204" pitchFamily="34" charset="-122"/>
                <a:ea typeface="Microsoft YaHei UI" panose="020B0503020204020204" pitchFamily="34" charset="-122"/>
              </a:rPr>
              <a:t>molecule Morgan fingerprints</a:t>
            </a:r>
            <a:endParaRPr lang="en-CN" b="1" dirty="0">
              <a:latin typeface="Microsoft YaHei UI" panose="020B0503020204020204" pitchFamily="34" charset="-122"/>
              <a:ea typeface="Microsoft YaHei UI" panose="020B0503020204020204" pitchFamily="34" charset="-122"/>
            </a:endParaRPr>
          </a:p>
        </p:txBody>
      </p:sp>
      <p:pic>
        <p:nvPicPr>
          <p:cNvPr id="14" name="Picture 13" descr="A screenshot of a computer&#10;&#10;AI-generated content may be incorrect.">
            <a:extLst>
              <a:ext uri="{FF2B5EF4-FFF2-40B4-BE49-F238E27FC236}">
                <a16:creationId xmlns:a16="http://schemas.microsoft.com/office/drawing/2014/main" id="{AA5AF2F9-F6FE-090F-B51A-3CA26E1823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962" y="3333512"/>
            <a:ext cx="7772400" cy="1230571"/>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E50D00BC-84E2-5A1A-CF49-9BA71F213E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0087" y="4774280"/>
            <a:ext cx="7772400" cy="1234604"/>
          </a:xfrm>
          <a:prstGeom prst="rect">
            <a:avLst/>
          </a:prstGeom>
        </p:spPr>
      </p:pic>
      <p:sp>
        <p:nvSpPr>
          <p:cNvPr id="23" name="TextBox 22">
            <a:extLst>
              <a:ext uri="{FF2B5EF4-FFF2-40B4-BE49-F238E27FC236}">
                <a16:creationId xmlns:a16="http://schemas.microsoft.com/office/drawing/2014/main" id="{CD027F3F-1380-3F4C-3A11-7D129B8B5C09}"/>
              </a:ext>
            </a:extLst>
          </p:cNvPr>
          <p:cNvSpPr txBox="1"/>
          <p:nvPr/>
        </p:nvSpPr>
        <p:spPr>
          <a:xfrm>
            <a:off x="8287998" y="5271782"/>
            <a:ext cx="3904002" cy="369332"/>
          </a:xfrm>
          <a:prstGeom prst="rect">
            <a:avLst/>
          </a:prstGeom>
          <a:noFill/>
        </p:spPr>
        <p:txBody>
          <a:bodyPr wrap="square">
            <a:spAutoFit/>
          </a:bodyPr>
          <a:lstStyle/>
          <a:p>
            <a:r>
              <a:rPr lang="en-US" b="1" dirty="0">
                <a:latin typeface="Microsoft YaHei UI" panose="020B0503020204020204" pitchFamily="34" charset="-122"/>
                <a:ea typeface="Microsoft YaHei UI" panose="020B0503020204020204" pitchFamily="34" charset="-122"/>
              </a:rPr>
              <a:t>molecule electrical descriptions</a:t>
            </a:r>
            <a:endParaRPr lang="en-CN" b="1" dirty="0">
              <a:latin typeface="Microsoft YaHei UI" panose="020B0503020204020204" pitchFamily="34" charset="-122"/>
              <a:ea typeface="Microsoft YaHei UI" panose="020B0503020204020204" pitchFamily="34" charset="-122"/>
            </a:endParaRPr>
          </a:p>
        </p:txBody>
      </p:sp>
      <p:sp>
        <p:nvSpPr>
          <p:cNvPr id="24" name="TextBox 23">
            <a:extLst>
              <a:ext uri="{FF2B5EF4-FFF2-40B4-BE49-F238E27FC236}">
                <a16:creationId xmlns:a16="http://schemas.microsoft.com/office/drawing/2014/main" id="{7729F747-547B-C9DD-BCF3-3DA81093E260}"/>
              </a:ext>
            </a:extLst>
          </p:cNvPr>
          <p:cNvSpPr txBox="1"/>
          <p:nvPr/>
        </p:nvSpPr>
        <p:spPr>
          <a:xfrm>
            <a:off x="8363699" y="3787259"/>
            <a:ext cx="3545310" cy="369332"/>
          </a:xfrm>
          <a:prstGeom prst="rect">
            <a:avLst/>
          </a:prstGeom>
          <a:noFill/>
        </p:spPr>
        <p:txBody>
          <a:bodyPr wrap="square">
            <a:spAutoFit/>
          </a:bodyPr>
          <a:lstStyle/>
          <a:p>
            <a:r>
              <a:rPr lang="en-US" b="1" dirty="0">
                <a:latin typeface="Microsoft YaHei UI" panose="020B0503020204020204" pitchFamily="34" charset="-122"/>
                <a:ea typeface="Microsoft YaHei UI" panose="020B0503020204020204" pitchFamily="34" charset="-122"/>
              </a:rPr>
              <a:t>molecule RDK fingerprints</a:t>
            </a:r>
            <a:endParaRPr lang="en-CN" b="1" dirty="0">
              <a:latin typeface="Microsoft YaHei UI" panose="020B0503020204020204" pitchFamily="34" charset="-122"/>
              <a:ea typeface="Microsoft YaHei UI" panose="020B0503020204020204" pitchFamily="34" charset="-122"/>
            </a:endParaRPr>
          </a:p>
        </p:txBody>
      </p:sp>
      <p:pic>
        <p:nvPicPr>
          <p:cNvPr id="26" name="Picture 25" descr="A screenshot of a computer&#10;&#10;AI-generated content may be incorrect.">
            <a:extLst>
              <a:ext uri="{FF2B5EF4-FFF2-40B4-BE49-F238E27FC236}">
                <a16:creationId xmlns:a16="http://schemas.microsoft.com/office/drawing/2014/main" id="{207E353E-987A-C6DD-E04D-1721401424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0087" y="1859906"/>
            <a:ext cx="7772400" cy="1210917"/>
          </a:xfrm>
          <a:prstGeom prst="rect">
            <a:avLst/>
          </a:prstGeom>
        </p:spPr>
      </p:pic>
    </p:spTree>
    <p:custDataLst>
      <p:tags r:id="rId1"/>
    </p:custDataLst>
    <p:extLst>
      <p:ext uri="{BB962C8B-B14F-4D97-AF65-F5344CB8AC3E}">
        <p14:creationId xmlns:p14="http://schemas.microsoft.com/office/powerpoint/2010/main" val="422993129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C273-A688-F1A9-2F1E-54A5C833A9B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AD9947C-AC1D-C532-1A13-625A4131AF5D}"/>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F1000255-D32E-3DB9-037D-3F66BC0A0CE0}"/>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0489B620-1997-AD59-704A-8FC358D23048}"/>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706E88A2-2C5F-9225-D525-5EBC998F3F7F}"/>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Ding, Keyan, et al. "</a:t>
            </a:r>
            <a:r>
              <a:rPr lang="en-US" dirty="0" err="1"/>
              <a:t>SciToolAgent</a:t>
            </a:r>
            <a:r>
              <a:rPr lang="en-US" dirty="0"/>
              <a:t>: a knowledge-graph-driven scientific agent for multitool integration." Nature Computational Science (2025): 1-11.</a:t>
            </a:r>
            <a:endParaRPr lang="en-CN" dirty="0"/>
          </a:p>
        </p:txBody>
      </p:sp>
      <p:sp>
        <p:nvSpPr>
          <p:cNvPr id="3" name="文本框 9">
            <a:extLst>
              <a:ext uri="{FF2B5EF4-FFF2-40B4-BE49-F238E27FC236}">
                <a16:creationId xmlns:a16="http://schemas.microsoft.com/office/drawing/2014/main" id="{41E81139-ED1C-9403-2DDF-5C0B7BB717DC}"/>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err="1">
                <a:latin typeface="Microsoft YaHei UI" panose="020B0503020204020204" pitchFamily="34" charset="-122"/>
                <a:ea typeface="Microsoft YaHei UI" panose="020B0503020204020204" pitchFamily="34" charset="-122"/>
                <a:sym typeface="Wingdings" pitchFamily="2" charset="2"/>
              </a:rPr>
              <a:t>SciToolAgent</a:t>
            </a:r>
            <a:r>
              <a:rPr lang="en-US" altLang="zh-CN" sz="2200" b="1" dirty="0">
                <a:latin typeface="Microsoft YaHei UI" panose="020B0503020204020204" pitchFamily="34" charset="-122"/>
                <a:ea typeface="Microsoft YaHei UI" panose="020B0503020204020204" pitchFamily="34" charset="-122"/>
                <a:sym typeface="Wingdings" pitchFamily="2" charset="2"/>
              </a:rPr>
              <a:t>: Case study</a:t>
            </a:r>
            <a:endParaRPr lang="en-US" sz="2200" b="1" dirty="0">
              <a:latin typeface="Microsoft YaHei UI" panose="020B0503020204020204" pitchFamily="34" charset="-122"/>
              <a:ea typeface="Microsoft YaHei UI" panose="020B0503020204020204" pitchFamily="34" charset="-122"/>
            </a:endParaRPr>
          </a:p>
        </p:txBody>
      </p:sp>
      <p:pic>
        <p:nvPicPr>
          <p:cNvPr id="12" name="Content Placeholder 11">
            <a:extLst>
              <a:ext uri="{FF2B5EF4-FFF2-40B4-BE49-F238E27FC236}">
                <a16:creationId xmlns:a16="http://schemas.microsoft.com/office/drawing/2014/main" id="{F84FE08E-B738-4451-9F86-86B361802E5B}"/>
              </a:ext>
            </a:extLst>
          </p:cNvPr>
          <p:cNvPicPr>
            <a:picLocks noGrp="1" noChangeAspect="1"/>
          </p:cNvPicPr>
          <p:nvPr>
            <p:ph idx="1"/>
          </p:nvPr>
        </p:nvPicPr>
        <p:blipFill>
          <a:blip r:embed="rId5"/>
          <a:stretch>
            <a:fillRect/>
          </a:stretch>
        </p:blipFill>
        <p:spPr>
          <a:xfrm>
            <a:off x="511200" y="1741289"/>
            <a:ext cx="6134400" cy="2930272"/>
          </a:xfrm>
          <a:prstGeom prst="rect">
            <a:avLst/>
          </a:prstGeom>
        </p:spPr>
      </p:pic>
      <p:sp>
        <p:nvSpPr>
          <p:cNvPr id="15" name="TextBox 14">
            <a:extLst>
              <a:ext uri="{FF2B5EF4-FFF2-40B4-BE49-F238E27FC236}">
                <a16:creationId xmlns:a16="http://schemas.microsoft.com/office/drawing/2014/main" id="{2D4374B1-1486-C8CB-54A9-2B4D6F30A1F9}"/>
              </a:ext>
            </a:extLst>
          </p:cNvPr>
          <p:cNvSpPr txBox="1"/>
          <p:nvPr/>
        </p:nvSpPr>
        <p:spPr>
          <a:xfrm>
            <a:off x="957038" y="4922746"/>
            <a:ext cx="5580562" cy="646331"/>
          </a:xfrm>
          <a:prstGeom prst="rect">
            <a:avLst/>
          </a:prstGeom>
          <a:noFill/>
        </p:spPr>
        <p:txBody>
          <a:bodyPr wrap="square">
            <a:spAutoFit/>
          </a:bodyPr>
          <a:lstStyle/>
          <a:p>
            <a:r>
              <a:rPr lang="en-CN" dirty="0">
                <a:latin typeface="Microsoft YaHei UI" panose="020B0503020204020204" pitchFamily="34" charset="-122"/>
                <a:ea typeface="Microsoft YaHei UI" panose="020B0503020204020204" pitchFamily="34" charset="-122"/>
              </a:rPr>
              <a:t>(a) Overview of the input query, tool planning, chain-of-tools, and corresponding outcomes.</a:t>
            </a:r>
          </a:p>
        </p:txBody>
      </p:sp>
      <p:pic>
        <p:nvPicPr>
          <p:cNvPr id="17" name="Picture 16" descr="A table with text and numbers&#10;&#10;AI-generated content may be incorrect.">
            <a:extLst>
              <a:ext uri="{FF2B5EF4-FFF2-40B4-BE49-F238E27FC236}">
                <a16:creationId xmlns:a16="http://schemas.microsoft.com/office/drawing/2014/main" id="{6A7F7299-27A4-1438-E060-5BC3A56E2F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42258" y="1881652"/>
            <a:ext cx="4922542" cy="1505519"/>
          </a:xfrm>
          <a:prstGeom prst="rect">
            <a:avLst/>
          </a:prstGeom>
        </p:spPr>
      </p:pic>
      <p:sp>
        <p:nvSpPr>
          <p:cNvPr id="18" name="TextBox 17">
            <a:extLst>
              <a:ext uri="{FF2B5EF4-FFF2-40B4-BE49-F238E27FC236}">
                <a16:creationId xmlns:a16="http://schemas.microsoft.com/office/drawing/2014/main" id="{82EA5C1F-C468-2DC4-B6FC-9F0541CD1836}"/>
              </a:ext>
            </a:extLst>
          </p:cNvPr>
          <p:cNvSpPr txBox="1"/>
          <p:nvPr/>
        </p:nvSpPr>
        <p:spPr>
          <a:xfrm>
            <a:off x="6929488" y="3576346"/>
            <a:ext cx="5127523" cy="923330"/>
          </a:xfrm>
          <a:prstGeom prst="rect">
            <a:avLst/>
          </a:prstGeom>
          <a:noFill/>
        </p:spPr>
        <p:txBody>
          <a:bodyPr wrap="square">
            <a:spAutoFit/>
          </a:bodyPr>
          <a:lstStyle/>
          <a:p>
            <a:r>
              <a:rPr lang="en-CN" dirty="0">
                <a:latin typeface="Microsoft YaHei UI" panose="020B0503020204020204" pitchFamily="34" charset="-122"/>
                <a:ea typeface="Microsoft YaHei UI" panose="020B0503020204020204" pitchFamily="34" charset="-122"/>
              </a:rPr>
              <a:t>(c) </a:t>
            </a:r>
            <a:r>
              <a:rPr lang="en-US" dirty="0">
                <a:latin typeface="Microsoft YaHei UI" panose="020B0503020204020204" pitchFamily="34" charset="-122"/>
                <a:ea typeface="Microsoft YaHei UI" panose="020B0503020204020204" pitchFamily="34" charset="-122"/>
              </a:rPr>
              <a:t>The dataset used for training and testing. (d) The prediction accuracy with different molecular features.</a:t>
            </a:r>
            <a:endParaRPr lang="en-CN" dirty="0">
              <a:latin typeface="Microsoft YaHei UI" panose="020B0503020204020204" pitchFamily="34" charset="-122"/>
              <a:ea typeface="Microsoft YaHei UI" panose="020B0503020204020204" pitchFamily="34" charset="-122"/>
            </a:endParaRPr>
          </a:p>
        </p:txBody>
      </p:sp>
      <p:sp>
        <p:nvSpPr>
          <p:cNvPr id="21" name="TextBox 20">
            <a:extLst>
              <a:ext uri="{FF2B5EF4-FFF2-40B4-BE49-F238E27FC236}">
                <a16:creationId xmlns:a16="http://schemas.microsoft.com/office/drawing/2014/main" id="{6EB37001-E6A8-D994-7BDE-24CDBF06F214}"/>
              </a:ext>
            </a:extLst>
          </p:cNvPr>
          <p:cNvSpPr txBox="1"/>
          <p:nvPr/>
        </p:nvSpPr>
        <p:spPr>
          <a:xfrm>
            <a:off x="6929488" y="4922746"/>
            <a:ext cx="4118856" cy="646331"/>
          </a:xfrm>
          <a:prstGeom prst="rect">
            <a:avLst/>
          </a:prstGeom>
          <a:noFill/>
        </p:spPr>
        <p:txBody>
          <a:bodyPr wrap="square" rtlCol="0">
            <a:spAutoFit/>
          </a:bodyPr>
          <a:lstStyle/>
          <a:p>
            <a:r>
              <a:rPr lang="en-CN" dirty="0">
                <a:solidFill>
                  <a:srgbClr val="FF0000"/>
                </a:solidFill>
                <a:latin typeface="Microsoft YaHei UI" panose="020B0503020204020204" pitchFamily="34" charset="-122"/>
                <a:ea typeface="Microsoft YaHei UI" panose="020B0503020204020204" pitchFamily="34" charset="-122"/>
              </a:rPr>
              <a:t>Open Question: How to evaluate the planning quality? </a:t>
            </a:r>
          </a:p>
        </p:txBody>
      </p:sp>
    </p:spTree>
    <p:custDataLst>
      <p:tags r:id="rId1"/>
    </p:custDataLst>
    <p:extLst>
      <p:ext uri="{BB962C8B-B14F-4D97-AF65-F5344CB8AC3E}">
        <p14:creationId xmlns:p14="http://schemas.microsoft.com/office/powerpoint/2010/main" val="248184233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8B4E0-3320-AF30-8B58-67F21AF60BC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E0F9CC8-CB9C-65F1-2C64-7B51B17C260F}"/>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0C0F4A08-1209-0875-BC2E-58771B218597}"/>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27CAC1A5-E3DB-E5AD-21D9-6E1F5A84A260}"/>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C9B663EA-F8CB-28F3-B40C-19EBC64CEB1E}"/>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6F759E94-390E-95AA-97FB-F0C9BFDBC2B4}"/>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a:latin typeface="Microsoft YaHei UI" panose="020B0503020204020204" pitchFamily="34" charset="-122"/>
                <a:ea typeface="Microsoft YaHei UI" panose="020B0503020204020204" pitchFamily="34" charset="-122"/>
                <a:sym typeface="Wingdings" pitchFamily="2" charset="2"/>
              </a:rPr>
              <a:t>Preacher: Paper-to-Video Agentic System</a:t>
            </a:r>
            <a:endParaRPr lang="en-US" sz="2200" b="1" dirty="0">
              <a:latin typeface="Microsoft YaHei UI" panose="020B0503020204020204" pitchFamily="34" charset="-122"/>
              <a:ea typeface="Microsoft YaHei UI" panose="020B0503020204020204" pitchFamily="34" charset="-122"/>
            </a:endParaRPr>
          </a:p>
        </p:txBody>
      </p:sp>
      <p:pic>
        <p:nvPicPr>
          <p:cNvPr id="10" name="Content Placeholder 9">
            <a:extLst>
              <a:ext uri="{FF2B5EF4-FFF2-40B4-BE49-F238E27FC236}">
                <a16:creationId xmlns:a16="http://schemas.microsoft.com/office/drawing/2014/main" id="{3D185CE8-82FA-6D77-D2C0-0EF5279F6751}"/>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t="28308"/>
          <a:stretch>
            <a:fillRect/>
          </a:stretch>
        </p:blipFill>
        <p:spPr>
          <a:xfrm>
            <a:off x="164123" y="2100266"/>
            <a:ext cx="8537667" cy="2657467"/>
          </a:xfrm>
        </p:spPr>
      </p:pic>
      <p:sp>
        <p:nvSpPr>
          <p:cNvPr id="13" name="TextBox 12">
            <a:extLst>
              <a:ext uri="{FF2B5EF4-FFF2-40B4-BE49-F238E27FC236}">
                <a16:creationId xmlns:a16="http://schemas.microsoft.com/office/drawing/2014/main" id="{654E0373-05C0-2DDA-C788-3CDEC2E3B3BA}"/>
              </a:ext>
            </a:extLst>
          </p:cNvPr>
          <p:cNvSpPr txBox="1"/>
          <p:nvPr/>
        </p:nvSpPr>
        <p:spPr>
          <a:xfrm>
            <a:off x="8799226" y="2348352"/>
            <a:ext cx="3360706" cy="3690306"/>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sz="1400" dirty="0">
                <a:latin typeface="Microsoft YaHei UI" panose="020B0503020204020204" pitchFamily="34" charset="-122"/>
                <a:ea typeface="Microsoft YaHei UI" panose="020B0503020204020204" pitchFamily="34" charset="-122"/>
              </a:rPr>
              <a:t>Studies have shown that papers accompanied by </a:t>
            </a:r>
            <a:r>
              <a:rPr lang="en-US" sz="1400" dirty="0">
                <a:solidFill>
                  <a:srgbClr val="FF0000"/>
                </a:solidFill>
                <a:latin typeface="Microsoft YaHei UI" panose="020B0503020204020204" pitchFamily="34" charset="-122"/>
                <a:ea typeface="Microsoft YaHei UI" panose="020B0503020204020204" pitchFamily="34" charset="-122"/>
              </a:rPr>
              <a:t>video abstracts </a:t>
            </a:r>
            <a:r>
              <a:rPr lang="en-US" sz="1400" dirty="0">
                <a:latin typeface="Microsoft YaHei UI" panose="020B0503020204020204" pitchFamily="34" charset="-122"/>
                <a:ea typeface="Microsoft YaHei UI" panose="020B0503020204020204" pitchFamily="34" charset="-122"/>
              </a:rPr>
              <a:t>receive 15% more citations.</a:t>
            </a:r>
            <a:r>
              <a:rPr lang="en-CN" sz="1400" dirty="0">
                <a:latin typeface="Microsoft YaHei UI" panose="020B0503020204020204" pitchFamily="34" charset="-122"/>
                <a:ea typeface="Microsoft YaHei UI" panose="020B0503020204020204" pitchFamily="34" charset="-122"/>
              </a:rPr>
              <a:t> </a:t>
            </a:r>
            <a:endParaRPr lang="en-US" sz="1400" dirty="0">
              <a:latin typeface="Microsoft YaHei UI" panose="020B0503020204020204" pitchFamily="34" charset="-122"/>
              <a:ea typeface="Microsoft YaHei UI" panose="020B0503020204020204" pitchFamily="34" charset="-122"/>
            </a:endParaRPr>
          </a:p>
          <a:p>
            <a:pPr marL="285750" indent="-285750">
              <a:lnSpc>
                <a:spcPct val="120000"/>
              </a:lnSpc>
              <a:buFont typeface="Arial" panose="020B0604020202020204" pitchFamily="34" charset="0"/>
              <a:buChar char="•"/>
            </a:pPr>
            <a:r>
              <a:rPr lang="en-US" sz="1400" dirty="0">
                <a:latin typeface="Microsoft YaHei UI" panose="020B0503020204020204" pitchFamily="34" charset="-122"/>
                <a:ea typeface="Microsoft YaHei UI" panose="020B0503020204020204" pitchFamily="34" charset="-122"/>
              </a:rPr>
              <a:t>Producing video abstracts remains resource-intensive, requiring both domain-specific expertise and professional video production skills, making it a costly process.</a:t>
            </a:r>
          </a:p>
          <a:p>
            <a:pPr marL="285750" indent="-285750">
              <a:lnSpc>
                <a:spcPct val="120000"/>
              </a:lnSpc>
              <a:buFont typeface="Arial" panose="020B0604020202020204" pitchFamily="34" charset="0"/>
              <a:buChar char="•"/>
            </a:pPr>
            <a:r>
              <a:rPr lang="en-US" sz="1400" dirty="0">
                <a:latin typeface="Microsoft YaHei UI" panose="020B0503020204020204" pitchFamily="34" charset="-122"/>
                <a:ea typeface="Microsoft YaHei UI" panose="020B0503020204020204" pitchFamily="34" charset="-122"/>
              </a:rPr>
              <a:t>Existing methods are hard to transfer research papers containing embedded </a:t>
            </a:r>
            <a:r>
              <a:rPr lang="en-US" sz="1400" dirty="0">
                <a:solidFill>
                  <a:srgbClr val="FF0000"/>
                </a:solidFill>
                <a:latin typeface="Microsoft YaHei UI" panose="020B0503020204020204" pitchFamily="34" charset="-122"/>
                <a:ea typeface="Microsoft YaHei UI" panose="020B0503020204020204" pitchFamily="34" charset="-122"/>
              </a:rPr>
              <a:t>multimodal elements and long contexts</a:t>
            </a:r>
            <a:r>
              <a:rPr lang="en-US" sz="1400" dirty="0">
                <a:latin typeface="Microsoft YaHei UI" panose="020B0503020204020204" pitchFamily="34" charset="-122"/>
                <a:ea typeface="Microsoft YaHei UI" panose="020B0503020204020204" pitchFamily="34" charset="-122"/>
              </a:rPr>
              <a:t> to videos </a:t>
            </a:r>
            <a:endParaRPr lang="en-CN" sz="1400" dirty="0">
              <a:latin typeface="Microsoft YaHei UI" panose="020B0503020204020204" pitchFamily="34" charset="-122"/>
              <a:ea typeface="Microsoft YaHei UI" panose="020B0503020204020204" pitchFamily="34" charset="-122"/>
            </a:endParaRPr>
          </a:p>
        </p:txBody>
      </p:sp>
      <p:sp>
        <p:nvSpPr>
          <p:cNvPr id="7" name="TextBox 6">
            <a:extLst>
              <a:ext uri="{FF2B5EF4-FFF2-40B4-BE49-F238E27FC236}">
                <a16:creationId xmlns:a16="http://schemas.microsoft.com/office/drawing/2014/main" id="{BFDE8CA0-5221-D381-46F5-3EEDBD4BDDC9}"/>
              </a:ext>
            </a:extLst>
          </p:cNvPr>
          <p:cNvSpPr txBox="1"/>
          <p:nvPr/>
        </p:nvSpPr>
        <p:spPr>
          <a:xfrm>
            <a:off x="9763745" y="1920415"/>
            <a:ext cx="1659431" cy="369332"/>
          </a:xfrm>
          <a:prstGeom prst="rect">
            <a:avLst/>
          </a:prstGeom>
          <a:noFill/>
        </p:spPr>
        <p:txBody>
          <a:bodyPr wrap="square">
            <a:spAutoFit/>
          </a:bodyPr>
          <a:lstStyle/>
          <a:p>
            <a:r>
              <a:rPr lang="en-CN" sz="1800" b="1" dirty="0">
                <a:solidFill>
                  <a:schemeClr val="tx1"/>
                </a:solidFill>
                <a:latin typeface="Microsoft YaHei UI" panose="020B0503020204020204" pitchFamily="34" charset="-122"/>
                <a:ea typeface="Microsoft YaHei UI" panose="020B0503020204020204" pitchFamily="34" charset="-122"/>
              </a:rPr>
              <a:t>Motivations:</a:t>
            </a:r>
          </a:p>
        </p:txBody>
      </p:sp>
      <p:pic>
        <p:nvPicPr>
          <p:cNvPr id="15" name="Content Placeholder 9">
            <a:extLst>
              <a:ext uri="{FF2B5EF4-FFF2-40B4-BE49-F238E27FC236}">
                <a16:creationId xmlns:a16="http://schemas.microsoft.com/office/drawing/2014/main" id="{5E571D80-F31A-3A2B-1146-EFF72790FE55}"/>
              </a:ext>
            </a:extLst>
          </p:cNvPr>
          <p:cNvPicPr>
            <a:picLocks noChangeAspect="1"/>
          </p:cNvPicPr>
          <p:nvPr/>
        </p:nvPicPr>
        <p:blipFill>
          <a:blip r:embed="rId5">
            <a:extLst>
              <a:ext uri="{28A0092B-C50C-407E-A947-70E740481C1C}">
                <a14:useLocalDpi xmlns:a14="http://schemas.microsoft.com/office/drawing/2010/main" val="0"/>
              </a:ext>
            </a:extLst>
          </a:blip>
          <a:srcRect b="71153"/>
          <a:stretch>
            <a:fillRect/>
          </a:stretch>
        </p:blipFill>
        <p:spPr>
          <a:xfrm>
            <a:off x="261559" y="4794372"/>
            <a:ext cx="8537667" cy="1069290"/>
          </a:xfrm>
          <a:prstGeom prst="rect">
            <a:avLst/>
          </a:prstGeom>
        </p:spPr>
      </p:pic>
      <p:cxnSp>
        <p:nvCxnSpPr>
          <p:cNvPr id="17" name="Curved Connector 16">
            <a:extLst>
              <a:ext uri="{FF2B5EF4-FFF2-40B4-BE49-F238E27FC236}">
                <a16:creationId xmlns:a16="http://schemas.microsoft.com/office/drawing/2014/main" id="{816AB5E1-F17B-5027-EBC0-F61F56D66B9C}"/>
              </a:ext>
            </a:extLst>
          </p:cNvPr>
          <p:cNvCxnSpPr>
            <a:cxnSpLocks/>
            <a:endCxn id="13" idx="2"/>
          </p:cNvCxnSpPr>
          <p:nvPr/>
        </p:nvCxnSpPr>
        <p:spPr>
          <a:xfrm>
            <a:off x="3170420" y="5688767"/>
            <a:ext cx="7309159" cy="349891"/>
          </a:xfrm>
          <a:prstGeom prst="curvedConnector4">
            <a:avLst>
              <a:gd name="adj1" fmla="val -51"/>
              <a:gd name="adj2" fmla="val 165335"/>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C1EEE76A-C350-7D6F-E765-618AF865C753}"/>
              </a:ext>
            </a:extLst>
          </p:cNvPr>
          <p:cNvCxnSpPr>
            <a:cxnSpLocks/>
            <a:endCxn id="13" idx="2"/>
          </p:cNvCxnSpPr>
          <p:nvPr/>
        </p:nvCxnSpPr>
        <p:spPr>
          <a:xfrm>
            <a:off x="4894289" y="5863660"/>
            <a:ext cx="5585290" cy="174998"/>
          </a:xfrm>
          <a:prstGeom prst="curvedConnector4">
            <a:avLst>
              <a:gd name="adj1" fmla="val -67"/>
              <a:gd name="adj2" fmla="val 23063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61DEF9FE-FEDE-D8A2-1970-67AE6BF952BA}"/>
              </a:ext>
            </a:extLst>
          </p:cNvPr>
          <p:cNvCxnSpPr>
            <a:cxnSpLocks/>
            <a:endCxn id="13" idx="2"/>
          </p:cNvCxnSpPr>
          <p:nvPr/>
        </p:nvCxnSpPr>
        <p:spPr>
          <a:xfrm>
            <a:off x="7504986" y="5863660"/>
            <a:ext cx="2974593" cy="174998"/>
          </a:xfrm>
          <a:prstGeom prst="curvedConnector4">
            <a:avLst>
              <a:gd name="adj1" fmla="val 86"/>
              <a:gd name="adj2" fmla="val 20064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19A86BE8-76E3-ACF8-EB2C-33DF7C6ECAF7}"/>
              </a:ext>
            </a:extLst>
          </p:cNvPr>
          <p:cNvSpPr/>
          <p:nvPr/>
        </p:nvSpPr>
        <p:spPr>
          <a:xfrm>
            <a:off x="164123" y="2250424"/>
            <a:ext cx="8537666" cy="223163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7" name="Straight Arrow Connector 36">
            <a:extLst>
              <a:ext uri="{FF2B5EF4-FFF2-40B4-BE49-F238E27FC236}">
                <a16:creationId xmlns:a16="http://schemas.microsoft.com/office/drawing/2014/main" id="{7FAA5B19-E890-145C-149B-675558AFE03D}"/>
              </a:ext>
            </a:extLst>
          </p:cNvPr>
          <p:cNvCxnSpPr/>
          <p:nvPr/>
        </p:nvCxnSpPr>
        <p:spPr>
          <a:xfrm>
            <a:off x="8701790" y="2788170"/>
            <a:ext cx="44970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8363649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51403-10E1-F6DC-D9F5-308BA8911953}"/>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3B04DF3A-2E99-BF84-09FE-0C1BD659C289}"/>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F1EAB152-84B8-EDB2-6343-94C836774D9C}"/>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8F8A364F-F48A-ABEF-6EEB-152B6FD13862}"/>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C5FBD288-6A58-FF03-F297-789B0FD70C1C}"/>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C5481F63-D794-2CAF-9B4B-266781AA6914}"/>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a:latin typeface="Microsoft YaHei UI" panose="020B0503020204020204" pitchFamily="34" charset="-122"/>
                <a:ea typeface="Microsoft YaHei UI" panose="020B0503020204020204" pitchFamily="34" charset="-122"/>
                <a:sym typeface="Wingdings" pitchFamily="2" charset="2"/>
              </a:rPr>
              <a:t>Preacher Overview</a:t>
            </a:r>
            <a:endParaRPr lang="en-US" sz="2200" b="1" dirty="0">
              <a:latin typeface="Microsoft YaHei UI" panose="020B0503020204020204" pitchFamily="34" charset="-122"/>
              <a:ea typeface="Microsoft YaHei UI" panose="020B0503020204020204" pitchFamily="34" charset="-122"/>
            </a:endParaRPr>
          </a:p>
        </p:txBody>
      </p:sp>
      <p:pic>
        <p:nvPicPr>
          <p:cNvPr id="8" name="Content Placeholder 7" descr="A diagram of a process&#10;&#10;AI-generated content may be incorrect.">
            <a:extLst>
              <a:ext uri="{FF2B5EF4-FFF2-40B4-BE49-F238E27FC236}">
                <a16:creationId xmlns:a16="http://schemas.microsoft.com/office/drawing/2014/main" id="{57AEDA5C-1650-56EE-F5ED-17ED746AFF1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183542" y="1603261"/>
            <a:ext cx="7944323" cy="4402138"/>
          </a:xfrm>
        </p:spPr>
      </p:pic>
      <p:sp>
        <p:nvSpPr>
          <p:cNvPr id="11" name="TextBox 10">
            <a:extLst>
              <a:ext uri="{FF2B5EF4-FFF2-40B4-BE49-F238E27FC236}">
                <a16:creationId xmlns:a16="http://schemas.microsoft.com/office/drawing/2014/main" id="{9E4E33E5-A6C6-86C2-D3C2-23E0D857092D}"/>
              </a:ext>
            </a:extLst>
          </p:cNvPr>
          <p:cNvSpPr txBox="1"/>
          <p:nvPr/>
        </p:nvSpPr>
        <p:spPr>
          <a:xfrm>
            <a:off x="164123" y="2090871"/>
            <a:ext cx="4019419" cy="3834961"/>
          </a:xfrm>
          <a:prstGeom prst="rect">
            <a:avLst/>
          </a:prstGeom>
          <a:noFill/>
        </p:spPr>
        <p:txBody>
          <a:bodyPr wrap="square">
            <a:spAutoFit/>
          </a:bodyPr>
          <a:lstStyle/>
          <a:p>
            <a:pPr>
              <a:lnSpc>
                <a:spcPct val="150000"/>
              </a:lnSpc>
            </a:pPr>
            <a:r>
              <a:rPr lang="en-CN" sz="2000" b="1" dirty="0">
                <a:latin typeface="Microsoft YaHei UI" panose="020B0503020204020204" pitchFamily="34" charset="-122"/>
                <a:ea typeface="Microsoft YaHei UI" panose="020B0503020204020204" pitchFamily="34" charset="-122"/>
              </a:rPr>
              <a:t>Top-Down Structure</a:t>
            </a:r>
          </a:p>
          <a:p>
            <a:pPr marL="342900" indent="-34290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Paper undergoes </a:t>
            </a:r>
            <a:r>
              <a:rPr lang="en-US" sz="1600" dirty="0">
                <a:solidFill>
                  <a:srgbClr val="FF0000"/>
                </a:solidFill>
                <a:latin typeface="Microsoft YaHei UI" panose="020B0503020204020204" pitchFamily="34" charset="-122"/>
                <a:ea typeface="Microsoft YaHei UI" panose="020B0503020204020204" pitchFamily="34" charset="-122"/>
              </a:rPr>
              <a:t>1)</a:t>
            </a:r>
            <a:r>
              <a:rPr lang="en-US" sz="1600" dirty="0">
                <a:latin typeface="Microsoft YaHei UI" panose="020B0503020204020204" pitchFamily="34" charset="-122"/>
                <a:ea typeface="Microsoft YaHei UI" panose="020B0503020204020204" pitchFamily="34" charset="-122"/>
              </a:rPr>
              <a:t> </a:t>
            </a:r>
            <a:r>
              <a:rPr lang="en-US" sz="1600" dirty="0">
                <a:solidFill>
                  <a:srgbClr val="FF0000"/>
                </a:solidFill>
                <a:latin typeface="Microsoft YaHei UI" panose="020B0503020204020204" pitchFamily="34" charset="-122"/>
                <a:ea typeface="Microsoft YaHei UI" panose="020B0503020204020204" pitchFamily="34" charset="-122"/>
              </a:rPr>
              <a:t>decomposition and summarization</a:t>
            </a:r>
            <a:r>
              <a:rPr lang="en-US" sz="1600" dirty="0">
                <a:latin typeface="Microsoft YaHei UI" panose="020B0503020204020204" pitchFamily="34" charset="-122"/>
                <a:ea typeface="Microsoft YaHei UI" panose="020B0503020204020204" pitchFamily="34" charset="-122"/>
              </a:rPr>
              <a:t> into multiple raw scenes, serving as anchors for content segmentation.</a:t>
            </a:r>
          </a:p>
          <a:p>
            <a:pPr marL="342900" indent="-342900">
              <a:lnSpc>
                <a:spcPct val="150000"/>
              </a:lnSpc>
              <a:buFont typeface="Arial" panose="020B0604020202020204" pitchFamily="34" charset="0"/>
              <a:buChar char="•"/>
            </a:pPr>
            <a:r>
              <a:rPr lang="en-US" sz="1600" dirty="0">
                <a:solidFill>
                  <a:srgbClr val="FF0000"/>
                </a:solidFill>
                <a:latin typeface="Microsoft YaHei UI" panose="020B0503020204020204" pitchFamily="34" charset="-122"/>
                <a:ea typeface="Microsoft YaHei UI" panose="020B0503020204020204" pitchFamily="34" charset="-122"/>
              </a:rPr>
              <a:t>2) Planning process </a:t>
            </a:r>
            <a:r>
              <a:rPr lang="en-US" sz="1600" dirty="0">
                <a:latin typeface="Microsoft YaHei UI" panose="020B0503020204020204" pitchFamily="34" charset="-122"/>
                <a:ea typeface="Microsoft YaHei UI" panose="020B0503020204020204" pitchFamily="34" charset="-122"/>
              </a:rPr>
              <a:t>continuously references the original paper, ensuring precise semantic alignment. Planning results termed key scenes.</a:t>
            </a:r>
            <a:endParaRPr lang="en-CN" sz="1600" dirty="0">
              <a:latin typeface="Microsoft YaHei UI" panose="020B0503020204020204" pitchFamily="34" charset="-122"/>
              <a:ea typeface="Microsoft YaHei UI" panose="020B0503020204020204" pitchFamily="34" charset="-122"/>
            </a:endParaRPr>
          </a:p>
        </p:txBody>
      </p:sp>
      <p:sp>
        <p:nvSpPr>
          <p:cNvPr id="13" name="Rectangle 12">
            <a:extLst>
              <a:ext uri="{FF2B5EF4-FFF2-40B4-BE49-F238E27FC236}">
                <a16:creationId xmlns:a16="http://schemas.microsoft.com/office/drawing/2014/main" id="{A77017CC-F5EC-3731-1413-F4F80368D908}"/>
              </a:ext>
            </a:extLst>
          </p:cNvPr>
          <p:cNvSpPr/>
          <p:nvPr/>
        </p:nvSpPr>
        <p:spPr>
          <a:xfrm>
            <a:off x="4380893" y="3016857"/>
            <a:ext cx="2237263" cy="64074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6580D626-71E2-DD27-ABE8-FC9BBDC12997}"/>
              </a:ext>
            </a:extLst>
          </p:cNvPr>
          <p:cNvSpPr/>
          <p:nvPr/>
        </p:nvSpPr>
        <p:spPr>
          <a:xfrm>
            <a:off x="6135111" y="3698061"/>
            <a:ext cx="1179226" cy="11936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TextBox 11">
            <a:extLst>
              <a:ext uri="{FF2B5EF4-FFF2-40B4-BE49-F238E27FC236}">
                <a16:creationId xmlns:a16="http://schemas.microsoft.com/office/drawing/2014/main" id="{7AFE2794-1781-5551-2716-6BD03DC3C58E}"/>
              </a:ext>
            </a:extLst>
          </p:cNvPr>
          <p:cNvSpPr txBox="1"/>
          <p:nvPr/>
        </p:nvSpPr>
        <p:spPr>
          <a:xfrm>
            <a:off x="6673112" y="3361577"/>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2)</a:t>
            </a:r>
          </a:p>
        </p:txBody>
      </p:sp>
      <p:sp>
        <p:nvSpPr>
          <p:cNvPr id="14" name="TextBox 13">
            <a:extLst>
              <a:ext uri="{FF2B5EF4-FFF2-40B4-BE49-F238E27FC236}">
                <a16:creationId xmlns:a16="http://schemas.microsoft.com/office/drawing/2014/main" id="{4B22E533-110E-7BAB-077B-EEAF8A9014DA}"/>
              </a:ext>
            </a:extLst>
          </p:cNvPr>
          <p:cNvSpPr txBox="1"/>
          <p:nvPr/>
        </p:nvSpPr>
        <p:spPr>
          <a:xfrm>
            <a:off x="4434166" y="2644503"/>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1)</a:t>
            </a:r>
          </a:p>
        </p:txBody>
      </p:sp>
    </p:spTree>
    <p:custDataLst>
      <p:tags r:id="rId1"/>
    </p:custDataLst>
    <p:extLst>
      <p:ext uri="{BB962C8B-B14F-4D97-AF65-F5344CB8AC3E}">
        <p14:creationId xmlns:p14="http://schemas.microsoft.com/office/powerpoint/2010/main" val="198312669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A6E30-EF6C-EDDA-A62C-0053E230046A}"/>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D1CF1AAB-0797-36CA-A7AF-5733AF8AC444}"/>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29477EB1-65BC-53F9-447A-5D32F9911AD8}"/>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F1B8E9C9-1F8E-8478-5650-FAA2BFF4644B}"/>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C4AB2F3E-55E0-6B7A-C551-0D9FAABC7063}"/>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1A1FB6DB-8160-D9D6-0560-E49D8042904F}"/>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altLang="zh-CN" sz="2200" b="1" dirty="0">
                <a:latin typeface="Microsoft YaHei UI" panose="020B0503020204020204" pitchFamily="34" charset="-122"/>
                <a:ea typeface="Microsoft YaHei UI" panose="020B0503020204020204" pitchFamily="34" charset="-122"/>
                <a:sym typeface="Wingdings" pitchFamily="2" charset="2"/>
              </a:rPr>
              <a:t>Preacher Overview</a:t>
            </a:r>
            <a:endParaRPr lang="en-US" sz="2200" b="1" dirty="0">
              <a:latin typeface="Microsoft YaHei UI" panose="020B0503020204020204" pitchFamily="34" charset="-122"/>
              <a:ea typeface="Microsoft YaHei UI" panose="020B0503020204020204" pitchFamily="34" charset="-122"/>
            </a:endParaRPr>
          </a:p>
        </p:txBody>
      </p:sp>
      <p:pic>
        <p:nvPicPr>
          <p:cNvPr id="8" name="Content Placeholder 7" descr="A diagram of a process&#10;&#10;AI-generated content may be incorrect.">
            <a:extLst>
              <a:ext uri="{FF2B5EF4-FFF2-40B4-BE49-F238E27FC236}">
                <a16:creationId xmlns:a16="http://schemas.microsoft.com/office/drawing/2014/main" id="{E651E3BE-9DEC-9669-8F74-18BE109F984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0" y="1760326"/>
            <a:ext cx="7944323" cy="4402138"/>
          </a:xfrm>
        </p:spPr>
      </p:pic>
      <p:sp>
        <p:nvSpPr>
          <p:cNvPr id="11" name="TextBox 10">
            <a:extLst>
              <a:ext uri="{FF2B5EF4-FFF2-40B4-BE49-F238E27FC236}">
                <a16:creationId xmlns:a16="http://schemas.microsoft.com/office/drawing/2014/main" id="{B85BC2F1-99B2-6D28-C5B0-F401B0EEFB99}"/>
              </a:ext>
            </a:extLst>
          </p:cNvPr>
          <p:cNvSpPr txBox="1"/>
          <p:nvPr/>
        </p:nvSpPr>
        <p:spPr>
          <a:xfrm>
            <a:off x="7979846" y="2228580"/>
            <a:ext cx="3970812" cy="3465629"/>
          </a:xfrm>
          <a:prstGeom prst="rect">
            <a:avLst/>
          </a:prstGeom>
          <a:noFill/>
        </p:spPr>
        <p:txBody>
          <a:bodyPr wrap="square">
            <a:spAutoFit/>
          </a:bodyPr>
          <a:lstStyle/>
          <a:p>
            <a:pPr>
              <a:lnSpc>
                <a:spcPct val="150000"/>
              </a:lnSpc>
            </a:pPr>
            <a:r>
              <a:rPr lang="en-CN" sz="2000" b="1" dirty="0">
                <a:latin typeface="Microsoft YaHei UI" panose="020B0503020204020204" pitchFamily="34" charset="-122"/>
                <a:ea typeface="Microsoft YaHei UI" panose="020B0503020204020204" pitchFamily="34" charset="-122"/>
              </a:rPr>
              <a:t>Bottom-up Structure</a:t>
            </a:r>
          </a:p>
          <a:p>
            <a:pPr marL="342900" indent="-34290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The video generation agent </a:t>
            </a:r>
            <a:r>
              <a:rPr lang="en-US" sz="1600" dirty="0">
                <a:solidFill>
                  <a:srgbClr val="FF0000"/>
                </a:solidFill>
                <a:latin typeface="Microsoft YaHei UI" panose="020B0503020204020204" pitchFamily="34" charset="-122"/>
                <a:ea typeface="Microsoft YaHei UI" panose="020B0503020204020204" pitchFamily="34" charset="-122"/>
              </a:rPr>
              <a:t>3) reconstruct the key scenes</a:t>
            </a:r>
            <a:r>
              <a:rPr lang="en-US" sz="1600" dirty="0">
                <a:latin typeface="Microsoft YaHei UI" panose="020B0503020204020204" pitchFamily="34" charset="-122"/>
                <a:ea typeface="Microsoft YaHei UI" panose="020B0503020204020204" pitchFamily="34" charset="-122"/>
              </a:rPr>
              <a:t>, generating both video and corresponding audio.</a:t>
            </a:r>
          </a:p>
          <a:p>
            <a:pPr marL="342900" indent="-34290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Each video segment is synthesized from these elements, and all segments are </a:t>
            </a:r>
            <a:r>
              <a:rPr lang="en-US" sz="1600" dirty="0">
                <a:solidFill>
                  <a:srgbClr val="FF0000"/>
                </a:solidFill>
                <a:latin typeface="Microsoft YaHei UI" panose="020B0503020204020204" pitchFamily="34" charset="-122"/>
                <a:ea typeface="Microsoft YaHei UI" panose="020B0503020204020204" pitchFamily="34" charset="-122"/>
              </a:rPr>
              <a:t>4) integrated </a:t>
            </a:r>
            <a:r>
              <a:rPr lang="en-US" sz="1600" dirty="0">
                <a:latin typeface="Microsoft YaHei UI" panose="020B0503020204020204" pitchFamily="34" charset="-122"/>
                <a:ea typeface="Microsoft YaHei UI" panose="020B0503020204020204" pitchFamily="34" charset="-122"/>
              </a:rPr>
              <a:t>into the final video abstract.</a:t>
            </a:r>
            <a:endParaRPr lang="en-CN" sz="1600" dirty="0">
              <a:latin typeface="Microsoft YaHei UI" panose="020B0503020204020204" pitchFamily="34" charset="-122"/>
              <a:ea typeface="Microsoft YaHei UI" panose="020B0503020204020204" pitchFamily="34" charset="-122"/>
            </a:endParaRPr>
          </a:p>
        </p:txBody>
      </p:sp>
      <p:sp>
        <p:nvSpPr>
          <p:cNvPr id="2" name="Rectangle 1">
            <a:extLst>
              <a:ext uri="{FF2B5EF4-FFF2-40B4-BE49-F238E27FC236}">
                <a16:creationId xmlns:a16="http://schemas.microsoft.com/office/drawing/2014/main" id="{A9A944BD-ECA5-A1C5-0D0F-D8693583E01F}"/>
              </a:ext>
            </a:extLst>
          </p:cNvPr>
          <p:cNvSpPr/>
          <p:nvPr/>
        </p:nvSpPr>
        <p:spPr>
          <a:xfrm>
            <a:off x="4922634" y="4015109"/>
            <a:ext cx="1265035" cy="10450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62A41433-075C-34D4-0014-65CD5B7F0C45}"/>
              </a:ext>
            </a:extLst>
          </p:cNvPr>
          <p:cNvSpPr/>
          <p:nvPr/>
        </p:nvSpPr>
        <p:spPr>
          <a:xfrm>
            <a:off x="6096000" y="3188463"/>
            <a:ext cx="1789841" cy="6635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TextBox 9">
            <a:extLst>
              <a:ext uri="{FF2B5EF4-FFF2-40B4-BE49-F238E27FC236}">
                <a16:creationId xmlns:a16="http://schemas.microsoft.com/office/drawing/2014/main" id="{AD3D0FC9-A386-56F8-D11E-3C907D0894FA}"/>
              </a:ext>
            </a:extLst>
          </p:cNvPr>
          <p:cNvSpPr txBox="1"/>
          <p:nvPr/>
        </p:nvSpPr>
        <p:spPr>
          <a:xfrm>
            <a:off x="6013938" y="2819131"/>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4)</a:t>
            </a:r>
          </a:p>
        </p:txBody>
      </p:sp>
      <p:sp>
        <p:nvSpPr>
          <p:cNvPr id="12" name="TextBox 11">
            <a:extLst>
              <a:ext uri="{FF2B5EF4-FFF2-40B4-BE49-F238E27FC236}">
                <a16:creationId xmlns:a16="http://schemas.microsoft.com/office/drawing/2014/main" id="{EF6DF229-5D5A-1778-3951-8BD3DECB1B31}"/>
              </a:ext>
            </a:extLst>
          </p:cNvPr>
          <p:cNvSpPr txBox="1"/>
          <p:nvPr/>
        </p:nvSpPr>
        <p:spPr>
          <a:xfrm>
            <a:off x="4922634" y="3645777"/>
            <a:ext cx="417102" cy="369332"/>
          </a:xfrm>
          <a:prstGeom prst="rect">
            <a:avLst/>
          </a:prstGeom>
          <a:noFill/>
        </p:spPr>
        <p:txBody>
          <a:bodyPr wrap="none" rtlCol="0">
            <a:spAutoFit/>
          </a:bodyPr>
          <a:lstStyle/>
          <a:p>
            <a:r>
              <a:rPr lang="en-CN" b="1" dirty="0">
                <a:solidFill>
                  <a:srgbClr val="FF0000"/>
                </a:solidFill>
                <a:latin typeface="Microsoft YaHei UI" panose="020B0503020204020204" pitchFamily="34" charset="-122"/>
                <a:ea typeface="Microsoft YaHei UI" panose="020B0503020204020204" pitchFamily="34" charset="-122"/>
              </a:rPr>
              <a:t>3)</a:t>
            </a:r>
          </a:p>
        </p:txBody>
      </p:sp>
    </p:spTree>
    <p:custDataLst>
      <p:tags r:id="rId1"/>
    </p:custDataLst>
    <p:extLst>
      <p:ext uri="{BB962C8B-B14F-4D97-AF65-F5344CB8AC3E}">
        <p14:creationId xmlns:p14="http://schemas.microsoft.com/office/powerpoint/2010/main" val="110314895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EB26-471E-EEDD-586F-A148C27B8097}"/>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4D94FA2-82EA-105B-E879-9A649D5E650C}"/>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72C74620-B6C5-858E-9E33-A5EE7143F863}"/>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A8783922-85A8-C195-335A-9C8ED196D876}"/>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23C5631F-2756-0B58-E261-BA21DE55B458}"/>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400D78B3-D4E3-A793-6392-5BD8BCB30640}"/>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a:latin typeface="Microsoft YaHei UI" panose="020B0503020204020204" pitchFamily="34" charset="-122"/>
                <a:ea typeface="Microsoft YaHei UI" panose="020B0503020204020204" pitchFamily="34" charset="-122"/>
              </a:rPr>
              <a:t>Progressive Chain-of-Thought</a:t>
            </a:r>
            <a:r>
              <a:rPr lang="zh-CN" altLang="en-US" sz="2200" b="1" dirty="0">
                <a:latin typeface="Microsoft YaHei UI" panose="020B0503020204020204" pitchFamily="34" charset="-122"/>
                <a:ea typeface="Microsoft YaHei UI" panose="020B0503020204020204" pitchFamily="34" charset="-122"/>
              </a:rPr>
              <a:t> </a:t>
            </a:r>
            <a:r>
              <a:rPr lang="en-US" altLang="zh-CN" sz="2200" b="1" dirty="0">
                <a:latin typeface="Microsoft YaHei UI" panose="020B0503020204020204" pitchFamily="34" charset="-122"/>
                <a:ea typeface="Microsoft YaHei UI" panose="020B0503020204020204" pitchFamily="34" charset="-122"/>
              </a:rPr>
              <a:t>Planning</a:t>
            </a:r>
            <a:endParaRPr lang="en-US" sz="2200" b="1" dirty="0">
              <a:latin typeface="Microsoft YaHei UI" panose="020B0503020204020204" pitchFamily="34" charset="-122"/>
              <a:ea typeface="Microsoft YaHei UI" panose="020B0503020204020204" pitchFamily="34" charset="-122"/>
            </a:endParaRPr>
          </a:p>
        </p:txBody>
      </p:sp>
      <p:pic>
        <p:nvPicPr>
          <p:cNvPr id="13" name="Content Placeholder 12">
            <a:extLst>
              <a:ext uri="{FF2B5EF4-FFF2-40B4-BE49-F238E27FC236}">
                <a16:creationId xmlns:a16="http://schemas.microsoft.com/office/drawing/2014/main" id="{54FA2A9D-1C09-F9B9-1876-6A50017D91E9}"/>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r="37704"/>
          <a:stretch>
            <a:fillRect/>
          </a:stretch>
        </p:blipFill>
        <p:spPr>
          <a:xfrm>
            <a:off x="512961" y="2072597"/>
            <a:ext cx="5583039" cy="3568517"/>
          </a:xfrm>
        </p:spPr>
      </p:pic>
      <p:sp>
        <p:nvSpPr>
          <p:cNvPr id="16" name="TextBox 15">
            <a:extLst>
              <a:ext uri="{FF2B5EF4-FFF2-40B4-BE49-F238E27FC236}">
                <a16:creationId xmlns:a16="http://schemas.microsoft.com/office/drawing/2014/main" id="{4C29C74B-9708-EE58-3832-BD0DBB575126}"/>
              </a:ext>
            </a:extLst>
          </p:cNvPr>
          <p:cNvSpPr txBox="1"/>
          <p:nvPr/>
        </p:nvSpPr>
        <p:spPr>
          <a:xfrm>
            <a:off x="6367619" y="1975926"/>
            <a:ext cx="5583039" cy="411196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N" sz="1600" dirty="0">
                <a:latin typeface="Microsoft YaHei UI" panose="020B0503020204020204" pitchFamily="34" charset="-122"/>
                <a:ea typeface="Microsoft YaHei UI" panose="020B0503020204020204" pitchFamily="34" charset="-122"/>
              </a:rPr>
              <a:t>The </a:t>
            </a:r>
            <a:r>
              <a:rPr lang="en-CN" sz="1600" b="1" dirty="0">
                <a:solidFill>
                  <a:srgbClr val="FF0000"/>
                </a:solidFill>
                <a:latin typeface="Microsoft YaHei UI" panose="020B0503020204020204" pitchFamily="34" charset="-122"/>
                <a:ea typeface="Microsoft YaHei UI" panose="020B0503020204020204" pitchFamily="34" charset="-122"/>
              </a:rPr>
              <a:t>key scenes</a:t>
            </a:r>
            <a:r>
              <a:rPr lang="en-CN" sz="1600" dirty="0">
                <a:latin typeface="Microsoft YaHei UI" panose="020B0503020204020204" pitchFamily="34" charset="-122"/>
                <a:ea typeface="Microsoft YaHei UI" panose="020B0503020204020204" pitchFamily="34" charset="-122"/>
              </a:rPr>
              <a:t> consist of multiple components requiring systematic planning.</a:t>
            </a:r>
          </a:p>
          <a:p>
            <a:pPr marL="285750" indent="-285750">
              <a:lnSpc>
                <a:spcPct val="150000"/>
              </a:lnSpc>
              <a:buFont typeface="Arial" panose="020B0604020202020204" pitchFamily="34" charset="0"/>
              <a:buChar char="•"/>
            </a:pPr>
            <a:r>
              <a:rPr lang="en-CN" sz="1600" b="1" dirty="0">
                <a:latin typeface="Microsoft YaHei UI" panose="020B0503020204020204" pitchFamily="34" charset="-122"/>
                <a:ea typeface="Microsoft YaHei UI" panose="020B0503020204020204" pitchFamily="34" charset="-122"/>
              </a:rPr>
              <a:t>Scene Planning Agent </a:t>
            </a:r>
            <a:r>
              <a:rPr lang="en-CN" sz="1600" dirty="0">
                <a:latin typeface="Microsoft YaHei UI" panose="020B0503020204020204" pitchFamily="34" charset="-122"/>
                <a:ea typeface="Microsoft YaHei UI" panose="020B0503020204020204" pitchFamily="34" charset="-122"/>
              </a:rPr>
              <a:t>devises a structured plan for each component</a:t>
            </a:r>
          </a:p>
          <a:p>
            <a:pPr marL="285750" indent="-285750">
              <a:lnSpc>
                <a:spcPct val="150000"/>
              </a:lnSpc>
              <a:buFont typeface="Arial" panose="020B0604020202020204" pitchFamily="34" charset="0"/>
              <a:buChar char="•"/>
            </a:pPr>
            <a:r>
              <a:rPr lang="en-CN" sz="1600" b="1" dirty="0">
                <a:latin typeface="Microsoft YaHei UI" panose="020B0503020204020204" pitchFamily="34" charset="-122"/>
                <a:ea typeface="Microsoft YaHei UI" panose="020B0503020204020204" pitchFamily="34" charset="-122"/>
              </a:rPr>
              <a:t>Text Reflection Agent </a:t>
            </a:r>
            <a:r>
              <a:rPr lang="en-CN" sz="1600" dirty="0">
                <a:latin typeface="Microsoft YaHei UI" panose="020B0503020204020204" pitchFamily="34" charset="-122"/>
                <a:ea typeface="Microsoft YaHei UI" panose="020B0503020204020204" pitchFamily="34" charset="-122"/>
              </a:rPr>
              <a:t>evaluates the planned scenes.</a:t>
            </a:r>
          </a:p>
          <a:p>
            <a:pPr marL="285750" indent="-285750">
              <a:lnSpc>
                <a:spcPct val="150000"/>
              </a:lnSpc>
              <a:buFont typeface="Arial" panose="020B0604020202020204" pitchFamily="34" charset="0"/>
              <a:buChar char="•"/>
            </a:pPr>
            <a:r>
              <a:rPr lang="en-CN" sz="1600" dirty="0">
                <a:latin typeface="Microsoft YaHei UI" panose="020B0503020204020204" pitchFamily="34" charset="-122"/>
                <a:ea typeface="Microsoft YaHei UI" panose="020B0503020204020204" pitchFamily="34" charset="-122"/>
              </a:rPr>
              <a:t>Based on the reflection outcome, the scene planning agent either advances to the next component using the existing plan, or revises the current component, iterating this process until all components are effectively planned.</a:t>
            </a:r>
          </a:p>
        </p:txBody>
      </p:sp>
      <p:sp>
        <p:nvSpPr>
          <p:cNvPr id="2" name="Rectangle 1">
            <a:extLst>
              <a:ext uri="{FF2B5EF4-FFF2-40B4-BE49-F238E27FC236}">
                <a16:creationId xmlns:a16="http://schemas.microsoft.com/office/drawing/2014/main" id="{ADCA0908-5F68-4E77-D4B9-6ACDB0D597F7}"/>
              </a:ext>
            </a:extLst>
          </p:cNvPr>
          <p:cNvSpPr/>
          <p:nvPr/>
        </p:nvSpPr>
        <p:spPr>
          <a:xfrm>
            <a:off x="625642" y="3071065"/>
            <a:ext cx="2103808" cy="13221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55757BBE-2AFE-2E00-7117-8A2E03CE1508}"/>
              </a:ext>
            </a:extLst>
          </p:cNvPr>
          <p:cNvSpPr/>
          <p:nvPr/>
        </p:nvSpPr>
        <p:spPr>
          <a:xfrm>
            <a:off x="1871197" y="2139205"/>
            <a:ext cx="2103808" cy="86525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Rectangle 7">
            <a:extLst>
              <a:ext uri="{FF2B5EF4-FFF2-40B4-BE49-F238E27FC236}">
                <a16:creationId xmlns:a16="http://schemas.microsoft.com/office/drawing/2014/main" id="{FB6BB884-6D87-EBE4-E7EE-BF837945B1FE}"/>
              </a:ext>
            </a:extLst>
          </p:cNvPr>
          <p:cNvSpPr/>
          <p:nvPr/>
        </p:nvSpPr>
        <p:spPr>
          <a:xfrm>
            <a:off x="3001068" y="4393245"/>
            <a:ext cx="2622835" cy="86525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custDataLst>
      <p:tags r:id="rId1"/>
    </p:custDataLst>
    <p:extLst>
      <p:ext uri="{BB962C8B-B14F-4D97-AF65-F5344CB8AC3E}">
        <p14:creationId xmlns:p14="http://schemas.microsoft.com/office/powerpoint/2010/main" val="170556838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28D1-1F63-3BA4-3E0C-CF1C155F841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BF618E0-AB1B-1F92-4CB6-7103D94D1E43}"/>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A8120523-D723-E883-DC7F-3A865383D935}"/>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33441C1C-AE18-5B58-81A5-64CE96E356FC}"/>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1200F398-2FF7-2875-D402-CDCBF5F65202}"/>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FD4595CA-C337-8CCC-99D3-251CBDA176E7}"/>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a:latin typeface="Microsoft YaHei UI" panose="020B0503020204020204" pitchFamily="34" charset="-122"/>
                <a:ea typeface="Microsoft YaHei UI" panose="020B0503020204020204" pitchFamily="34" charset="-122"/>
              </a:rPr>
              <a:t>Generating Professional Video Abstracts</a:t>
            </a:r>
          </a:p>
        </p:txBody>
      </p:sp>
      <p:pic>
        <p:nvPicPr>
          <p:cNvPr id="13" name="Content Placeholder 12">
            <a:extLst>
              <a:ext uri="{FF2B5EF4-FFF2-40B4-BE49-F238E27FC236}">
                <a16:creationId xmlns:a16="http://schemas.microsoft.com/office/drawing/2014/main" id="{E0BA7671-E129-B5F5-874B-1CF0DDB65F0E}"/>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l="62296" r="982"/>
          <a:stretch>
            <a:fillRect/>
          </a:stretch>
        </p:blipFill>
        <p:spPr>
          <a:xfrm>
            <a:off x="546981" y="1881652"/>
            <a:ext cx="3932421" cy="4263938"/>
          </a:xfrm>
        </p:spPr>
      </p:pic>
      <p:sp>
        <p:nvSpPr>
          <p:cNvPr id="16" name="TextBox 15">
            <a:extLst>
              <a:ext uri="{FF2B5EF4-FFF2-40B4-BE49-F238E27FC236}">
                <a16:creationId xmlns:a16="http://schemas.microsoft.com/office/drawing/2014/main" id="{DC4BB212-F0A7-FAD4-A305-393E2D0CBBF7}"/>
              </a:ext>
            </a:extLst>
          </p:cNvPr>
          <p:cNvSpPr txBox="1"/>
          <p:nvPr/>
        </p:nvSpPr>
        <p:spPr>
          <a:xfrm>
            <a:off x="4780344" y="1881652"/>
            <a:ext cx="7037408" cy="41989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Microsoft YaHei UI" panose="020B0503020204020204" pitchFamily="34" charset="-122"/>
                <a:ea typeface="Microsoft YaHei UI" panose="020B0503020204020204" pitchFamily="34" charset="-122"/>
              </a:rPr>
              <a:t>Multiple video generation tools are integrated in </a:t>
            </a:r>
            <a:r>
              <a:rPr lang="en-US" b="1" dirty="0">
                <a:solidFill>
                  <a:srgbClr val="FF0000"/>
                </a:solidFill>
                <a:latin typeface="Microsoft YaHei UI" panose="020B0503020204020204" pitchFamily="34" charset="-122"/>
                <a:ea typeface="Microsoft YaHei UI" panose="020B0503020204020204" pitchFamily="34" charset="-122"/>
              </a:rPr>
              <a:t>Video Generation Agent</a:t>
            </a:r>
            <a:r>
              <a:rPr lang="en-CN" dirty="0">
                <a:latin typeface="Microsoft YaHei UI" panose="020B0503020204020204" pitchFamily="34" charset="-122"/>
                <a:ea typeface="Microsoft YaHei UI" panose="020B0503020204020204" pitchFamily="34" charset="-122"/>
              </a:rPr>
              <a:t>.</a:t>
            </a:r>
          </a:p>
          <a:p>
            <a:pPr marL="285750" indent="-285750">
              <a:lnSpc>
                <a:spcPct val="150000"/>
              </a:lnSpc>
              <a:buFont typeface="Arial" panose="020B0604020202020204" pitchFamily="34" charset="0"/>
              <a:buChar char="•"/>
            </a:pPr>
            <a:r>
              <a:rPr lang="en-US" dirty="0">
                <a:latin typeface="Microsoft YaHei UI" panose="020B0503020204020204" pitchFamily="34" charset="-122"/>
                <a:ea typeface="Microsoft YaHei UI" panose="020B0503020204020204" pitchFamily="34" charset="-122"/>
              </a:rPr>
              <a:t>Six </a:t>
            </a:r>
            <a:r>
              <a:rPr lang="en-US" b="1" dirty="0">
                <a:solidFill>
                  <a:srgbClr val="FF0000"/>
                </a:solidFill>
                <a:latin typeface="Microsoft YaHei UI" panose="020B0503020204020204" pitchFamily="34" charset="-122"/>
                <a:ea typeface="Microsoft YaHei UI" panose="020B0503020204020204" pitchFamily="34" charset="-122"/>
              </a:rPr>
              <a:t>video styles</a:t>
            </a:r>
            <a:r>
              <a:rPr lang="en-US" dirty="0">
                <a:latin typeface="Microsoft YaHei UI" panose="020B0503020204020204" pitchFamily="34" charset="-122"/>
                <a:ea typeface="Microsoft YaHei UI" panose="020B0503020204020204" pitchFamily="34" charset="-122"/>
              </a:rPr>
              <a:t> are supported in Preacher: “talking heads,” “general,” “static concept,” “molecular visualization,” “slides,” and “mathematics”.</a:t>
            </a:r>
          </a:p>
          <a:p>
            <a:pPr marL="285750" indent="-285750">
              <a:lnSpc>
                <a:spcPct val="150000"/>
              </a:lnSpc>
              <a:buFont typeface="Arial" panose="020B0604020202020204" pitchFamily="34" charset="0"/>
              <a:buChar char="•"/>
            </a:pPr>
            <a:r>
              <a:rPr lang="en-US" b="1" dirty="0">
                <a:latin typeface="Microsoft YaHei UI" panose="020B0503020204020204" pitchFamily="34" charset="-122"/>
                <a:ea typeface="Microsoft YaHei UI" panose="020B0503020204020204" pitchFamily="34" charset="-122"/>
              </a:rPr>
              <a:t>Evaluation criteria </a:t>
            </a:r>
            <a:r>
              <a:rPr lang="en-US" dirty="0">
                <a:latin typeface="Microsoft YaHei UI" panose="020B0503020204020204" pitchFamily="34" charset="-122"/>
                <a:ea typeface="Microsoft YaHei UI" panose="020B0503020204020204" pitchFamily="34" charset="-122"/>
              </a:rPr>
              <a:t>for generated video segments are Accuracy, Professionalism, and Alignment between the video content and the paper.</a:t>
            </a:r>
          </a:p>
          <a:p>
            <a:pPr marL="285750" indent="-285750">
              <a:lnSpc>
                <a:spcPct val="150000"/>
              </a:lnSpc>
              <a:buFont typeface="Arial" panose="020B0604020202020204" pitchFamily="34" charset="0"/>
              <a:buChar char="•"/>
            </a:pPr>
            <a:r>
              <a:rPr lang="en-US" dirty="0">
                <a:latin typeface="Microsoft YaHei UI" panose="020B0503020204020204" pitchFamily="34" charset="-122"/>
                <a:ea typeface="Microsoft YaHei UI" panose="020B0503020204020204" pitchFamily="34" charset="-122"/>
              </a:rPr>
              <a:t>The corresponding </a:t>
            </a:r>
            <a:r>
              <a:rPr lang="en-US" b="1" dirty="0">
                <a:latin typeface="Microsoft YaHei UI" panose="020B0503020204020204" pitchFamily="34" charset="-122"/>
                <a:ea typeface="Microsoft YaHei UI" panose="020B0503020204020204" pitchFamily="34" charset="-122"/>
              </a:rPr>
              <a:t>audio</a:t>
            </a:r>
            <a:r>
              <a:rPr lang="en-US" dirty="0">
                <a:latin typeface="Microsoft YaHei UI" panose="020B0503020204020204" pitchFamily="34" charset="-122"/>
                <a:ea typeface="Microsoft YaHei UI" panose="020B0503020204020204" pitchFamily="34" charset="-122"/>
              </a:rPr>
              <a:t> will be also generated by the agent and finish the synchronization.</a:t>
            </a:r>
            <a:endParaRPr lang="en-CN" dirty="0">
              <a:latin typeface="Microsoft YaHei UI" panose="020B0503020204020204" pitchFamily="34" charset="-122"/>
              <a:ea typeface="Microsoft YaHei UI" panose="020B0503020204020204" pitchFamily="34" charset="-122"/>
            </a:endParaRPr>
          </a:p>
        </p:txBody>
      </p:sp>
      <p:sp>
        <p:nvSpPr>
          <p:cNvPr id="2" name="Rectangle 1">
            <a:extLst>
              <a:ext uri="{FF2B5EF4-FFF2-40B4-BE49-F238E27FC236}">
                <a16:creationId xmlns:a16="http://schemas.microsoft.com/office/drawing/2014/main" id="{0DFEAA9A-A6B4-71CD-3524-EB83604A9AE9}"/>
              </a:ext>
            </a:extLst>
          </p:cNvPr>
          <p:cNvSpPr/>
          <p:nvPr/>
        </p:nvSpPr>
        <p:spPr>
          <a:xfrm>
            <a:off x="546981" y="1983254"/>
            <a:ext cx="3932421" cy="8699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Rectangle 6">
            <a:extLst>
              <a:ext uri="{FF2B5EF4-FFF2-40B4-BE49-F238E27FC236}">
                <a16:creationId xmlns:a16="http://schemas.microsoft.com/office/drawing/2014/main" id="{549A2A87-A1C6-84BD-6C94-EF2E611A80B5}"/>
              </a:ext>
            </a:extLst>
          </p:cNvPr>
          <p:cNvSpPr/>
          <p:nvPr/>
        </p:nvSpPr>
        <p:spPr>
          <a:xfrm>
            <a:off x="546980" y="4830728"/>
            <a:ext cx="3932421" cy="97110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solidFill>
                <a:schemeClr val="tx1"/>
              </a:solidFill>
            </a:endParaRPr>
          </a:p>
        </p:txBody>
      </p:sp>
      <p:cxnSp>
        <p:nvCxnSpPr>
          <p:cNvPr id="10" name="Curved Connector 9">
            <a:extLst>
              <a:ext uri="{FF2B5EF4-FFF2-40B4-BE49-F238E27FC236}">
                <a16:creationId xmlns:a16="http://schemas.microsoft.com/office/drawing/2014/main" id="{E332A446-1653-9D6C-436B-AFBD02E87EDD}"/>
              </a:ext>
            </a:extLst>
          </p:cNvPr>
          <p:cNvCxnSpPr/>
          <p:nvPr/>
        </p:nvCxnSpPr>
        <p:spPr>
          <a:xfrm>
            <a:off x="4365744" y="3636974"/>
            <a:ext cx="770021" cy="570641"/>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102329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8B2F5-8020-ACDF-0273-2179ED702D27}"/>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09D0A5A-A304-7EDB-1585-B2A58BB5A9CD}"/>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Applications of Agentic System</a:t>
            </a:r>
          </a:p>
        </p:txBody>
      </p:sp>
      <p:pic>
        <p:nvPicPr>
          <p:cNvPr id="5" name="图片 1" descr="logo-en">
            <a:extLst>
              <a:ext uri="{FF2B5EF4-FFF2-40B4-BE49-F238E27FC236}">
                <a16:creationId xmlns:a16="http://schemas.microsoft.com/office/drawing/2014/main" id="{82E650AB-F5D9-C9C6-3280-48061136F716}"/>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B947B524-0226-C82A-A75E-D3C7B602DBD1}"/>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6" name="TextBox 5">
            <a:extLst>
              <a:ext uri="{FF2B5EF4-FFF2-40B4-BE49-F238E27FC236}">
                <a16:creationId xmlns:a16="http://schemas.microsoft.com/office/drawing/2014/main" id="{610203EE-6F5A-4750-4214-38028B60918B}"/>
              </a:ext>
            </a:extLst>
          </p:cNvPr>
          <p:cNvSpPr txBox="1"/>
          <p:nvPr/>
        </p:nvSpPr>
        <p:spPr>
          <a:xfrm>
            <a:off x="164123" y="6466595"/>
            <a:ext cx="11786535" cy="276999"/>
          </a:xfrm>
          <a:prstGeom prst="rect">
            <a:avLst/>
          </a:prstGeom>
          <a:noFill/>
        </p:spPr>
        <p:txBody>
          <a:bodyPr wrap="square" rtlCol="0">
            <a:spAutoFit/>
          </a:bodyPr>
          <a:lstStyle>
            <a:defPPr>
              <a:defRPr lang="zh-CN"/>
            </a:defPPr>
            <a:lvl1pPr lvl="0">
              <a:defRPr sz="1200">
                <a:latin typeface="Microsoft YaHei UI" panose="020B0503020204020204" pitchFamily="34" charset="-122"/>
                <a:ea typeface="Microsoft YaHei UI" panose="020B0503020204020204" pitchFamily="34" charset="-122"/>
                <a:cs typeface="Times New Roman Regular" panose="02020503050405090304" charset="0"/>
              </a:defRPr>
            </a:lvl1pPr>
          </a:lstStyle>
          <a:p>
            <a:r>
              <a:rPr lang="en-US" dirty="0"/>
              <a:t>Liu, Jingwei, et al. "Preacher: Paper-to-video agentic system." ICCV. 2025.</a:t>
            </a:r>
            <a:endParaRPr lang="en-CN" dirty="0"/>
          </a:p>
        </p:txBody>
      </p:sp>
      <p:sp>
        <p:nvSpPr>
          <p:cNvPr id="3" name="文本框 9">
            <a:extLst>
              <a:ext uri="{FF2B5EF4-FFF2-40B4-BE49-F238E27FC236}">
                <a16:creationId xmlns:a16="http://schemas.microsoft.com/office/drawing/2014/main" id="{EFF8CCA9-1887-C6F4-0A0A-5CC69FCF4798}"/>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a:latin typeface="Microsoft YaHei UI" panose="020B0503020204020204" pitchFamily="34" charset="-122"/>
                <a:ea typeface="Microsoft YaHei UI" panose="020B0503020204020204" pitchFamily="34" charset="-122"/>
              </a:rPr>
              <a:t>Preacher Evaluations</a:t>
            </a:r>
          </a:p>
        </p:txBody>
      </p:sp>
      <p:sp>
        <p:nvSpPr>
          <p:cNvPr id="16" name="TextBox 15">
            <a:extLst>
              <a:ext uri="{FF2B5EF4-FFF2-40B4-BE49-F238E27FC236}">
                <a16:creationId xmlns:a16="http://schemas.microsoft.com/office/drawing/2014/main" id="{7A58B137-0736-E60C-6C3E-72EBFFBAE597}"/>
              </a:ext>
            </a:extLst>
          </p:cNvPr>
          <p:cNvSpPr txBox="1"/>
          <p:nvPr/>
        </p:nvSpPr>
        <p:spPr>
          <a:xfrm>
            <a:off x="378212" y="1780647"/>
            <a:ext cx="10525140" cy="351179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N" b="1" dirty="0">
                <a:latin typeface="Microsoft YaHei UI" panose="020B0503020204020204" pitchFamily="34" charset="-122"/>
                <a:ea typeface="Microsoft YaHei UI" panose="020B0503020204020204" pitchFamily="34" charset="-122"/>
              </a:rPr>
              <a:t>Dataset: </a:t>
            </a:r>
            <a:r>
              <a:rPr lang="en-CN" dirty="0">
                <a:latin typeface="Microsoft YaHei UI" panose="020B0503020204020204" pitchFamily="34" charset="-122"/>
                <a:ea typeface="Microsoft YaHei UI" panose="020B0503020204020204" pitchFamily="34" charset="-122"/>
              </a:rPr>
              <a:t>40 research papers spanning five distinct fields: Mathematics, Molecular Biology, Geology, Machine Learning, and Climate Science.</a:t>
            </a:r>
          </a:p>
          <a:p>
            <a:pPr marL="285750" indent="-285750">
              <a:lnSpc>
                <a:spcPct val="150000"/>
              </a:lnSpc>
              <a:buFont typeface="Arial" panose="020B0604020202020204" pitchFamily="34" charset="0"/>
              <a:buChar char="•"/>
            </a:pPr>
            <a:r>
              <a:rPr lang="en-US" b="1" dirty="0">
                <a:latin typeface="Microsoft YaHei UI" panose="020B0503020204020204" pitchFamily="34" charset="-122"/>
                <a:ea typeface="Microsoft YaHei UI" panose="020B0503020204020204" pitchFamily="34" charset="-122"/>
              </a:rPr>
              <a:t>Evaluation Metrics: </a:t>
            </a:r>
          </a:p>
          <a:p>
            <a:pPr marL="800100" lvl="1"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Accuracy: Correctness of the video content, free from errors. </a:t>
            </a:r>
          </a:p>
          <a:p>
            <a:pPr marL="800100" lvl="1"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Professionalism: Use of domain-specific knowledge and expertise.</a:t>
            </a:r>
          </a:p>
          <a:p>
            <a:pPr marL="800100" lvl="1"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Aesthetic Quality: Visual appeal, design, and overall presentation.</a:t>
            </a:r>
          </a:p>
          <a:p>
            <a:pPr marL="800100" lvl="1"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Alignment with the Paper: Semantic Alignment with the paper.</a:t>
            </a:r>
          </a:p>
          <a:p>
            <a:pPr marL="800100" lvl="1" indent="-342900">
              <a:lnSpc>
                <a:spcPct val="150000"/>
              </a:lnSpc>
              <a:buFont typeface="+mj-lt"/>
              <a:buAutoNum type="arabicParenR"/>
            </a:pPr>
            <a:r>
              <a:rPr lang="en-CN" sz="1600" dirty="0">
                <a:latin typeface="Microsoft YaHei UI" panose="020B0503020204020204" pitchFamily="34" charset="-122"/>
                <a:ea typeface="Microsoft YaHei UI" panose="020B0503020204020204" pitchFamily="34" charset="-122"/>
              </a:rPr>
              <a:t>CLIP: </a:t>
            </a:r>
            <a:r>
              <a:rPr lang="en-US" sz="1600" dirty="0">
                <a:latin typeface="Microsoft YaHei UI" panose="020B0503020204020204" pitchFamily="34" charset="-122"/>
                <a:ea typeface="Microsoft YaHei UI" panose="020B0503020204020204" pitchFamily="34" charset="-122"/>
              </a:rPr>
              <a:t>text-image similarity score.</a:t>
            </a:r>
          </a:p>
          <a:p>
            <a:pPr marL="800100" lvl="1" indent="-342900">
              <a:lnSpc>
                <a:spcPct val="150000"/>
              </a:lnSpc>
              <a:buFont typeface="+mj-lt"/>
              <a:buAutoNum type="arabicParenR"/>
            </a:pPr>
            <a:r>
              <a:rPr lang="en-US" sz="1600" dirty="0">
                <a:latin typeface="Microsoft YaHei UI" panose="020B0503020204020204" pitchFamily="34" charset="-122"/>
                <a:ea typeface="Microsoft YaHei UI" panose="020B0503020204020204" pitchFamily="34" charset="-122"/>
              </a:rPr>
              <a:t>Aesthetic Score (AE): evaluate the consistency with the prompt and aesthetic quality.</a:t>
            </a:r>
            <a:endParaRPr lang="en-CN" sz="1600" dirty="0">
              <a:latin typeface="Microsoft YaHei UI" panose="020B0503020204020204" pitchFamily="34" charset="-122"/>
              <a:ea typeface="Microsoft YaHei UI" panose="020B0503020204020204" pitchFamily="34" charset="-122"/>
            </a:endParaRPr>
          </a:p>
        </p:txBody>
      </p:sp>
      <p:pic>
        <p:nvPicPr>
          <p:cNvPr id="18" name="Picture 17">
            <a:extLst>
              <a:ext uri="{FF2B5EF4-FFF2-40B4-BE49-F238E27FC236}">
                <a16:creationId xmlns:a16="http://schemas.microsoft.com/office/drawing/2014/main" id="{7CFA7FA7-A829-9CD8-F1F0-E6CBE0E1DF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250" y="5292441"/>
            <a:ext cx="8697430" cy="1174153"/>
          </a:xfrm>
          <a:prstGeom prst="rect">
            <a:avLst/>
          </a:prstGeom>
        </p:spPr>
      </p:pic>
    </p:spTree>
    <p:custDataLst>
      <p:tags r:id="rId1"/>
    </p:custDataLst>
    <p:extLst>
      <p:ext uri="{BB962C8B-B14F-4D97-AF65-F5344CB8AC3E}">
        <p14:creationId xmlns:p14="http://schemas.microsoft.com/office/powerpoint/2010/main" val="407587569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98DB1-4389-94FA-E7EB-C3FFD484194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11D58973-4565-D6E3-1DB6-FA8D31DF0255}"/>
              </a:ext>
            </a:extLst>
          </p:cNvPr>
          <p:cNvSpPr txBox="1"/>
          <p:nvPr/>
        </p:nvSpPr>
        <p:spPr>
          <a:xfrm>
            <a:off x="164123" y="114406"/>
            <a:ext cx="5849815" cy="521970"/>
          </a:xfrm>
          <a:prstGeom prst="rect">
            <a:avLst/>
          </a:prstGeom>
          <a:noFill/>
        </p:spPr>
        <p:txBody>
          <a:bodyPr wrap="square" rtlCol="0">
            <a:spAutoFit/>
          </a:bodyPr>
          <a:lstStyle/>
          <a:p>
            <a:pPr algn="l"/>
            <a:r>
              <a:rPr lang="en-US" altLang="zh-CN" sz="2800" b="1" dirty="0">
                <a:solidFill>
                  <a:srgbClr val="996600"/>
                </a:solidFill>
                <a:latin typeface="Microsoft YaHei UI" panose="020B0503020204020204" pitchFamily="34" charset="-122"/>
                <a:ea typeface="Microsoft YaHei UI" panose="020B0503020204020204" pitchFamily="34" charset="-122"/>
                <a:cs typeface="Times New Roman" panose="02020503050405090304"/>
                <a:sym typeface="+mn-ea"/>
              </a:rPr>
              <a:t>Summary of Agentic System</a:t>
            </a:r>
          </a:p>
        </p:txBody>
      </p:sp>
      <p:pic>
        <p:nvPicPr>
          <p:cNvPr id="5" name="图片 1" descr="logo-en">
            <a:extLst>
              <a:ext uri="{FF2B5EF4-FFF2-40B4-BE49-F238E27FC236}">
                <a16:creationId xmlns:a16="http://schemas.microsoft.com/office/drawing/2014/main" id="{C17397B5-0542-0506-76F2-AEE6F27F6C7A}"/>
              </a:ext>
            </a:extLst>
          </p:cNvPr>
          <p:cNvPicPr>
            <a:picLocks noChangeAspect="1"/>
          </p:cNvPicPr>
          <p:nvPr/>
        </p:nvPicPr>
        <p:blipFill>
          <a:blip r:embed="rId4"/>
          <a:stretch>
            <a:fillRect/>
          </a:stretch>
        </p:blipFill>
        <p:spPr>
          <a:xfrm>
            <a:off x="9493250" y="60960"/>
            <a:ext cx="2634615" cy="516255"/>
          </a:xfrm>
          <a:prstGeom prst="rect">
            <a:avLst/>
          </a:prstGeom>
        </p:spPr>
      </p:pic>
      <p:sp>
        <p:nvSpPr>
          <p:cNvPr id="4" name="矩形 3">
            <a:extLst>
              <a:ext uri="{FF2B5EF4-FFF2-40B4-BE49-F238E27FC236}">
                <a16:creationId xmlns:a16="http://schemas.microsoft.com/office/drawing/2014/main" id="{811D4D21-0321-EFF7-D774-226382468F4D}"/>
              </a:ext>
            </a:extLst>
          </p:cNvPr>
          <p:cNvSpPr/>
          <p:nvPr/>
        </p:nvSpPr>
        <p:spPr>
          <a:xfrm flipV="1">
            <a:off x="0" y="695536"/>
            <a:ext cx="12192635" cy="76200"/>
          </a:xfrm>
          <a:prstGeom prst="rect">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cs typeface="Times New Roman" panose="02020503050405090304" pitchFamily="18" charset="0"/>
            </a:endParaRPr>
          </a:p>
        </p:txBody>
      </p:sp>
      <p:sp>
        <p:nvSpPr>
          <p:cNvPr id="2" name="TextBox 1">
            <a:extLst>
              <a:ext uri="{FF2B5EF4-FFF2-40B4-BE49-F238E27FC236}">
                <a16:creationId xmlns:a16="http://schemas.microsoft.com/office/drawing/2014/main" id="{4400CFF0-F7FF-EEB8-BE0F-5519EBDE3063}"/>
              </a:ext>
            </a:extLst>
          </p:cNvPr>
          <p:cNvSpPr txBox="1"/>
          <p:nvPr/>
        </p:nvSpPr>
        <p:spPr>
          <a:xfrm>
            <a:off x="378212" y="1780647"/>
            <a:ext cx="11265148" cy="358803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CN" sz="2200" dirty="0">
                <a:latin typeface="Microsoft YaHei UI" panose="020B0503020204020204" pitchFamily="34" charset="-122"/>
                <a:ea typeface="Microsoft YaHei UI" panose="020B0503020204020204" pitchFamily="34" charset="-122"/>
              </a:rPr>
              <a:t>Most agentic systems are based on LLMs / LMMs (large multimodal models) with general and domain-specific tools.</a:t>
            </a:r>
          </a:p>
          <a:p>
            <a:pPr marL="285750" indent="-285750">
              <a:lnSpc>
                <a:spcPct val="150000"/>
              </a:lnSpc>
              <a:buFont typeface="Arial" panose="020B0604020202020204" pitchFamily="34" charset="0"/>
              <a:buChar char="•"/>
            </a:pPr>
            <a:r>
              <a:rPr lang="en-CN" sz="2200" dirty="0">
                <a:latin typeface="Microsoft YaHei UI" panose="020B0503020204020204" pitchFamily="34" charset="-122"/>
                <a:ea typeface="Microsoft YaHei UI" panose="020B0503020204020204" pitchFamily="34" charset="-122"/>
              </a:rPr>
              <a:t>Agentic systems have been applied in general complex task planning, scientific research, et al.</a:t>
            </a:r>
          </a:p>
          <a:p>
            <a:pPr marL="285750" indent="-285750">
              <a:lnSpc>
                <a:spcPct val="150000"/>
              </a:lnSpc>
              <a:buFont typeface="Arial" panose="020B0604020202020204" pitchFamily="34" charset="0"/>
              <a:buChar char="•"/>
            </a:pPr>
            <a:r>
              <a:rPr lang="en-CN" sz="2200" dirty="0">
                <a:latin typeface="Microsoft YaHei UI" panose="020B0503020204020204" pitchFamily="34" charset="-122"/>
                <a:ea typeface="Microsoft YaHei UI" panose="020B0503020204020204" pitchFamily="34" charset="-122"/>
              </a:rPr>
              <a:t>The workflow of agentic systems mainly contain planning, executing, reflecting and summarizing steps.</a:t>
            </a:r>
          </a:p>
          <a:p>
            <a:pPr marL="285750" indent="-285750">
              <a:lnSpc>
                <a:spcPct val="150000"/>
              </a:lnSpc>
              <a:buFont typeface="Arial" panose="020B0604020202020204" pitchFamily="34" charset="0"/>
              <a:buChar char="•"/>
            </a:pPr>
            <a:r>
              <a:rPr lang="en-CN" sz="2200" dirty="0">
                <a:latin typeface="Microsoft YaHei UI" panose="020B0503020204020204" pitchFamily="34" charset="-122"/>
                <a:ea typeface="Microsoft YaHei UI" panose="020B0503020204020204" pitchFamily="34" charset="-122"/>
              </a:rPr>
              <a:t>The benchmarks for evaluating agentic systems are still limited.</a:t>
            </a:r>
          </a:p>
        </p:txBody>
      </p:sp>
      <p:sp>
        <p:nvSpPr>
          <p:cNvPr id="7" name="文本框 9">
            <a:extLst>
              <a:ext uri="{FF2B5EF4-FFF2-40B4-BE49-F238E27FC236}">
                <a16:creationId xmlns:a16="http://schemas.microsoft.com/office/drawing/2014/main" id="{042AC346-CD14-99AA-ADB4-F53A92781DFC}"/>
              </a:ext>
            </a:extLst>
          </p:cNvPr>
          <p:cNvSpPr txBox="1"/>
          <p:nvPr/>
        </p:nvSpPr>
        <p:spPr>
          <a:xfrm>
            <a:off x="378212" y="1056171"/>
            <a:ext cx="11044964" cy="541046"/>
          </a:xfrm>
          <a:prstGeom prst="rect">
            <a:avLst/>
          </a:prstGeom>
          <a:noFill/>
        </p:spPr>
        <p:txBody>
          <a:bodyPr wrap="square" rtlCol="0">
            <a:spAutoFit/>
          </a:bodyPr>
          <a:lstStyle/>
          <a:p>
            <a:pPr algn="just">
              <a:lnSpc>
                <a:spcPct val="150000"/>
              </a:lnSpc>
            </a:pPr>
            <a:r>
              <a:rPr lang="en-US" sz="2200" b="1" dirty="0">
                <a:latin typeface="Microsoft YaHei UI" panose="020B0503020204020204" pitchFamily="34" charset="-122"/>
                <a:ea typeface="Microsoft YaHei UI" panose="020B0503020204020204" pitchFamily="34" charset="-122"/>
              </a:rPr>
              <a:t>Takeaways</a:t>
            </a:r>
          </a:p>
        </p:txBody>
      </p:sp>
      <p:sp>
        <p:nvSpPr>
          <p:cNvPr id="8" name="TextBox 7">
            <a:extLst>
              <a:ext uri="{FF2B5EF4-FFF2-40B4-BE49-F238E27FC236}">
                <a16:creationId xmlns:a16="http://schemas.microsoft.com/office/drawing/2014/main" id="{23A7B15D-0E90-2EAC-0B6D-3F0A1CBA07E8}"/>
              </a:ext>
            </a:extLst>
          </p:cNvPr>
          <p:cNvSpPr txBox="1"/>
          <p:nvPr/>
        </p:nvSpPr>
        <p:spPr>
          <a:xfrm>
            <a:off x="734334" y="5891941"/>
            <a:ext cx="10040346" cy="541046"/>
          </a:xfrm>
          <a:prstGeom prst="rect">
            <a:avLst/>
          </a:prstGeom>
          <a:noFill/>
        </p:spPr>
        <p:txBody>
          <a:bodyPr wrap="square">
            <a:spAutoFit/>
          </a:bodyPr>
          <a:lstStyle/>
          <a:p>
            <a:pPr>
              <a:lnSpc>
                <a:spcPct val="150000"/>
              </a:lnSpc>
            </a:pPr>
            <a:r>
              <a:rPr lang="en-CN" sz="2200" dirty="0">
                <a:solidFill>
                  <a:srgbClr val="FF0000"/>
                </a:solidFill>
                <a:latin typeface="Microsoft YaHei UI" panose="020B0503020204020204" pitchFamily="34" charset="-122"/>
                <a:ea typeface="Microsoft YaHei UI" panose="020B0503020204020204" pitchFamily="34" charset="-122"/>
              </a:rPr>
              <a:t>Next section: How to gaurantee the responsibility of agentic systems?</a:t>
            </a:r>
          </a:p>
        </p:txBody>
      </p:sp>
    </p:spTree>
    <p:custDataLst>
      <p:tags r:id="rId1"/>
    </p:custDataLst>
    <p:extLst>
      <p:ext uri="{BB962C8B-B14F-4D97-AF65-F5344CB8AC3E}">
        <p14:creationId xmlns:p14="http://schemas.microsoft.com/office/powerpoint/2010/main" val="208422940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4113</TotalTime>
  <Words>3324</Words>
  <Application>Microsoft Macintosh PowerPoint</Application>
  <PresentationFormat>Widescreen</PresentationFormat>
  <Paragraphs>329</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Microsoft YaHei UI</vt:lpstr>
      <vt:lpstr>苹方-简</vt:lpstr>
      <vt:lpstr>Aptos</vt:lpstr>
      <vt:lpstr>Arial</vt:lpstr>
      <vt:lpstr>Courier New</vt:lpstr>
      <vt:lpstr>Times New Roman</vt:lpstr>
      <vt:lpstr>Wingdings</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谢思泓 Sihong XIE</cp:lastModifiedBy>
  <cp:revision>279</cp:revision>
  <dcterms:created xsi:type="dcterms:W3CDTF">2025-10-20T09:04:17Z</dcterms:created>
  <dcterms:modified xsi:type="dcterms:W3CDTF">2025-11-27T02:04:04Z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F96C8D8579A2D852F5D2F568DEE65272_41</vt:lpwstr>
  </property>
</Properties>
</file>